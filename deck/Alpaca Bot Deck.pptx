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Text 1"/>
          <p:cNvSpPr/>
          <p:nvPr/>
        </p:nvSpPr>
        <p:spPr>
          <a:xfrm>
            <a:off x="1066800" y="914400"/>
            <a:ext cx="4441357"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A8190"/>
                </a:solidFill>
                <a:latin typeface="Courier New" pitchFamily="34" charset="0"/>
                <a:ea typeface="Courier New" pitchFamily="34" charset="-122"/>
                <a:cs typeface="Courier New" pitchFamily="34" charset="-120"/>
              </a:rPr>
              <a:t>TECHNICAL REVIEW · V0.1</a:t>
            </a:r>
            <a:endParaRPr lang="en-US" sz="1800" dirty="0"/>
          </a:p>
        </p:txBody>
      </p:sp>
      <p:sp>
        <p:nvSpPr>
          <p:cNvPr id="4" name="Text 2"/>
          <p:cNvSpPr/>
          <p:nvPr/>
        </p:nvSpPr>
        <p:spPr>
          <a:xfrm>
            <a:off x="15346412" y="914400"/>
            <a:ext cx="1950988"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A8190"/>
                </a:solidFill>
                <a:latin typeface="Courier New" pitchFamily="34" charset="0"/>
                <a:ea typeface="Courier New" pitchFamily="34" charset="-122"/>
                <a:cs typeface="Courier New" pitchFamily="34" charset="-120"/>
              </a:rPr>
              <a:t>APRIL 2026</a:t>
            </a:r>
            <a:endParaRPr lang="en-US" sz="1800" dirty="0"/>
          </a:p>
        </p:txBody>
      </p:sp>
      <p:sp>
        <p:nvSpPr>
          <p:cNvPr id="5" name="Text 3"/>
          <p:cNvSpPr/>
          <p:nvPr/>
        </p:nvSpPr>
        <p:spPr>
          <a:xfrm>
            <a:off x="1066800" y="2161729"/>
            <a:ext cx="16639032" cy="361950"/>
          </a:xfrm>
          <a:prstGeom prst="rect">
            <a:avLst/>
          </a:prstGeom>
          <a:noFill/>
          <a:ln/>
        </p:spPr>
        <p:txBody>
          <a:bodyPr wrap="square" lIns="25400" tIns="25400" rIns="25400" bIns="25400" rtlCol="0" anchor="t">
            <a:normAutofit/>
          </a:bodyPr>
          <a:lstStyle/>
          <a:p>
            <a:pPr algn="l" indent="0" marL="0">
              <a:buNone/>
            </a:pPr>
            <a:r>
              <a:rPr lang="en-US" sz="2100" spc="588" kern="0" dirty="0">
                <a:solidFill>
                  <a:srgbClr val="B8862C"/>
                </a:solidFill>
                <a:latin typeface="Courier New" pitchFamily="34" charset="0"/>
                <a:ea typeface="Courier New" pitchFamily="34" charset="-122"/>
                <a:cs typeface="Courier New" pitchFamily="34" charset="-120"/>
              </a:rPr>
              <a:t>AUTONOMOUS PAPER‑TRADER</a:t>
            </a:r>
            <a:endParaRPr lang="en-US" sz="2100" dirty="0"/>
          </a:p>
        </p:txBody>
      </p:sp>
      <p:sp>
        <p:nvSpPr>
          <p:cNvPr id="6" name="Text 4"/>
          <p:cNvSpPr/>
          <p:nvPr/>
        </p:nvSpPr>
        <p:spPr>
          <a:xfrm>
            <a:off x="1066800" y="2904679"/>
            <a:ext cx="15697200" cy="3448943"/>
          </a:xfrm>
          <a:prstGeom prst="rect">
            <a:avLst/>
          </a:prstGeom>
          <a:noFill/>
          <a:ln/>
        </p:spPr>
        <p:txBody>
          <a:bodyPr wrap="square" lIns="25400" tIns="25400" rIns="25400" bIns="25400" rtlCol="0" anchor="t">
            <a:normAutofit/>
          </a:bodyPr>
          <a:lstStyle/>
          <a:p>
            <a:pPr algn="l" indent="0" marL="0">
              <a:lnSpc>
                <a:spcPct val="96000"/>
              </a:lnSpc>
              <a:buNone/>
            </a:pPr>
            <a:r>
              <a:rPr lang="en-US" sz="9300" spc="-279" kern="0" dirty="0">
                <a:solidFill>
                  <a:srgbClr val="1A1C21"/>
                </a:solidFill>
                <a:latin typeface="Georgia" pitchFamily="34" charset="0"/>
                <a:ea typeface="Georgia" pitchFamily="34" charset="-122"/>
                <a:cs typeface="Georgia" pitchFamily="34" charset="-120"/>
              </a:rPr>
              <a:t>How the Alpaca </a:t>
            </a:r>
            <a:pPr algn="l" indent="0" marL="0">
              <a:lnSpc>
                <a:spcPct val="96000"/>
              </a:lnSpc>
              <a:buNone/>
            </a:pPr>
            <a:r>
              <a:rPr lang="en-US" sz="9300" i="1" spc="-279" kern="0" dirty="0">
                <a:solidFill>
                  <a:srgbClr val="1F3A5F"/>
                </a:solidFill>
                <a:latin typeface="Georgia" pitchFamily="34" charset="0"/>
                <a:ea typeface="Georgia" pitchFamily="34" charset="-122"/>
                <a:cs typeface="Georgia" pitchFamily="34" charset="-120"/>
              </a:rPr>
              <a:t>paper trading </a:t>
            </a:r>
            <a:pPr algn="l" indent="0" marL="0">
              <a:lnSpc>
                <a:spcPct val="96000"/>
              </a:lnSpc>
              <a:buNone/>
            </a:pPr>
            <a:r>
              <a:rPr lang="en-US" sz="9300" spc="-279" kern="0" dirty="0">
                <a:solidFill>
                  <a:srgbClr val="1A1C21"/>
                </a:solidFill>
                <a:latin typeface="Georgia" pitchFamily="34" charset="0"/>
                <a:ea typeface="Georgia" pitchFamily="34" charset="-122"/>
                <a:cs typeface="Georgia" pitchFamily="34" charset="-120"/>
              </a:rPr>
              <a:t>bot actually works.</a:t>
            </a:r>
            <a:endParaRPr lang="en-US" sz="9300" dirty="0"/>
          </a:p>
        </p:txBody>
      </p:sp>
      <p:sp>
        <p:nvSpPr>
          <p:cNvPr id="7" name="Text 5"/>
          <p:cNvSpPr/>
          <p:nvPr/>
        </p:nvSpPr>
        <p:spPr>
          <a:xfrm>
            <a:off x="1066800" y="6848921"/>
            <a:ext cx="10791825" cy="8667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4A4F58"/>
                </a:solidFill>
                <a:latin typeface="Arial" pitchFamily="34" charset="0"/>
                <a:ea typeface="Arial" pitchFamily="34" charset="-122"/>
                <a:cs typeface="Arial" pitchFamily="34" charset="-120"/>
              </a:rPr>
              <a:t>A plain‑English, precise walkthrough of what the bot is, how it was built, and every concrete thing that could make it better.</a:t>
            </a:r>
            <a:endParaRPr lang="en-US" sz="2250" dirty="0"/>
          </a:p>
        </p:txBody>
      </p:sp>
      <p:sp>
        <p:nvSpPr>
          <p:cNvPr id="8" name="Shape 6"/>
          <p:cNvSpPr/>
          <p:nvPr/>
        </p:nvSpPr>
        <p:spPr>
          <a:xfrm>
            <a:off x="1066800" y="8667750"/>
            <a:ext cx="16154400" cy="9525"/>
          </a:xfrm>
          <a:prstGeom prst="rect">
            <a:avLst/>
          </a:prstGeom>
          <a:solidFill>
            <a:srgbClr val="DCD4BF"/>
          </a:solidFill>
          <a:ln/>
        </p:spPr>
      </p:sp>
      <p:sp>
        <p:nvSpPr>
          <p:cNvPr id="9" name="Text 7"/>
          <p:cNvSpPr/>
          <p:nvPr/>
        </p:nvSpPr>
        <p:spPr>
          <a:xfrm>
            <a:off x="1066800" y="8886825"/>
            <a:ext cx="6979889"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PAPER-API.ALPACA.MARKETS · DRY_RUN=TRUE</a:t>
            </a:r>
            <a:endParaRPr lang="en-US" sz="1800" dirty="0"/>
          </a:p>
        </p:txBody>
      </p:sp>
      <p:sp>
        <p:nvSpPr>
          <p:cNvPr id="10" name="Text 8"/>
          <p:cNvSpPr/>
          <p:nvPr/>
        </p:nvSpPr>
        <p:spPr>
          <a:xfrm>
            <a:off x="13050887" y="8886825"/>
            <a:ext cx="4295422"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22 SLIDES · ~15 MIN READ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1118890"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AGENDA</a:t>
            </a:r>
            <a:endParaRPr lang="en-US" sz="1800" dirty="0"/>
          </a:p>
        </p:txBody>
      </p:sp>
      <p:sp>
        <p:nvSpPr>
          <p:cNvPr id="5" name="Text 3"/>
          <p:cNvSpPr/>
          <p:nvPr/>
        </p:nvSpPr>
        <p:spPr>
          <a:xfrm>
            <a:off x="15135523" y="381000"/>
            <a:ext cx="2161877"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00 · 02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A short tour, in four parts.</a:t>
            </a:r>
            <a:endParaRPr lang="en-US" sz="4800" dirty="0"/>
          </a:p>
        </p:txBody>
      </p:sp>
      <p:sp>
        <p:nvSpPr>
          <p:cNvPr id="7" name="Shape 5"/>
          <p:cNvSpPr/>
          <p:nvPr/>
        </p:nvSpPr>
        <p:spPr>
          <a:xfrm>
            <a:off x="1066800" y="2157859"/>
            <a:ext cx="16154400" cy="9525"/>
          </a:xfrm>
          <a:prstGeom prst="rect">
            <a:avLst/>
          </a:prstGeom>
          <a:solidFill>
            <a:srgbClr val="DCD4BF"/>
          </a:solidFill>
          <a:ln/>
        </p:spPr>
      </p:sp>
      <p:sp>
        <p:nvSpPr>
          <p:cNvPr id="8" name="Shape 6"/>
          <p:cNvSpPr/>
          <p:nvPr/>
        </p:nvSpPr>
        <p:spPr>
          <a:xfrm>
            <a:off x="1066800" y="3396109"/>
            <a:ext cx="16154400" cy="9525"/>
          </a:xfrm>
          <a:prstGeom prst="rect">
            <a:avLst/>
          </a:prstGeom>
          <a:solidFill>
            <a:srgbClr val="DCD4BF"/>
          </a:solidFill>
          <a:ln/>
        </p:spPr>
      </p:sp>
      <p:sp>
        <p:nvSpPr>
          <p:cNvPr id="9" name="Text 7"/>
          <p:cNvSpPr/>
          <p:nvPr/>
        </p:nvSpPr>
        <p:spPr>
          <a:xfrm>
            <a:off x="1066800" y="2453134"/>
            <a:ext cx="838200" cy="695325"/>
          </a:xfrm>
          <a:prstGeom prst="rect">
            <a:avLst/>
          </a:prstGeom>
          <a:noFill/>
          <a:ln/>
        </p:spPr>
        <p:txBody>
          <a:bodyPr wrap="square" lIns="25400" tIns="25400" rIns="25400" bIns="25400" rtlCol="0" anchor="t">
            <a:normAutofit/>
          </a:bodyPr>
          <a:lstStyle/>
          <a:p>
            <a:pPr algn="l" indent="0" marL="0">
              <a:buNone/>
            </a:pPr>
            <a:r>
              <a:rPr lang="en-US" sz="4200" i="1" dirty="0">
                <a:solidFill>
                  <a:srgbClr val="1F3A5F"/>
                </a:solidFill>
                <a:latin typeface="Georgia" pitchFamily="34" charset="0"/>
                <a:ea typeface="Georgia" pitchFamily="34" charset="-122"/>
                <a:cs typeface="Georgia" pitchFamily="34" charset="-120"/>
              </a:rPr>
              <a:t>A</a:t>
            </a:r>
            <a:endParaRPr lang="en-US" sz="4200" dirty="0"/>
          </a:p>
        </p:txBody>
      </p:sp>
      <p:sp>
        <p:nvSpPr>
          <p:cNvPr id="10" name="Text 8"/>
          <p:cNvSpPr/>
          <p:nvPr/>
        </p:nvSpPr>
        <p:spPr>
          <a:xfrm>
            <a:off x="2133600" y="2605534"/>
            <a:ext cx="4120515" cy="495300"/>
          </a:xfrm>
          <a:prstGeom prst="rect">
            <a:avLst/>
          </a:prstGeom>
          <a:noFill/>
          <a:ln/>
        </p:spPr>
        <p:txBody>
          <a:bodyPr wrap="square" lIns="25400" tIns="25400" rIns="25400" bIns="25400" rtlCol="0" anchor="t">
            <a:normAutofit/>
          </a:bodyPr>
          <a:lstStyle/>
          <a:p>
            <a:pPr algn="l" indent="0" marL="0">
              <a:buNone/>
            </a:pPr>
            <a:r>
              <a:rPr lang="en-US" sz="3150" spc="-31" kern="0" dirty="0">
                <a:solidFill>
                  <a:srgbClr val="1A1C21"/>
                </a:solidFill>
                <a:latin typeface="Georgia" pitchFamily="34" charset="0"/>
                <a:ea typeface="Georgia" pitchFamily="34" charset="-122"/>
                <a:cs typeface="Georgia" pitchFamily="34" charset="-120"/>
              </a:rPr>
              <a:t>The big picture</a:t>
            </a:r>
            <a:endParaRPr lang="en-US" sz="3150" dirty="0"/>
          </a:p>
        </p:txBody>
      </p:sp>
      <p:sp>
        <p:nvSpPr>
          <p:cNvPr id="11" name="Text 9"/>
          <p:cNvSpPr/>
          <p:nvPr/>
        </p:nvSpPr>
        <p:spPr>
          <a:xfrm>
            <a:off x="6438900" y="2719834"/>
            <a:ext cx="922210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4A4F58"/>
                </a:solidFill>
                <a:latin typeface="Arial" pitchFamily="34" charset="0"/>
                <a:ea typeface="Arial" pitchFamily="34" charset="-122"/>
                <a:cs typeface="Arial" pitchFamily="34" charset="-120"/>
              </a:rPr>
              <a:t>What the bot is and why we built it</a:t>
            </a:r>
            <a:endParaRPr lang="en-US" sz="2250" dirty="0"/>
          </a:p>
        </p:txBody>
      </p:sp>
      <p:sp>
        <p:nvSpPr>
          <p:cNvPr id="12" name="Text 10"/>
          <p:cNvSpPr/>
          <p:nvPr/>
        </p:nvSpPr>
        <p:spPr>
          <a:xfrm>
            <a:off x="15621000" y="2767459"/>
            <a:ext cx="1600200" cy="323850"/>
          </a:xfrm>
          <a:prstGeom prst="rect">
            <a:avLst/>
          </a:prstGeom>
          <a:noFill/>
          <a:ln/>
        </p:spPr>
        <p:txBody>
          <a:bodyPr wrap="square" lIns="25400" tIns="25400" rIns="25400" bIns="25400" rtlCol="0" anchor="t">
            <a:normAutofit/>
          </a:bodyPr>
          <a:lstStyle/>
          <a:p>
            <a:pPr algn="r" indent="0" marL="0">
              <a:buNone/>
            </a:pPr>
            <a:r>
              <a:rPr lang="en-US" sz="1950" dirty="0">
                <a:solidFill>
                  <a:srgbClr val="7A8190"/>
                </a:solidFill>
                <a:latin typeface="Courier New" pitchFamily="34" charset="0"/>
                <a:ea typeface="Courier New" pitchFamily="34" charset="-122"/>
                <a:cs typeface="Courier New" pitchFamily="34" charset="-120"/>
              </a:rPr>
              <a:t>03–05</a:t>
            </a:r>
            <a:endParaRPr lang="en-US" sz="1950" dirty="0"/>
          </a:p>
        </p:txBody>
      </p:sp>
      <p:sp>
        <p:nvSpPr>
          <p:cNvPr id="13" name="Shape 11"/>
          <p:cNvSpPr/>
          <p:nvPr/>
        </p:nvSpPr>
        <p:spPr>
          <a:xfrm>
            <a:off x="1066800" y="4634359"/>
            <a:ext cx="16154400" cy="9525"/>
          </a:xfrm>
          <a:prstGeom prst="rect">
            <a:avLst/>
          </a:prstGeom>
          <a:solidFill>
            <a:srgbClr val="DCD4BF"/>
          </a:solidFill>
          <a:ln/>
        </p:spPr>
      </p:sp>
      <p:sp>
        <p:nvSpPr>
          <p:cNvPr id="14" name="Text 12"/>
          <p:cNvSpPr/>
          <p:nvPr/>
        </p:nvSpPr>
        <p:spPr>
          <a:xfrm>
            <a:off x="1066800" y="3691384"/>
            <a:ext cx="838200" cy="695325"/>
          </a:xfrm>
          <a:prstGeom prst="rect">
            <a:avLst/>
          </a:prstGeom>
          <a:noFill/>
          <a:ln/>
        </p:spPr>
        <p:txBody>
          <a:bodyPr wrap="square" lIns="25400" tIns="25400" rIns="25400" bIns="25400" rtlCol="0" anchor="t">
            <a:normAutofit/>
          </a:bodyPr>
          <a:lstStyle/>
          <a:p>
            <a:pPr algn="l" indent="0" marL="0">
              <a:buNone/>
            </a:pPr>
            <a:r>
              <a:rPr lang="en-US" sz="4200" i="1" dirty="0">
                <a:solidFill>
                  <a:srgbClr val="1F3A5F"/>
                </a:solidFill>
                <a:latin typeface="Georgia" pitchFamily="34" charset="0"/>
                <a:ea typeface="Georgia" pitchFamily="34" charset="-122"/>
                <a:cs typeface="Georgia" pitchFamily="34" charset="-120"/>
              </a:rPr>
              <a:t>B</a:t>
            </a:r>
            <a:endParaRPr lang="en-US" sz="4200" dirty="0"/>
          </a:p>
        </p:txBody>
      </p:sp>
      <p:sp>
        <p:nvSpPr>
          <p:cNvPr id="15" name="Text 13"/>
          <p:cNvSpPr/>
          <p:nvPr/>
        </p:nvSpPr>
        <p:spPr>
          <a:xfrm>
            <a:off x="2133600" y="3843784"/>
            <a:ext cx="4120515" cy="495300"/>
          </a:xfrm>
          <a:prstGeom prst="rect">
            <a:avLst/>
          </a:prstGeom>
          <a:noFill/>
          <a:ln/>
        </p:spPr>
        <p:txBody>
          <a:bodyPr wrap="square" lIns="25400" tIns="25400" rIns="25400" bIns="25400" rtlCol="0" anchor="t">
            <a:normAutofit/>
          </a:bodyPr>
          <a:lstStyle/>
          <a:p>
            <a:pPr algn="l" indent="0" marL="0">
              <a:buNone/>
            </a:pPr>
            <a:r>
              <a:rPr lang="en-US" sz="3150" spc="-31" kern="0" dirty="0">
                <a:solidFill>
                  <a:srgbClr val="1A1C21"/>
                </a:solidFill>
                <a:latin typeface="Georgia" pitchFamily="34" charset="0"/>
                <a:ea typeface="Georgia" pitchFamily="34" charset="-122"/>
                <a:cs typeface="Georgia" pitchFamily="34" charset="-120"/>
              </a:rPr>
              <a:t>How it thinks</a:t>
            </a:r>
            <a:endParaRPr lang="en-US" sz="3150" dirty="0"/>
          </a:p>
        </p:txBody>
      </p:sp>
      <p:sp>
        <p:nvSpPr>
          <p:cNvPr id="16" name="Text 14"/>
          <p:cNvSpPr/>
          <p:nvPr/>
        </p:nvSpPr>
        <p:spPr>
          <a:xfrm>
            <a:off x="6438900" y="3958084"/>
            <a:ext cx="922210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4A4F58"/>
                </a:solidFill>
                <a:latin typeface="Arial" pitchFamily="34" charset="0"/>
                <a:ea typeface="Arial" pitchFamily="34" charset="-122"/>
                <a:cs typeface="Arial" pitchFamily="34" charset="-120"/>
              </a:rPr>
              <a:t>Four signals + one composite score + a decision tree</a:t>
            </a:r>
            <a:endParaRPr lang="en-US" sz="2250" dirty="0"/>
          </a:p>
        </p:txBody>
      </p:sp>
      <p:sp>
        <p:nvSpPr>
          <p:cNvPr id="17" name="Text 15"/>
          <p:cNvSpPr/>
          <p:nvPr/>
        </p:nvSpPr>
        <p:spPr>
          <a:xfrm>
            <a:off x="15621000" y="4005709"/>
            <a:ext cx="1600200" cy="323850"/>
          </a:xfrm>
          <a:prstGeom prst="rect">
            <a:avLst/>
          </a:prstGeom>
          <a:noFill/>
          <a:ln/>
        </p:spPr>
        <p:txBody>
          <a:bodyPr wrap="square" lIns="25400" tIns="25400" rIns="25400" bIns="25400" rtlCol="0" anchor="t">
            <a:normAutofit/>
          </a:bodyPr>
          <a:lstStyle/>
          <a:p>
            <a:pPr algn="r" indent="0" marL="0">
              <a:buNone/>
            </a:pPr>
            <a:r>
              <a:rPr lang="en-US" sz="1950" dirty="0">
                <a:solidFill>
                  <a:srgbClr val="7A8190"/>
                </a:solidFill>
                <a:latin typeface="Courier New" pitchFamily="34" charset="0"/>
                <a:ea typeface="Courier New" pitchFamily="34" charset="-122"/>
                <a:cs typeface="Courier New" pitchFamily="34" charset="-120"/>
              </a:rPr>
              <a:t>06–13</a:t>
            </a:r>
            <a:endParaRPr lang="en-US" sz="1950" dirty="0"/>
          </a:p>
        </p:txBody>
      </p:sp>
      <p:sp>
        <p:nvSpPr>
          <p:cNvPr id="18" name="Shape 16"/>
          <p:cNvSpPr/>
          <p:nvPr/>
        </p:nvSpPr>
        <p:spPr>
          <a:xfrm>
            <a:off x="1066800" y="5872609"/>
            <a:ext cx="16154400" cy="9525"/>
          </a:xfrm>
          <a:prstGeom prst="rect">
            <a:avLst/>
          </a:prstGeom>
          <a:solidFill>
            <a:srgbClr val="DCD4BF"/>
          </a:solidFill>
          <a:ln/>
        </p:spPr>
      </p:sp>
      <p:sp>
        <p:nvSpPr>
          <p:cNvPr id="19" name="Text 17"/>
          <p:cNvSpPr/>
          <p:nvPr/>
        </p:nvSpPr>
        <p:spPr>
          <a:xfrm>
            <a:off x="1066800" y="4929634"/>
            <a:ext cx="838200" cy="695325"/>
          </a:xfrm>
          <a:prstGeom prst="rect">
            <a:avLst/>
          </a:prstGeom>
          <a:noFill/>
          <a:ln/>
        </p:spPr>
        <p:txBody>
          <a:bodyPr wrap="square" lIns="25400" tIns="25400" rIns="25400" bIns="25400" rtlCol="0" anchor="t">
            <a:normAutofit/>
          </a:bodyPr>
          <a:lstStyle/>
          <a:p>
            <a:pPr algn="l" indent="0" marL="0">
              <a:buNone/>
            </a:pPr>
            <a:r>
              <a:rPr lang="en-US" sz="4200" i="1" dirty="0">
                <a:solidFill>
                  <a:srgbClr val="1F3A5F"/>
                </a:solidFill>
                <a:latin typeface="Georgia" pitchFamily="34" charset="0"/>
                <a:ea typeface="Georgia" pitchFamily="34" charset="-122"/>
                <a:cs typeface="Georgia" pitchFamily="34" charset="-120"/>
              </a:rPr>
              <a:t>C</a:t>
            </a:r>
            <a:endParaRPr lang="en-US" sz="4200" dirty="0"/>
          </a:p>
        </p:txBody>
      </p:sp>
      <p:sp>
        <p:nvSpPr>
          <p:cNvPr id="20" name="Text 18"/>
          <p:cNvSpPr/>
          <p:nvPr/>
        </p:nvSpPr>
        <p:spPr>
          <a:xfrm>
            <a:off x="2133600" y="5082034"/>
            <a:ext cx="4120515" cy="495300"/>
          </a:xfrm>
          <a:prstGeom prst="rect">
            <a:avLst/>
          </a:prstGeom>
          <a:noFill/>
          <a:ln/>
        </p:spPr>
        <p:txBody>
          <a:bodyPr wrap="square" lIns="25400" tIns="25400" rIns="25400" bIns="25400" rtlCol="0" anchor="t">
            <a:normAutofit/>
          </a:bodyPr>
          <a:lstStyle/>
          <a:p>
            <a:pPr algn="l" indent="0" marL="0">
              <a:buNone/>
            </a:pPr>
            <a:r>
              <a:rPr lang="en-US" sz="3150" spc="-31" kern="0" dirty="0">
                <a:solidFill>
                  <a:srgbClr val="1A1C21"/>
                </a:solidFill>
                <a:latin typeface="Georgia" pitchFamily="34" charset="0"/>
                <a:ea typeface="Georgia" pitchFamily="34" charset="-122"/>
                <a:cs typeface="Georgia" pitchFamily="34" charset="-120"/>
              </a:rPr>
              <a:t>How it was built</a:t>
            </a:r>
            <a:endParaRPr lang="en-US" sz="3150" dirty="0"/>
          </a:p>
        </p:txBody>
      </p:sp>
      <p:sp>
        <p:nvSpPr>
          <p:cNvPr id="21" name="Text 19"/>
          <p:cNvSpPr/>
          <p:nvPr/>
        </p:nvSpPr>
        <p:spPr>
          <a:xfrm>
            <a:off x="6438900" y="5196334"/>
            <a:ext cx="922210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4A4F58"/>
                </a:solidFill>
                <a:latin typeface="Arial" pitchFamily="34" charset="0"/>
                <a:ea typeface="Arial" pitchFamily="34" charset="-122"/>
                <a:cs typeface="Arial" pitchFamily="34" charset="-120"/>
              </a:rPr>
              <a:t>Tech stack, data model, the dashboard</a:t>
            </a:r>
            <a:endParaRPr lang="en-US" sz="2250" dirty="0"/>
          </a:p>
        </p:txBody>
      </p:sp>
      <p:sp>
        <p:nvSpPr>
          <p:cNvPr id="22" name="Text 20"/>
          <p:cNvSpPr/>
          <p:nvPr/>
        </p:nvSpPr>
        <p:spPr>
          <a:xfrm>
            <a:off x="15621000" y="5243959"/>
            <a:ext cx="1600200" cy="323850"/>
          </a:xfrm>
          <a:prstGeom prst="rect">
            <a:avLst/>
          </a:prstGeom>
          <a:noFill/>
          <a:ln/>
        </p:spPr>
        <p:txBody>
          <a:bodyPr wrap="square" lIns="25400" tIns="25400" rIns="25400" bIns="25400" rtlCol="0" anchor="t">
            <a:normAutofit/>
          </a:bodyPr>
          <a:lstStyle/>
          <a:p>
            <a:pPr algn="r" indent="0" marL="0">
              <a:buNone/>
            </a:pPr>
            <a:r>
              <a:rPr lang="en-US" sz="1950" dirty="0">
                <a:solidFill>
                  <a:srgbClr val="7A8190"/>
                </a:solidFill>
                <a:latin typeface="Courier New" pitchFamily="34" charset="0"/>
                <a:ea typeface="Courier New" pitchFamily="34" charset="-122"/>
                <a:cs typeface="Courier New" pitchFamily="34" charset="-120"/>
              </a:rPr>
              <a:t>14–17</a:t>
            </a:r>
            <a:endParaRPr lang="en-US" sz="1950" dirty="0"/>
          </a:p>
        </p:txBody>
      </p:sp>
      <p:sp>
        <p:nvSpPr>
          <p:cNvPr id="23" name="Shape 21"/>
          <p:cNvSpPr/>
          <p:nvPr/>
        </p:nvSpPr>
        <p:spPr>
          <a:xfrm>
            <a:off x="1066800" y="7110859"/>
            <a:ext cx="16154400" cy="9525"/>
          </a:xfrm>
          <a:prstGeom prst="rect">
            <a:avLst/>
          </a:prstGeom>
          <a:solidFill>
            <a:srgbClr val="DCD4BF"/>
          </a:solidFill>
          <a:ln/>
        </p:spPr>
      </p:sp>
      <p:sp>
        <p:nvSpPr>
          <p:cNvPr id="24" name="Text 22"/>
          <p:cNvSpPr/>
          <p:nvPr/>
        </p:nvSpPr>
        <p:spPr>
          <a:xfrm>
            <a:off x="1066800" y="6167884"/>
            <a:ext cx="838200" cy="695325"/>
          </a:xfrm>
          <a:prstGeom prst="rect">
            <a:avLst/>
          </a:prstGeom>
          <a:noFill/>
          <a:ln/>
        </p:spPr>
        <p:txBody>
          <a:bodyPr wrap="square" lIns="25400" tIns="25400" rIns="25400" bIns="25400" rtlCol="0" anchor="t">
            <a:normAutofit/>
          </a:bodyPr>
          <a:lstStyle/>
          <a:p>
            <a:pPr algn="l" indent="0" marL="0">
              <a:buNone/>
            </a:pPr>
            <a:r>
              <a:rPr lang="en-US" sz="4200" i="1" dirty="0">
                <a:solidFill>
                  <a:srgbClr val="1F3A5F"/>
                </a:solidFill>
                <a:latin typeface="Georgia" pitchFamily="34" charset="0"/>
                <a:ea typeface="Georgia" pitchFamily="34" charset="-122"/>
                <a:cs typeface="Georgia" pitchFamily="34" charset="-120"/>
              </a:rPr>
              <a:t>D</a:t>
            </a:r>
            <a:endParaRPr lang="en-US" sz="4200" dirty="0"/>
          </a:p>
        </p:txBody>
      </p:sp>
      <p:sp>
        <p:nvSpPr>
          <p:cNvPr id="25" name="Text 23"/>
          <p:cNvSpPr/>
          <p:nvPr/>
        </p:nvSpPr>
        <p:spPr>
          <a:xfrm>
            <a:off x="2133600" y="6320284"/>
            <a:ext cx="4120515" cy="495300"/>
          </a:xfrm>
          <a:prstGeom prst="rect">
            <a:avLst/>
          </a:prstGeom>
          <a:noFill/>
          <a:ln/>
        </p:spPr>
        <p:txBody>
          <a:bodyPr wrap="square" lIns="25400" tIns="25400" rIns="25400" bIns="25400" rtlCol="0" anchor="t">
            <a:normAutofit/>
          </a:bodyPr>
          <a:lstStyle/>
          <a:p>
            <a:pPr algn="l" indent="0" marL="0">
              <a:buNone/>
            </a:pPr>
            <a:r>
              <a:rPr lang="en-US" sz="3150" spc="-31" kern="0" dirty="0">
                <a:solidFill>
                  <a:srgbClr val="1A1C21"/>
                </a:solidFill>
                <a:latin typeface="Georgia" pitchFamily="34" charset="0"/>
                <a:ea typeface="Georgia" pitchFamily="34" charset="-122"/>
                <a:cs typeface="Georgia" pitchFamily="34" charset="-120"/>
              </a:rPr>
              <a:t>Limits &amp; roadmap</a:t>
            </a:r>
            <a:endParaRPr lang="en-US" sz="3150" dirty="0"/>
          </a:p>
        </p:txBody>
      </p:sp>
      <p:sp>
        <p:nvSpPr>
          <p:cNvPr id="26" name="Text 24"/>
          <p:cNvSpPr/>
          <p:nvPr/>
        </p:nvSpPr>
        <p:spPr>
          <a:xfrm>
            <a:off x="6438900" y="6434584"/>
            <a:ext cx="922210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4A4F58"/>
                </a:solidFill>
                <a:latin typeface="Arial" pitchFamily="34" charset="0"/>
                <a:ea typeface="Arial" pitchFamily="34" charset="-122"/>
                <a:cs typeface="Arial" pitchFamily="34" charset="-120"/>
              </a:rPr>
              <a:t>What it cannot do yet, and what to build next</a:t>
            </a:r>
            <a:endParaRPr lang="en-US" sz="2250" dirty="0"/>
          </a:p>
        </p:txBody>
      </p:sp>
      <p:sp>
        <p:nvSpPr>
          <p:cNvPr id="27" name="Text 25"/>
          <p:cNvSpPr/>
          <p:nvPr/>
        </p:nvSpPr>
        <p:spPr>
          <a:xfrm>
            <a:off x="15621000" y="6482209"/>
            <a:ext cx="1600200" cy="323850"/>
          </a:xfrm>
          <a:prstGeom prst="rect">
            <a:avLst/>
          </a:prstGeom>
          <a:noFill/>
          <a:ln/>
        </p:spPr>
        <p:txBody>
          <a:bodyPr wrap="square" lIns="25400" tIns="25400" rIns="25400" bIns="25400" rtlCol="0" anchor="t">
            <a:normAutofit/>
          </a:bodyPr>
          <a:lstStyle/>
          <a:p>
            <a:pPr algn="r" indent="0" marL="0">
              <a:buNone/>
            </a:pPr>
            <a:r>
              <a:rPr lang="en-US" sz="1950" dirty="0">
                <a:solidFill>
                  <a:srgbClr val="7A8190"/>
                </a:solidFill>
                <a:latin typeface="Courier New" pitchFamily="34" charset="0"/>
                <a:ea typeface="Courier New" pitchFamily="34" charset="-122"/>
                <a:cs typeface="Courier New" pitchFamily="34" charset="-120"/>
              </a:rPr>
              <a:t>18–21</a:t>
            </a:r>
            <a:endParaRPr lang="en-US" sz="1950" dirty="0"/>
          </a:p>
        </p:txBody>
      </p:sp>
      <p:sp>
        <p:nvSpPr>
          <p:cNvPr id="28" name="Text 26"/>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29" name="Text 27"/>
          <p:cNvSpPr/>
          <p:nvPr/>
        </p:nvSpPr>
        <p:spPr>
          <a:xfrm>
            <a:off x="16206043" y="9744075"/>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AGENDA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8D9"/>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758437"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03 · IN PLAIN ENGLISH</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A · 03 / 23</a:t>
            </a:r>
            <a:endParaRPr lang="en-US" sz="1800" dirty="0"/>
          </a:p>
        </p:txBody>
      </p:sp>
      <p:sp>
        <p:nvSpPr>
          <p:cNvPr id="6" name="Text 4"/>
          <p:cNvSpPr/>
          <p:nvPr/>
        </p:nvSpPr>
        <p:spPr>
          <a:xfrm>
            <a:off x="1066800" y="914400"/>
            <a:ext cx="784860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1F3A5F"/>
                </a:solidFill>
                <a:latin typeface="Courier New" pitchFamily="34" charset="0"/>
                <a:ea typeface="Courier New" pitchFamily="34" charset="-122"/>
                <a:cs typeface="Courier New" pitchFamily="34" charset="-120"/>
              </a:rPr>
              <a:t>EXPLAIN IT LIKE I'M TEN</a:t>
            </a:r>
            <a:endParaRPr lang="en-US" sz="1800" dirty="0"/>
          </a:p>
        </p:txBody>
      </p:sp>
      <p:sp>
        <p:nvSpPr>
          <p:cNvPr id="7" name="Text 5"/>
          <p:cNvSpPr/>
          <p:nvPr/>
        </p:nvSpPr>
        <p:spPr>
          <a:xfrm>
            <a:off x="1066800" y="1343025"/>
            <a:ext cx="7848600" cy="2305943"/>
          </a:xfrm>
          <a:prstGeom prst="rect">
            <a:avLst/>
          </a:prstGeom>
          <a:noFill/>
          <a:ln/>
        </p:spPr>
        <p:txBody>
          <a:bodyPr wrap="square" lIns="25400" tIns="25400" rIns="25400" bIns="25400" rtlCol="0" anchor="t">
            <a:normAutofit/>
          </a:bodyPr>
          <a:lstStyle/>
          <a:p>
            <a:pPr algn="l" indent="0" marL="0">
              <a:lnSpc>
                <a:spcPct val="104000"/>
              </a:lnSpc>
              <a:buNone/>
            </a:pPr>
            <a:r>
              <a:rPr lang="en-US" sz="5700" spc="-103" kern="0" dirty="0">
                <a:solidFill>
                  <a:srgbClr val="1A1C21"/>
                </a:solidFill>
                <a:latin typeface="Georgia" pitchFamily="34" charset="0"/>
                <a:ea typeface="Georgia" pitchFamily="34" charset="-122"/>
                <a:cs typeface="Georgia" pitchFamily="34" charset="-120"/>
              </a:rPr>
              <a:t>It's a </a:t>
            </a:r>
            <a:pPr algn="l" indent="0" marL="0">
              <a:lnSpc>
                <a:spcPct val="104000"/>
              </a:lnSpc>
              <a:buNone/>
            </a:pPr>
            <a:r>
              <a:rPr lang="en-US" sz="5700" i="1" spc="-103" kern="0" dirty="0">
                <a:solidFill>
                  <a:srgbClr val="1F3A5F"/>
                </a:solidFill>
                <a:latin typeface="Georgia" pitchFamily="34" charset="0"/>
                <a:ea typeface="Georgia" pitchFamily="34" charset="-122"/>
                <a:cs typeface="Georgia" pitchFamily="34" charset="-120"/>
              </a:rPr>
              <a:t>robot stock‑picker </a:t>
            </a:r>
            <a:pPr algn="l" indent="0" marL="0">
              <a:lnSpc>
                <a:spcPct val="104000"/>
              </a:lnSpc>
              <a:buNone/>
            </a:pPr>
            <a:r>
              <a:rPr lang="en-US" sz="5700" spc="-103" kern="0" dirty="0">
                <a:solidFill>
                  <a:srgbClr val="1A1C21"/>
                </a:solidFill>
                <a:latin typeface="Georgia" pitchFamily="34" charset="0"/>
                <a:ea typeface="Georgia" pitchFamily="34" charset="-122"/>
                <a:cs typeface="Georgia" pitchFamily="34" charset="-120"/>
              </a:rPr>
              <a:t>that plays with fake money.</a:t>
            </a:r>
            <a:endParaRPr lang="en-US" sz="5700" dirty="0"/>
          </a:p>
        </p:txBody>
      </p:sp>
      <p:sp>
        <p:nvSpPr>
          <p:cNvPr id="8" name="Text 6"/>
          <p:cNvSpPr/>
          <p:nvPr/>
        </p:nvSpPr>
        <p:spPr>
          <a:xfrm>
            <a:off x="1066800" y="3953768"/>
            <a:ext cx="7848600" cy="2472333"/>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Every five minutes during the trading day, the robot reads the news, peeks at what politicians and famous investors are buying, checks which stocks have been going up, and gives each company a score. If the score is high, it buys a little. If it turns bad, it sells. Nothing here is real money — we're practicing.</a:t>
            </a:r>
            <a:endParaRPr lang="en-US" sz="2250" dirty="0"/>
          </a:p>
        </p:txBody>
      </p:sp>
      <p:sp>
        <p:nvSpPr>
          <p:cNvPr id="9" name="Text 7"/>
          <p:cNvSpPr/>
          <p:nvPr/>
        </p:nvSpPr>
        <p:spPr>
          <a:xfrm>
            <a:off x="9601200" y="914400"/>
            <a:ext cx="784860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1F3A5F"/>
                </a:solidFill>
                <a:latin typeface="Courier New" pitchFamily="34" charset="0"/>
                <a:ea typeface="Courier New" pitchFamily="34" charset="-122"/>
                <a:cs typeface="Courier New" pitchFamily="34" charset="-120"/>
              </a:rPr>
              <a:t>THE SAME THING, PRECISELY</a:t>
            </a:r>
            <a:endParaRPr lang="en-US" sz="1800" dirty="0"/>
          </a:p>
        </p:txBody>
      </p:sp>
      <p:sp>
        <p:nvSpPr>
          <p:cNvPr id="10" name="Text 8"/>
          <p:cNvSpPr/>
          <p:nvPr/>
        </p:nvSpPr>
        <p:spPr>
          <a:xfrm>
            <a:off x="9601200" y="1343025"/>
            <a:ext cx="7848600" cy="1028700"/>
          </a:xfrm>
          <a:prstGeom prst="rect">
            <a:avLst/>
          </a:prstGeom>
          <a:noFill/>
          <a:ln/>
        </p:spPr>
        <p:txBody>
          <a:bodyPr wrap="square" lIns="25400" tIns="25400" rIns="25400" bIns="25400" rtlCol="0" anchor="t">
            <a:normAutofit/>
          </a:bodyPr>
          <a:lstStyle/>
          <a:p>
            <a:pPr algn="l" indent="0" marL="0">
              <a:lnSpc>
                <a:spcPct val="104000"/>
              </a:lnSpc>
              <a:buNone/>
            </a:pPr>
            <a:r>
              <a:rPr lang="en-US" sz="3750" i="1" spc="-67" kern="0" dirty="0">
                <a:solidFill>
                  <a:srgbClr val="1A1C21"/>
                </a:solidFill>
                <a:latin typeface="Georgia" pitchFamily="34" charset="0"/>
                <a:ea typeface="Georgia" pitchFamily="34" charset="-122"/>
                <a:cs typeface="Georgia" pitchFamily="34" charset="-120"/>
              </a:rPr>
              <a:t>A signal‑fused, risk‑bounded paper trader.</a:t>
            </a:r>
            <a:endParaRPr lang="en-US" sz="3750" dirty="0"/>
          </a:p>
        </p:txBody>
      </p:sp>
      <p:sp>
        <p:nvSpPr>
          <p:cNvPr id="11" name="Text 9"/>
          <p:cNvSpPr/>
          <p:nvPr/>
        </p:nvSpPr>
        <p:spPr>
          <a:xfrm>
            <a:off x="9601200" y="2562225"/>
            <a:ext cx="7848600" cy="2897088"/>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A headless Python process on a 5‑minute APScheduler loop, pointed at Alpaca's paper endpoint. It aggregates four independent signals — news sentiment, STOCK Act disclosures, 13F deltas, and price momentum — into a weighted composite score per ticker, then runs a decision tree gated by portfolio‑shape constraints. Every order is persisted with a human‑readable </a:t>
            </a:r>
            <a:pPr algn="l" indent="0" marL="0">
              <a:lnSpc>
                <a:spcPct val="142000"/>
              </a:lnSpc>
              <a:buNone/>
            </a:pPr>
            <a:r>
              <a:rPr lang="en-US" sz="2250" dirty="0">
                <a:solidFill>
                  <a:srgbClr val="4A4F58"/>
                </a:solidFill>
                <a:highlight>
                  <a:srgbClr val="FFFFFF"/>
                </a:highlight>
                <a:latin typeface="Courier New" pitchFamily="34" charset="0"/>
                <a:ea typeface="Courier New" pitchFamily="34" charset="-122"/>
                <a:cs typeface="Courier New" pitchFamily="34" charset="-120"/>
              </a:rPr>
              <a:t>reason </a:t>
            </a:r>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string.</a:t>
            </a:r>
            <a:endParaRPr lang="en-US" sz="2250" dirty="0"/>
          </a:p>
        </p:txBody>
      </p:sp>
      <p:sp>
        <p:nvSpPr>
          <p:cNvPr id="12" name="Text 10"/>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13" name="Text 11"/>
          <p:cNvSpPr/>
          <p:nvPr/>
        </p:nvSpPr>
        <p:spPr>
          <a:xfrm>
            <a:off x="14006661" y="9744075"/>
            <a:ext cx="3310975"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 · THE BIG PICTURE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2684620"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04 · MOTIVATION</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A · 04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Why build this at all.</a:t>
            </a:r>
            <a:endParaRPr lang="en-US" sz="4800" dirty="0"/>
          </a:p>
        </p:txBody>
      </p:sp>
      <p:sp>
        <p:nvSpPr>
          <p:cNvPr id="7" name="Shape 5"/>
          <p:cNvSpPr/>
          <p:nvPr/>
        </p:nvSpPr>
        <p:spPr>
          <a:xfrm>
            <a:off x="1066800" y="2005459"/>
            <a:ext cx="7943850" cy="2314575"/>
          </a:xfrm>
          <a:prstGeom prst="rect">
            <a:avLst/>
          </a:prstGeom>
          <a:solidFill>
            <a:srgbClr val="FFFFFF"/>
          </a:solidFill>
          <a:ln w="9525">
            <a:solidFill>
              <a:srgbClr val="DCD4BF"/>
            </a:solidFill>
            <a:prstDash val="solid"/>
          </a:ln>
        </p:spPr>
      </p:sp>
      <p:sp>
        <p:nvSpPr>
          <p:cNvPr id="8" name="Text 6"/>
          <p:cNvSpPr/>
          <p:nvPr/>
        </p:nvSpPr>
        <p:spPr>
          <a:xfrm>
            <a:off x="1400175" y="2348359"/>
            <a:ext cx="500955" cy="438150"/>
          </a:xfrm>
          <a:prstGeom prst="rect">
            <a:avLst/>
          </a:prstGeom>
          <a:noFill/>
          <a:ln/>
        </p:spPr>
        <p:txBody>
          <a:bodyPr wrap="square" lIns="25400" tIns="25400" rIns="25400" bIns="25400" rtlCol="0" anchor="t">
            <a:normAutofit/>
          </a:bodyPr>
          <a:lstStyle/>
          <a:p>
            <a:pPr algn="l" indent="0" marL="0">
              <a:lnSpc>
                <a:spcPct val="100000"/>
              </a:lnSpc>
              <a:buNone/>
            </a:pPr>
            <a:r>
              <a:rPr lang="en-US" sz="3150" i="1" dirty="0">
                <a:solidFill>
                  <a:srgbClr val="B8862C"/>
                </a:solidFill>
                <a:latin typeface="Georgia" pitchFamily="34" charset="0"/>
                <a:ea typeface="Georgia" pitchFamily="34" charset="-122"/>
                <a:cs typeface="Georgia" pitchFamily="34" charset="-120"/>
              </a:rPr>
              <a:t>01</a:t>
            </a:r>
            <a:endParaRPr lang="en-US" sz="3150" dirty="0"/>
          </a:p>
        </p:txBody>
      </p:sp>
      <p:sp>
        <p:nvSpPr>
          <p:cNvPr id="9" name="Text 7"/>
          <p:cNvSpPr/>
          <p:nvPr/>
        </p:nvSpPr>
        <p:spPr>
          <a:xfrm>
            <a:off x="1996380" y="2319784"/>
            <a:ext cx="3131162" cy="495300"/>
          </a:xfrm>
          <a:prstGeom prst="rect">
            <a:avLst/>
          </a:prstGeom>
          <a:noFill/>
          <a:ln/>
        </p:spPr>
        <p:txBody>
          <a:bodyPr wrap="square" lIns="25400" tIns="25400" rIns="25400" bIns="25400" rtlCol="0" anchor="t">
            <a:normAutofit/>
          </a:bodyPr>
          <a:lstStyle/>
          <a:p>
            <a:pPr algn="l" indent="0" marL="0">
              <a:buNone/>
            </a:pPr>
            <a:r>
              <a:rPr lang="en-US" sz="3150" spc="-31" kern="0" dirty="0">
                <a:solidFill>
                  <a:srgbClr val="1A1C21"/>
                </a:solidFill>
                <a:latin typeface="Georgia" pitchFamily="34" charset="0"/>
                <a:ea typeface="Georgia" pitchFamily="34" charset="-122"/>
                <a:cs typeface="Georgia" pitchFamily="34" charset="-120"/>
              </a:rPr>
              <a:t>To learn in public</a:t>
            </a:r>
            <a:endParaRPr lang="en-US" sz="3150" dirty="0"/>
          </a:p>
        </p:txBody>
      </p:sp>
      <p:sp>
        <p:nvSpPr>
          <p:cNvPr id="10" name="Text 8"/>
          <p:cNvSpPr/>
          <p:nvPr/>
        </p:nvSpPr>
        <p:spPr>
          <a:xfrm>
            <a:off x="1400175" y="2891284"/>
            <a:ext cx="7495413"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Trading with your own money to "find out" is expensive. Paper trading lets us test ideas against live data without the consequences.</a:t>
            </a:r>
            <a:endParaRPr lang="en-US" sz="1950" dirty="0"/>
          </a:p>
        </p:txBody>
      </p:sp>
      <p:sp>
        <p:nvSpPr>
          <p:cNvPr id="11" name="Shape 9"/>
          <p:cNvSpPr/>
          <p:nvPr/>
        </p:nvSpPr>
        <p:spPr>
          <a:xfrm>
            <a:off x="9277350" y="2005459"/>
            <a:ext cx="7943850" cy="2314575"/>
          </a:xfrm>
          <a:prstGeom prst="rect">
            <a:avLst/>
          </a:prstGeom>
          <a:solidFill>
            <a:srgbClr val="FFFFFF"/>
          </a:solidFill>
          <a:ln w="9525">
            <a:solidFill>
              <a:srgbClr val="DCD4BF"/>
            </a:solidFill>
            <a:prstDash val="solid"/>
          </a:ln>
        </p:spPr>
      </p:sp>
      <p:sp>
        <p:nvSpPr>
          <p:cNvPr id="12" name="Text 10"/>
          <p:cNvSpPr/>
          <p:nvPr/>
        </p:nvSpPr>
        <p:spPr>
          <a:xfrm>
            <a:off x="9610725" y="2348359"/>
            <a:ext cx="558105" cy="438150"/>
          </a:xfrm>
          <a:prstGeom prst="rect">
            <a:avLst/>
          </a:prstGeom>
          <a:noFill/>
          <a:ln/>
        </p:spPr>
        <p:txBody>
          <a:bodyPr wrap="square" lIns="25400" tIns="25400" rIns="25400" bIns="25400" rtlCol="0" anchor="t">
            <a:normAutofit/>
          </a:bodyPr>
          <a:lstStyle/>
          <a:p>
            <a:pPr algn="l" indent="0" marL="0">
              <a:lnSpc>
                <a:spcPct val="100000"/>
              </a:lnSpc>
              <a:buNone/>
            </a:pPr>
            <a:r>
              <a:rPr lang="en-US" sz="3150" i="1" dirty="0">
                <a:solidFill>
                  <a:srgbClr val="B8862C"/>
                </a:solidFill>
                <a:latin typeface="Georgia" pitchFamily="34" charset="0"/>
                <a:ea typeface="Georgia" pitchFamily="34" charset="-122"/>
                <a:cs typeface="Georgia" pitchFamily="34" charset="-120"/>
              </a:rPr>
              <a:t>02</a:t>
            </a:r>
            <a:endParaRPr lang="en-US" sz="3150" dirty="0"/>
          </a:p>
        </p:txBody>
      </p:sp>
      <p:sp>
        <p:nvSpPr>
          <p:cNvPr id="13" name="Text 11"/>
          <p:cNvSpPr/>
          <p:nvPr/>
        </p:nvSpPr>
        <p:spPr>
          <a:xfrm>
            <a:off x="10264080" y="2319784"/>
            <a:ext cx="4601088" cy="495300"/>
          </a:xfrm>
          <a:prstGeom prst="rect">
            <a:avLst/>
          </a:prstGeom>
          <a:noFill/>
          <a:ln/>
        </p:spPr>
        <p:txBody>
          <a:bodyPr wrap="square" lIns="25400" tIns="25400" rIns="25400" bIns="25400" rtlCol="0" anchor="t">
            <a:normAutofit/>
          </a:bodyPr>
          <a:lstStyle/>
          <a:p>
            <a:pPr algn="l" indent="0" marL="0">
              <a:buNone/>
            </a:pPr>
            <a:r>
              <a:rPr lang="en-US" sz="3150" spc="-31" kern="0" dirty="0">
                <a:solidFill>
                  <a:srgbClr val="1A1C21"/>
                </a:solidFill>
                <a:latin typeface="Georgia" pitchFamily="34" charset="0"/>
                <a:ea typeface="Georgia" pitchFamily="34" charset="-122"/>
                <a:cs typeface="Georgia" pitchFamily="34" charset="-120"/>
              </a:rPr>
              <a:t>To make the "why" visible</a:t>
            </a:r>
            <a:endParaRPr lang="en-US" sz="3150" dirty="0"/>
          </a:p>
        </p:txBody>
      </p:sp>
      <p:sp>
        <p:nvSpPr>
          <p:cNvPr id="14" name="Text 12"/>
          <p:cNvSpPr/>
          <p:nvPr/>
        </p:nvSpPr>
        <p:spPr>
          <a:xfrm>
            <a:off x="9610725" y="2891284"/>
            <a:ext cx="7495413"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Most trading bots are black boxes. This one writes a plain‑English reason next to every order — you can argue with it after the fact.</a:t>
            </a:r>
            <a:endParaRPr lang="en-US" sz="1950" dirty="0"/>
          </a:p>
        </p:txBody>
      </p:sp>
      <p:sp>
        <p:nvSpPr>
          <p:cNvPr id="15" name="Shape 13"/>
          <p:cNvSpPr/>
          <p:nvPr/>
        </p:nvSpPr>
        <p:spPr>
          <a:xfrm>
            <a:off x="1066800" y="4586734"/>
            <a:ext cx="7943850" cy="1943100"/>
          </a:xfrm>
          <a:prstGeom prst="rect">
            <a:avLst/>
          </a:prstGeom>
          <a:solidFill>
            <a:srgbClr val="FFFFFF"/>
          </a:solidFill>
          <a:ln w="9525">
            <a:solidFill>
              <a:srgbClr val="DCD4BF"/>
            </a:solidFill>
            <a:prstDash val="solid"/>
          </a:ln>
        </p:spPr>
      </p:sp>
      <p:sp>
        <p:nvSpPr>
          <p:cNvPr id="16" name="Text 14"/>
          <p:cNvSpPr/>
          <p:nvPr/>
        </p:nvSpPr>
        <p:spPr>
          <a:xfrm>
            <a:off x="1400175" y="4929634"/>
            <a:ext cx="544711" cy="438150"/>
          </a:xfrm>
          <a:prstGeom prst="rect">
            <a:avLst/>
          </a:prstGeom>
          <a:noFill/>
          <a:ln/>
        </p:spPr>
        <p:txBody>
          <a:bodyPr wrap="square" lIns="25400" tIns="25400" rIns="25400" bIns="25400" rtlCol="0" anchor="t">
            <a:normAutofit/>
          </a:bodyPr>
          <a:lstStyle/>
          <a:p>
            <a:pPr algn="l" indent="0" marL="0">
              <a:lnSpc>
                <a:spcPct val="100000"/>
              </a:lnSpc>
              <a:buNone/>
            </a:pPr>
            <a:r>
              <a:rPr lang="en-US" sz="3150" i="1" dirty="0">
                <a:solidFill>
                  <a:srgbClr val="B8862C"/>
                </a:solidFill>
                <a:latin typeface="Georgia" pitchFamily="34" charset="0"/>
                <a:ea typeface="Georgia" pitchFamily="34" charset="-122"/>
                <a:cs typeface="Georgia" pitchFamily="34" charset="-120"/>
              </a:rPr>
              <a:t>03</a:t>
            </a:r>
            <a:endParaRPr lang="en-US" sz="3150" dirty="0"/>
          </a:p>
        </p:txBody>
      </p:sp>
      <p:sp>
        <p:nvSpPr>
          <p:cNvPr id="17" name="Text 15"/>
          <p:cNvSpPr/>
          <p:nvPr/>
        </p:nvSpPr>
        <p:spPr>
          <a:xfrm>
            <a:off x="2040136" y="4901059"/>
            <a:ext cx="5421206" cy="495300"/>
          </a:xfrm>
          <a:prstGeom prst="rect">
            <a:avLst/>
          </a:prstGeom>
          <a:noFill/>
          <a:ln/>
        </p:spPr>
        <p:txBody>
          <a:bodyPr wrap="square" lIns="25400" tIns="25400" rIns="25400" bIns="25400" rtlCol="0" anchor="t">
            <a:normAutofit/>
          </a:bodyPr>
          <a:lstStyle/>
          <a:p>
            <a:pPr algn="l" indent="0" marL="0">
              <a:buNone/>
            </a:pPr>
            <a:r>
              <a:rPr lang="en-US" sz="3150" spc="-31" kern="0" dirty="0">
                <a:solidFill>
                  <a:srgbClr val="1A1C21"/>
                </a:solidFill>
                <a:latin typeface="Georgia" pitchFamily="34" charset="0"/>
                <a:ea typeface="Georgia" pitchFamily="34" charset="-122"/>
                <a:cs typeface="Georgia" pitchFamily="34" charset="-120"/>
              </a:rPr>
              <a:t>To combine slow + fast signals</a:t>
            </a:r>
            <a:endParaRPr lang="en-US" sz="3150" dirty="0"/>
          </a:p>
        </p:txBody>
      </p:sp>
      <p:sp>
        <p:nvSpPr>
          <p:cNvPr id="18" name="Text 16"/>
          <p:cNvSpPr/>
          <p:nvPr/>
        </p:nvSpPr>
        <p:spPr>
          <a:xfrm>
            <a:off x="1400175" y="5472559"/>
            <a:ext cx="7495413"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News moves in minutes. 13F filings move in months. We wanted one system that respects both.</a:t>
            </a:r>
            <a:endParaRPr lang="en-US" sz="1950" dirty="0"/>
          </a:p>
        </p:txBody>
      </p:sp>
      <p:sp>
        <p:nvSpPr>
          <p:cNvPr id="19" name="Shape 17"/>
          <p:cNvSpPr/>
          <p:nvPr/>
        </p:nvSpPr>
        <p:spPr>
          <a:xfrm>
            <a:off x="9277350" y="4586734"/>
            <a:ext cx="7943850" cy="1943100"/>
          </a:xfrm>
          <a:prstGeom prst="rect">
            <a:avLst/>
          </a:prstGeom>
          <a:solidFill>
            <a:srgbClr val="FFFFFF"/>
          </a:solidFill>
          <a:ln w="9525">
            <a:solidFill>
              <a:srgbClr val="DCD4BF"/>
            </a:solidFill>
            <a:prstDash val="solid"/>
          </a:ln>
        </p:spPr>
      </p:sp>
      <p:sp>
        <p:nvSpPr>
          <p:cNvPr id="20" name="Text 18"/>
          <p:cNvSpPr/>
          <p:nvPr/>
        </p:nvSpPr>
        <p:spPr>
          <a:xfrm>
            <a:off x="9610725" y="4929634"/>
            <a:ext cx="558105" cy="438150"/>
          </a:xfrm>
          <a:prstGeom prst="rect">
            <a:avLst/>
          </a:prstGeom>
          <a:noFill/>
          <a:ln/>
        </p:spPr>
        <p:txBody>
          <a:bodyPr wrap="square" lIns="25400" tIns="25400" rIns="25400" bIns="25400" rtlCol="0" anchor="t">
            <a:normAutofit/>
          </a:bodyPr>
          <a:lstStyle/>
          <a:p>
            <a:pPr algn="l" indent="0" marL="0">
              <a:lnSpc>
                <a:spcPct val="100000"/>
              </a:lnSpc>
              <a:buNone/>
            </a:pPr>
            <a:r>
              <a:rPr lang="en-US" sz="3150" i="1" dirty="0">
                <a:solidFill>
                  <a:srgbClr val="B8862C"/>
                </a:solidFill>
                <a:latin typeface="Georgia" pitchFamily="34" charset="0"/>
                <a:ea typeface="Georgia" pitchFamily="34" charset="-122"/>
                <a:cs typeface="Georgia" pitchFamily="34" charset="-120"/>
              </a:rPr>
              <a:t>04</a:t>
            </a:r>
            <a:endParaRPr lang="en-US" sz="3150" dirty="0"/>
          </a:p>
        </p:txBody>
      </p:sp>
      <p:sp>
        <p:nvSpPr>
          <p:cNvPr id="21" name="Text 19"/>
          <p:cNvSpPr/>
          <p:nvPr/>
        </p:nvSpPr>
        <p:spPr>
          <a:xfrm>
            <a:off x="10264080" y="4901059"/>
            <a:ext cx="5101897" cy="495300"/>
          </a:xfrm>
          <a:prstGeom prst="rect">
            <a:avLst/>
          </a:prstGeom>
          <a:noFill/>
          <a:ln/>
        </p:spPr>
        <p:txBody>
          <a:bodyPr wrap="square" lIns="25400" tIns="25400" rIns="25400" bIns="25400" rtlCol="0" anchor="t">
            <a:normAutofit/>
          </a:bodyPr>
          <a:lstStyle/>
          <a:p>
            <a:pPr algn="l" indent="0" marL="0">
              <a:buNone/>
            </a:pPr>
            <a:r>
              <a:rPr lang="en-US" sz="3150" spc="-31" kern="0" dirty="0">
                <a:solidFill>
                  <a:srgbClr val="1A1C21"/>
                </a:solidFill>
                <a:latin typeface="Georgia" pitchFamily="34" charset="0"/>
                <a:ea typeface="Georgia" pitchFamily="34" charset="-122"/>
                <a:cs typeface="Georgia" pitchFamily="34" charset="-120"/>
              </a:rPr>
              <a:t>To stay small enough to read</a:t>
            </a:r>
            <a:endParaRPr lang="en-US" sz="3150" dirty="0"/>
          </a:p>
        </p:txBody>
      </p:sp>
      <p:sp>
        <p:nvSpPr>
          <p:cNvPr id="22" name="Text 20"/>
          <p:cNvSpPr/>
          <p:nvPr/>
        </p:nvSpPr>
        <p:spPr>
          <a:xfrm>
            <a:off x="9610725" y="5472559"/>
            <a:ext cx="7495413"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Around 1,500 lines of Python. A junior engineer should be able to understand the whole thing in an afternoon.</a:t>
            </a:r>
            <a:endParaRPr lang="en-US" sz="1950" dirty="0"/>
          </a:p>
        </p:txBody>
      </p:sp>
      <p:sp>
        <p:nvSpPr>
          <p:cNvPr id="23" name="Text 21"/>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24" name="Text 22"/>
          <p:cNvSpPr/>
          <p:nvPr/>
        </p:nvSpPr>
        <p:spPr>
          <a:xfrm>
            <a:off x="14006661" y="9744075"/>
            <a:ext cx="3310975"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 · THE BIG PICTURE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8D9"/>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2863666"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05 · AT A GLANCE</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A · 05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The whole thing, on one slide.</a:t>
            </a:r>
            <a:endParaRPr lang="en-US" sz="4800" dirty="0"/>
          </a:p>
        </p:txBody>
      </p:sp>
      <p:sp>
        <p:nvSpPr>
          <p:cNvPr id="7" name="Text 5"/>
          <p:cNvSpPr/>
          <p:nvPr/>
        </p:nvSpPr>
        <p:spPr>
          <a:xfrm>
            <a:off x="1066800" y="1700659"/>
            <a:ext cx="12753975"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Eight numbers describe the system's shape. Everything else is an elaboration of these.</a:t>
            </a:r>
            <a:endParaRPr lang="en-US" sz="2250" dirty="0"/>
          </a:p>
        </p:txBody>
      </p:sp>
      <p:sp>
        <p:nvSpPr>
          <p:cNvPr id="8" name="Shape 6"/>
          <p:cNvSpPr/>
          <p:nvPr/>
        </p:nvSpPr>
        <p:spPr>
          <a:xfrm>
            <a:off x="1066800" y="2639764"/>
            <a:ext cx="3895725" cy="2324100"/>
          </a:xfrm>
          <a:prstGeom prst="rect">
            <a:avLst/>
          </a:prstGeom>
          <a:solidFill>
            <a:srgbClr val="FFFFFF"/>
          </a:solidFill>
          <a:ln w="9525">
            <a:solidFill>
              <a:srgbClr val="DCD4BF"/>
            </a:solidFill>
            <a:prstDash val="solid"/>
          </a:ln>
        </p:spPr>
      </p:sp>
      <p:sp>
        <p:nvSpPr>
          <p:cNvPr id="9" name="Text 7"/>
          <p:cNvSpPr/>
          <p:nvPr/>
        </p:nvSpPr>
        <p:spPr>
          <a:xfrm>
            <a:off x="1323975" y="2935039"/>
            <a:ext cx="348281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199" kern="0" dirty="0">
                <a:solidFill>
                  <a:srgbClr val="1F3A5F"/>
                </a:solidFill>
                <a:latin typeface="Georgia" pitchFamily="34" charset="0"/>
                <a:ea typeface="Georgia" pitchFamily="34" charset="-122"/>
                <a:cs typeface="Georgia" pitchFamily="34" charset="-120"/>
              </a:rPr>
              <a:t>5 min</a:t>
            </a:r>
            <a:endParaRPr lang="en-US" sz="5700" dirty="0"/>
          </a:p>
        </p:txBody>
      </p:sp>
      <p:sp>
        <p:nvSpPr>
          <p:cNvPr id="10" name="Text 8"/>
          <p:cNvSpPr/>
          <p:nvPr/>
        </p:nvSpPr>
        <p:spPr>
          <a:xfrm>
            <a:off x="1323975" y="3754189"/>
            <a:ext cx="3482816"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Arial" pitchFamily="34" charset="0"/>
                <a:ea typeface="Arial" pitchFamily="34" charset="-122"/>
                <a:cs typeface="Arial" pitchFamily="34" charset="-120"/>
              </a:rPr>
              <a:t>tick cadence</a:t>
            </a:r>
            <a:endParaRPr lang="en-US" sz="2250" dirty="0"/>
          </a:p>
        </p:txBody>
      </p:sp>
      <p:sp>
        <p:nvSpPr>
          <p:cNvPr id="11" name="Text 9"/>
          <p:cNvSpPr/>
          <p:nvPr/>
        </p:nvSpPr>
        <p:spPr>
          <a:xfrm>
            <a:off x="1323975" y="4135189"/>
            <a:ext cx="3482816"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A8190"/>
                </a:solidFill>
                <a:latin typeface="Courier New" pitchFamily="34" charset="0"/>
                <a:ea typeface="Courier New" pitchFamily="34" charset="-122"/>
                <a:cs typeface="Courier New" pitchFamily="34" charset="-120"/>
              </a:rPr>
              <a:t>09:30 – 16:00 ET</a:t>
            </a:r>
            <a:endParaRPr lang="en-US" sz="1950" dirty="0"/>
          </a:p>
        </p:txBody>
      </p:sp>
      <p:sp>
        <p:nvSpPr>
          <p:cNvPr id="12" name="Shape 10"/>
          <p:cNvSpPr/>
          <p:nvPr/>
        </p:nvSpPr>
        <p:spPr>
          <a:xfrm>
            <a:off x="5153025" y="2639764"/>
            <a:ext cx="3895725" cy="2324100"/>
          </a:xfrm>
          <a:prstGeom prst="rect">
            <a:avLst/>
          </a:prstGeom>
          <a:solidFill>
            <a:srgbClr val="FFFFFF"/>
          </a:solidFill>
          <a:ln w="9525">
            <a:solidFill>
              <a:srgbClr val="DCD4BF"/>
            </a:solidFill>
            <a:prstDash val="solid"/>
          </a:ln>
        </p:spPr>
      </p:sp>
      <p:sp>
        <p:nvSpPr>
          <p:cNvPr id="13" name="Text 11"/>
          <p:cNvSpPr/>
          <p:nvPr/>
        </p:nvSpPr>
        <p:spPr>
          <a:xfrm>
            <a:off x="5410200" y="2935039"/>
            <a:ext cx="348281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199" kern="0" dirty="0">
                <a:solidFill>
                  <a:srgbClr val="1F3A5F"/>
                </a:solidFill>
                <a:latin typeface="Georgia" pitchFamily="34" charset="0"/>
                <a:ea typeface="Georgia" pitchFamily="34" charset="-122"/>
                <a:cs typeface="Georgia" pitchFamily="34" charset="-120"/>
              </a:rPr>
              <a:t>83</a:t>
            </a:r>
            <a:endParaRPr lang="en-US" sz="5700" dirty="0"/>
          </a:p>
        </p:txBody>
      </p:sp>
      <p:sp>
        <p:nvSpPr>
          <p:cNvPr id="14" name="Text 12"/>
          <p:cNvSpPr/>
          <p:nvPr/>
        </p:nvSpPr>
        <p:spPr>
          <a:xfrm>
            <a:off x="5410200" y="3754189"/>
            <a:ext cx="3482816"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Arial" pitchFamily="34" charset="0"/>
                <a:ea typeface="Arial" pitchFamily="34" charset="-122"/>
                <a:cs typeface="Arial" pitchFamily="34" charset="-120"/>
              </a:rPr>
              <a:t>tickers</a:t>
            </a:r>
            <a:endParaRPr lang="en-US" sz="2250" dirty="0"/>
          </a:p>
        </p:txBody>
      </p:sp>
      <p:sp>
        <p:nvSpPr>
          <p:cNvPr id="15" name="Text 13"/>
          <p:cNvSpPr/>
          <p:nvPr/>
        </p:nvSpPr>
        <p:spPr>
          <a:xfrm>
            <a:off x="5410200" y="4135189"/>
            <a:ext cx="3482816" cy="609600"/>
          </a:xfrm>
          <a:prstGeom prst="rect">
            <a:avLst/>
          </a:prstGeom>
          <a:noFill/>
          <a:ln/>
        </p:spPr>
        <p:txBody>
          <a:bodyPr wrap="square" lIns="25400" tIns="25400" rIns="25400" bIns="25400" rtlCol="0" anchor="t">
            <a:normAutofit/>
          </a:bodyPr>
          <a:lstStyle/>
          <a:p>
            <a:pPr algn="l" indent="0" marL="0">
              <a:buNone/>
            </a:pPr>
            <a:r>
              <a:rPr lang="en-US" sz="1950" dirty="0">
                <a:solidFill>
                  <a:srgbClr val="7A8190"/>
                </a:solidFill>
                <a:latin typeface="Courier New" pitchFamily="34" charset="0"/>
                <a:ea typeface="Courier New" pitchFamily="34" charset="-122"/>
                <a:cs typeface="Courier New" pitchFamily="34" charset="-120"/>
              </a:rPr>
              <a:t>75 equities + 8 bond ETFs</a:t>
            </a:r>
            <a:endParaRPr lang="en-US" sz="1950" dirty="0"/>
          </a:p>
        </p:txBody>
      </p:sp>
      <p:sp>
        <p:nvSpPr>
          <p:cNvPr id="16" name="Shape 14"/>
          <p:cNvSpPr/>
          <p:nvPr/>
        </p:nvSpPr>
        <p:spPr>
          <a:xfrm>
            <a:off x="9239250" y="2639764"/>
            <a:ext cx="3895725" cy="2324100"/>
          </a:xfrm>
          <a:prstGeom prst="rect">
            <a:avLst/>
          </a:prstGeom>
          <a:solidFill>
            <a:srgbClr val="FFFFFF"/>
          </a:solidFill>
          <a:ln w="9525">
            <a:solidFill>
              <a:srgbClr val="DCD4BF"/>
            </a:solidFill>
            <a:prstDash val="solid"/>
          </a:ln>
        </p:spPr>
      </p:sp>
      <p:sp>
        <p:nvSpPr>
          <p:cNvPr id="17" name="Text 15"/>
          <p:cNvSpPr/>
          <p:nvPr/>
        </p:nvSpPr>
        <p:spPr>
          <a:xfrm>
            <a:off x="9496425" y="2935039"/>
            <a:ext cx="348281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199" kern="0" dirty="0">
                <a:solidFill>
                  <a:srgbClr val="1F3A5F"/>
                </a:solidFill>
                <a:latin typeface="Georgia" pitchFamily="34" charset="0"/>
                <a:ea typeface="Georgia" pitchFamily="34" charset="-122"/>
                <a:cs typeface="Georgia" pitchFamily="34" charset="-120"/>
              </a:rPr>
              <a:t>4</a:t>
            </a:r>
            <a:endParaRPr lang="en-US" sz="5700" dirty="0"/>
          </a:p>
        </p:txBody>
      </p:sp>
      <p:sp>
        <p:nvSpPr>
          <p:cNvPr id="18" name="Text 16"/>
          <p:cNvSpPr/>
          <p:nvPr/>
        </p:nvSpPr>
        <p:spPr>
          <a:xfrm>
            <a:off x="9496425" y="3754189"/>
            <a:ext cx="3482816"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Arial" pitchFamily="34" charset="0"/>
                <a:ea typeface="Arial" pitchFamily="34" charset="-122"/>
                <a:cs typeface="Arial" pitchFamily="34" charset="-120"/>
              </a:rPr>
              <a:t>signals fused</a:t>
            </a:r>
            <a:endParaRPr lang="en-US" sz="2250" dirty="0"/>
          </a:p>
        </p:txBody>
      </p:sp>
      <p:sp>
        <p:nvSpPr>
          <p:cNvPr id="19" name="Text 17"/>
          <p:cNvSpPr/>
          <p:nvPr/>
        </p:nvSpPr>
        <p:spPr>
          <a:xfrm>
            <a:off x="9496425" y="4135189"/>
            <a:ext cx="3482816" cy="609600"/>
          </a:xfrm>
          <a:prstGeom prst="rect">
            <a:avLst/>
          </a:prstGeom>
          <a:noFill/>
          <a:ln/>
        </p:spPr>
        <p:txBody>
          <a:bodyPr wrap="square" lIns="25400" tIns="25400" rIns="25400" bIns="25400" rtlCol="0" anchor="t">
            <a:normAutofit/>
          </a:bodyPr>
          <a:lstStyle/>
          <a:p>
            <a:pPr algn="l" indent="0" marL="0">
              <a:buNone/>
            </a:pPr>
            <a:r>
              <a:rPr lang="en-US" sz="1950" dirty="0">
                <a:solidFill>
                  <a:srgbClr val="7A8190"/>
                </a:solidFill>
                <a:latin typeface="Courier New" pitchFamily="34" charset="0"/>
                <a:ea typeface="Courier New" pitchFamily="34" charset="-122"/>
                <a:cs typeface="Courier New" pitchFamily="34" charset="-120"/>
              </a:rPr>
              <a:t>news · congress · 13F · price</a:t>
            </a:r>
            <a:endParaRPr lang="en-US" sz="1950" dirty="0"/>
          </a:p>
        </p:txBody>
      </p:sp>
      <p:sp>
        <p:nvSpPr>
          <p:cNvPr id="20" name="Shape 18"/>
          <p:cNvSpPr/>
          <p:nvPr/>
        </p:nvSpPr>
        <p:spPr>
          <a:xfrm>
            <a:off x="13325475" y="2639764"/>
            <a:ext cx="3895725" cy="2324100"/>
          </a:xfrm>
          <a:prstGeom prst="rect">
            <a:avLst/>
          </a:prstGeom>
          <a:solidFill>
            <a:srgbClr val="FFFFFF"/>
          </a:solidFill>
          <a:ln w="9525">
            <a:solidFill>
              <a:srgbClr val="DCD4BF"/>
            </a:solidFill>
            <a:prstDash val="solid"/>
          </a:ln>
        </p:spPr>
      </p:sp>
      <p:sp>
        <p:nvSpPr>
          <p:cNvPr id="21" name="Text 19"/>
          <p:cNvSpPr/>
          <p:nvPr/>
        </p:nvSpPr>
        <p:spPr>
          <a:xfrm>
            <a:off x="13582650" y="2935039"/>
            <a:ext cx="348281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199" kern="0" dirty="0">
                <a:solidFill>
                  <a:srgbClr val="1F3A5F"/>
                </a:solidFill>
                <a:latin typeface="Georgia" pitchFamily="34" charset="0"/>
                <a:ea typeface="Georgia" pitchFamily="34" charset="-122"/>
                <a:cs typeface="Georgia" pitchFamily="34" charset="-120"/>
              </a:rPr>
              <a:t>30</a:t>
            </a:r>
            <a:endParaRPr lang="en-US" sz="5700" dirty="0"/>
          </a:p>
        </p:txBody>
      </p:sp>
      <p:sp>
        <p:nvSpPr>
          <p:cNvPr id="22" name="Text 20"/>
          <p:cNvSpPr/>
          <p:nvPr/>
        </p:nvSpPr>
        <p:spPr>
          <a:xfrm>
            <a:off x="13582650" y="3754189"/>
            <a:ext cx="3482816"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Arial" pitchFamily="34" charset="0"/>
                <a:ea typeface="Arial" pitchFamily="34" charset="-122"/>
                <a:cs typeface="Arial" pitchFamily="34" charset="-120"/>
              </a:rPr>
              <a:t>max positions</a:t>
            </a:r>
            <a:endParaRPr lang="en-US" sz="2250" dirty="0"/>
          </a:p>
        </p:txBody>
      </p:sp>
      <p:sp>
        <p:nvSpPr>
          <p:cNvPr id="23" name="Text 21"/>
          <p:cNvSpPr/>
          <p:nvPr/>
        </p:nvSpPr>
        <p:spPr>
          <a:xfrm>
            <a:off x="13582650" y="4135189"/>
            <a:ext cx="3482816"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A8190"/>
                </a:solidFill>
                <a:latin typeface="Courier New" pitchFamily="34" charset="0"/>
                <a:ea typeface="Courier New" pitchFamily="34" charset="-122"/>
                <a:cs typeface="Courier New" pitchFamily="34" charset="-120"/>
              </a:rPr>
              <a:t>concurrent holdings</a:t>
            </a:r>
            <a:endParaRPr lang="en-US" sz="1950" dirty="0"/>
          </a:p>
        </p:txBody>
      </p:sp>
      <p:sp>
        <p:nvSpPr>
          <p:cNvPr id="24" name="Shape 22"/>
          <p:cNvSpPr/>
          <p:nvPr/>
        </p:nvSpPr>
        <p:spPr>
          <a:xfrm>
            <a:off x="1066800" y="5154364"/>
            <a:ext cx="3895725" cy="2057400"/>
          </a:xfrm>
          <a:prstGeom prst="rect">
            <a:avLst/>
          </a:prstGeom>
          <a:solidFill>
            <a:srgbClr val="FFFFFF"/>
          </a:solidFill>
          <a:ln w="9525">
            <a:solidFill>
              <a:srgbClr val="DCD4BF"/>
            </a:solidFill>
            <a:prstDash val="solid"/>
          </a:ln>
        </p:spPr>
      </p:sp>
      <p:sp>
        <p:nvSpPr>
          <p:cNvPr id="25" name="Text 23"/>
          <p:cNvSpPr/>
          <p:nvPr/>
        </p:nvSpPr>
        <p:spPr>
          <a:xfrm>
            <a:off x="1323975" y="5449639"/>
            <a:ext cx="348281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199" kern="0" dirty="0">
                <a:solidFill>
                  <a:srgbClr val="1F3A5F"/>
                </a:solidFill>
                <a:latin typeface="Georgia" pitchFamily="34" charset="0"/>
                <a:ea typeface="Georgia" pitchFamily="34" charset="-122"/>
                <a:cs typeface="Georgia" pitchFamily="34" charset="-120"/>
              </a:rPr>
              <a:t>5 %</a:t>
            </a:r>
            <a:endParaRPr lang="en-US" sz="5700" dirty="0"/>
          </a:p>
        </p:txBody>
      </p:sp>
      <p:sp>
        <p:nvSpPr>
          <p:cNvPr id="26" name="Text 24"/>
          <p:cNvSpPr/>
          <p:nvPr/>
        </p:nvSpPr>
        <p:spPr>
          <a:xfrm>
            <a:off x="1323975" y="6268789"/>
            <a:ext cx="3482816"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Arial" pitchFamily="34" charset="0"/>
                <a:ea typeface="Arial" pitchFamily="34" charset="-122"/>
                <a:cs typeface="Arial" pitchFamily="34" charset="-120"/>
              </a:rPr>
              <a:t>position size</a:t>
            </a:r>
            <a:endParaRPr lang="en-US" sz="2250" dirty="0"/>
          </a:p>
        </p:txBody>
      </p:sp>
      <p:sp>
        <p:nvSpPr>
          <p:cNvPr id="27" name="Text 25"/>
          <p:cNvSpPr/>
          <p:nvPr/>
        </p:nvSpPr>
        <p:spPr>
          <a:xfrm>
            <a:off x="1323975" y="6649789"/>
            <a:ext cx="3482816"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A8190"/>
                </a:solidFill>
                <a:latin typeface="Courier New" pitchFamily="34" charset="0"/>
                <a:ea typeface="Courier New" pitchFamily="34" charset="-122"/>
                <a:cs typeface="Courier New" pitchFamily="34" charset="-120"/>
              </a:rPr>
              <a:t>of equity at entry</a:t>
            </a:r>
            <a:endParaRPr lang="en-US" sz="1950" dirty="0"/>
          </a:p>
        </p:txBody>
      </p:sp>
      <p:sp>
        <p:nvSpPr>
          <p:cNvPr id="28" name="Shape 26"/>
          <p:cNvSpPr/>
          <p:nvPr/>
        </p:nvSpPr>
        <p:spPr>
          <a:xfrm>
            <a:off x="5153025" y="5154364"/>
            <a:ext cx="3895725" cy="2057400"/>
          </a:xfrm>
          <a:prstGeom prst="rect">
            <a:avLst/>
          </a:prstGeom>
          <a:solidFill>
            <a:srgbClr val="FFFFFF"/>
          </a:solidFill>
          <a:ln w="9525">
            <a:solidFill>
              <a:srgbClr val="DCD4BF"/>
            </a:solidFill>
            <a:prstDash val="solid"/>
          </a:ln>
        </p:spPr>
      </p:sp>
      <p:sp>
        <p:nvSpPr>
          <p:cNvPr id="29" name="Text 27"/>
          <p:cNvSpPr/>
          <p:nvPr/>
        </p:nvSpPr>
        <p:spPr>
          <a:xfrm>
            <a:off x="5410200" y="5449639"/>
            <a:ext cx="348281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199" kern="0" dirty="0">
                <a:solidFill>
                  <a:srgbClr val="1F3A5F"/>
                </a:solidFill>
                <a:latin typeface="Georgia" pitchFamily="34" charset="0"/>
                <a:ea typeface="Georgia" pitchFamily="34" charset="-122"/>
                <a:cs typeface="Georgia" pitchFamily="34" charset="-120"/>
              </a:rPr>
              <a:t>7 %</a:t>
            </a:r>
            <a:endParaRPr lang="en-US" sz="5700" dirty="0"/>
          </a:p>
        </p:txBody>
      </p:sp>
      <p:sp>
        <p:nvSpPr>
          <p:cNvPr id="30" name="Text 28"/>
          <p:cNvSpPr/>
          <p:nvPr/>
        </p:nvSpPr>
        <p:spPr>
          <a:xfrm>
            <a:off x="5410200" y="6268789"/>
            <a:ext cx="3482816"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Arial" pitchFamily="34" charset="0"/>
                <a:ea typeface="Arial" pitchFamily="34" charset="-122"/>
                <a:cs typeface="Arial" pitchFamily="34" charset="-120"/>
              </a:rPr>
              <a:t>trailing stop</a:t>
            </a:r>
            <a:endParaRPr lang="en-US" sz="2250" dirty="0"/>
          </a:p>
        </p:txBody>
      </p:sp>
      <p:sp>
        <p:nvSpPr>
          <p:cNvPr id="31" name="Text 29"/>
          <p:cNvSpPr/>
          <p:nvPr/>
        </p:nvSpPr>
        <p:spPr>
          <a:xfrm>
            <a:off x="5410200" y="6649789"/>
            <a:ext cx="3482816"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A8190"/>
                </a:solidFill>
                <a:latin typeface="Courier New" pitchFamily="34" charset="0"/>
                <a:ea typeface="Courier New" pitchFamily="34" charset="-122"/>
                <a:cs typeface="Courier New" pitchFamily="34" charset="-120"/>
              </a:rPr>
              <a:t>from peak since entry</a:t>
            </a:r>
            <a:endParaRPr lang="en-US" sz="1950" dirty="0"/>
          </a:p>
        </p:txBody>
      </p:sp>
      <p:sp>
        <p:nvSpPr>
          <p:cNvPr id="32" name="Shape 30"/>
          <p:cNvSpPr/>
          <p:nvPr/>
        </p:nvSpPr>
        <p:spPr>
          <a:xfrm>
            <a:off x="9239250" y="5154364"/>
            <a:ext cx="3895725" cy="2057400"/>
          </a:xfrm>
          <a:prstGeom prst="rect">
            <a:avLst/>
          </a:prstGeom>
          <a:solidFill>
            <a:srgbClr val="FFFFFF"/>
          </a:solidFill>
          <a:ln w="9525">
            <a:solidFill>
              <a:srgbClr val="DCD4BF"/>
            </a:solidFill>
            <a:prstDash val="solid"/>
          </a:ln>
        </p:spPr>
      </p:sp>
      <p:sp>
        <p:nvSpPr>
          <p:cNvPr id="33" name="Text 31"/>
          <p:cNvSpPr/>
          <p:nvPr/>
        </p:nvSpPr>
        <p:spPr>
          <a:xfrm>
            <a:off x="9496425" y="5449639"/>
            <a:ext cx="348281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199" kern="0" dirty="0">
                <a:solidFill>
                  <a:srgbClr val="1F3A5F"/>
                </a:solidFill>
                <a:latin typeface="Georgia" pitchFamily="34" charset="0"/>
                <a:ea typeface="Georgia" pitchFamily="34" charset="-122"/>
                <a:cs typeface="Georgia" pitchFamily="34" charset="-120"/>
              </a:rPr>
              <a:t>25 %</a:t>
            </a:r>
            <a:endParaRPr lang="en-US" sz="5700" dirty="0"/>
          </a:p>
        </p:txBody>
      </p:sp>
      <p:sp>
        <p:nvSpPr>
          <p:cNvPr id="34" name="Text 32"/>
          <p:cNvSpPr/>
          <p:nvPr/>
        </p:nvSpPr>
        <p:spPr>
          <a:xfrm>
            <a:off x="9496425" y="6268789"/>
            <a:ext cx="3482816"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Arial" pitchFamily="34" charset="0"/>
                <a:ea typeface="Arial" pitchFamily="34" charset="-122"/>
                <a:cs typeface="Arial" pitchFamily="34" charset="-120"/>
              </a:rPr>
              <a:t>sector cap</a:t>
            </a:r>
            <a:endParaRPr lang="en-US" sz="2250" dirty="0"/>
          </a:p>
        </p:txBody>
      </p:sp>
      <p:sp>
        <p:nvSpPr>
          <p:cNvPr id="35" name="Text 33"/>
          <p:cNvSpPr/>
          <p:nvPr/>
        </p:nvSpPr>
        <p:spPr>
          <a:xfrm>
            <a:off x="9496425" y="6649789"/>
            <a:ext cx="3482816"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A8190"/>
                </a:solidFill>
                <a:latin typeface="Courier New" pitchFamily="34" charset="0"/>
                <a:ea typeface="Courier New" pitchFamily="34" charset="-122"/>
                <a:cs typeface="Courier New" pitchFamily="34" charset="-120"/>
              </a:rPr>
              <a:t>diversification guard</a:t>
            </a:r>
            <a:endParaRPr lang="en-US" sz="1950" dirty="0"/>
          </a:p>
        </p:txBody>
      </p:sp>
      <p:sp>
        <p:nvSpPr>
          <p:cNvPr id="36" name="Shape 34"/>
          <p:cNvSpPr/>
          <p:nvPr/>
        </p:nvSpPr>
        <p:spPr>
          <a:xfrm>
            <a:off x="13325475" y="5154364"/>
            <a:ext cx="3895725" cy="2057400"/>
          </a:xfrm>
          <a:prstGeom prst="rect">
            <a:avLst/>
          </a:prstGeom>
          <a:solidFill>
            <a:srgbClr val="FFFFFF"/>
          </a:solidFill>
          <a:ln w="9525">
            <a:solidFill>
              <a:srgbClr val="DCD4BF"/>
            </a:solidFill>
            <a:prstDash val="solid"/>
          </a:ln>
        </p:spPr>
      </p:sp>
      <p:sp>
        <p:nvSpPr>
          <p:cNvPr id="37" name="Text 35"/>
          <p:cNvSpPr/>
          <p:nvPr/>
        </p:nvSpPr>
        <p:spPr>
          <a:xfrm>
            <a:off x="13582650" y="5449639"/>
            <a:ext cx="348281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199" kern="0" dirty="0">
                <a:solidFill>
                  <a:srgbClr val="1F3A5F"/>
                </a:solidFill>
                <a:latin typeface="Georgia" pitchFamily="34" charset="0"/>
                <a:ea typeface="Georgia" pitchFamily="34" charset="-122"/>
                <a:cs typeface="Georgia" pitchFamily="34" charset="-120"/>
              </a:rPr>
              <a:t>10 %</a:t>
            </a:r>
            <a:endParaRPr lang="en-US" sz="5700" dirty="0"/>
          </a:p>
        </p:txBody>
      </p:sp>
      <p:sp>
        <p:nvSpPr>
          <p:cNvPr id="38" name="Text 36"/>
          <p:cNvSpPr/>
          <p:nvPr/>
        </p:nvSpPr>
        <p:spPr>
          <a:xfrm>
            <a:off x="13582650" y="6268789"/>
            <a:ext cx="3482816"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Arial" pitchFamily="34" charset="0"/>
                <a:ea typeface="Arial" pitchFamily="34" charset="-122"/>
                <a:cs typeface="Arial" pitchFamily="34" charset="-120"/>
              </a:rPr>
              <a:t>bond floor</a:t>
            </a:r>
            <a:endParaRPr lang="en-US" sz="2250" dirty="0"/>
          </a:p>
        </p:txBody>
      </p:sp>
      <p:sp>
        <p:nvSpPr>
          <p:cNvPr id="39" name="Text 37"/>
          <p:cNvSpPr/>
          <p:nvPr/>
        </p:nvSpPr>
        <p:spPr>
          <a:xfrm>
            <a:off x="13582650" y="6649789"/>
            <a:ext cx="3482816" cy="342900"/>
          </a:xfrm>
          <a:prstGeom prst="rect">
            <a:avLst/>
          </a:prstGeom>
          <a:noFill/>
          <a:ln/>
        </p:spPr>
        <p:txBody>
          <a:bodyPr wrap="square" lIns="25400" tIns="25400" rIns="25400" bIns="25400" rtlCol="0" anchor="t">
            <a:normAutofit/>
          </a:bodyPr>
          <a:lstStyle/>
          <a:p>
            <a:pPr algn="l" indent="0" marL="0">
              <a:buNone/>
            </a:pPr>
            <a:r>
              <a:rPr lang="en-US" sz="1950" dirty="0">
                <a:solidFill>
                  <a:srgbClr val="7A8190"/>
                </a:solidFill>
                <a:latin typeface="Courier New" pitchFamily="34" charset="0"/>
                <a:ea typeface="Courier New" pitchFamily="34" charset="-122"/>
                <a:cs typeface="Courier New" pitchFamily="34" charset="-120"/>
              </a:rPr>
              <a:t>minimum fixed‑income</a:t>
            </a:r>
            <a:endParaRPr lang="en-US" sz="1950" dirty="0"/>
          </a:p>
        </p:txBody>
      </p:sp>
      <p:sp>
        <p:nvSpPr>
          <p:cNvPr id="40" name="Text 38"/>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41" name="Text 39"/>
          <p:cNvSpPr/>
          <p:nvPr/>
        </p:nvSpPr>
        <p:spPr>
          <a:xfrm>
            <a:off x="14006661" y="9744075"/>
            <a:ext cx="3310975"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 · THE BIG PICTURE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221605"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06 · HOW IT THINKS</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06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The recipe, in six steps.</a:t>
            </a:r>
            <a:endParaRPr lang="en-US" sz="4800" dirty="0"/>
          </a:p>
        </p:txBody>
      </p:sp>
      <p:sp>
        <p:nvSpPr>
          <p:cNvPr id="7" name="Text 5"/>
          <p:cNvSpPr/>
          <p:nvPr/>
        </p:nvSpPr>
        <p:spPr>
          <a:xfrm>
            <a:off x="1066800" y="1719709"/>
            <a:ext cx="10791825"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If you understand these six lines, you understand the whole bot.</a:t>
            </a:r>
            <a:endParaRPr lang="en-US" sz="2250" dirty="0"/>
          </a:p>
        </p:txBody>
      </p:sp>
      <p:sp>
        <p:nvSpPr>
          <p:cNvPr id="8" name="Shape 6"/>
          <p:cNvSpPr/>
          <p:nvPr/>
        </p:nvSpPr>
        <p:spPr>
          <a:xfrm>
            <a:off x="1066800" y="2658814"/>
            <a:ext cx="5206901" cy="1971675"/>
          </a:xfrm>
          <a:prstGeom prst="rect">
            <a:avLst/>
          </a:prstGeom>
          <a:solidFill>
            <a:srgbClr val="FBF7EC"/>
          </a:solidFill>
          <a:ln w="9525">
            <a:solidFill>
              <a:srgbClr val="DCD4BF"/>
            </a:solidFill>
            <a:prstDash val="solid"/>
          </a:ln>
        </p:spPr>
      </p:sp>
      <p:sp>
        <p:nvSpPr>
          <p:cNvPr id="9" name="Shape 7"/>
          <p:cNvSpPr/>
          <p:nvPr/>
        </p:nvSpPr>
        <p:spPr>
          <a:xfrm>
            <a:off x="1343025" y="2458789"/>
            <a:ext cx="419100" cy="419100"/>
          </a:xfrm>
          <a:prstGeom prst="rect">
            <a:avLst/>
          </a:prstGeom>
          <a:solidFill>
            <a:srgbClr val="1F3A5F"/>
          </a:solidFill>
          <a:ln/>
        </p:spPr>
      </p:sp>
      <p:sp>
        <p:nvSpPr>
          <p:cNvPr id="10" name="Text 8"/>
          <p:cNvSpPr/>
          <p:nvPr/>
        </p:nvSpPr>
        <p:spPr>
          <a:xfrm>
            <a:off x="1304925" y="2458789"/>
            <a:ext cx="495300" cy="457200"/>
          </a:xfrm>
          <a:prstGeom prst="rect">
            <a:avLst/>
          </a:prstGeom>
          <a:noFill/>
          <a:ln/>
        </p:spPr>
        <p:txBody>
          <a:bodyPr wrap="square" lIns="25400" tIns="25400" rIns="25400" bIns="25400" rtlCol="0" anchor="ctr">
            <a:normAutofit/>
          </a:bodyPr>
          <a:lstStyle/>
          <a:p>
            <a:pPr algn="ctr" indent="0" marL="0">
              <a:buNone/>
            </a:pPr>
            <a:r>
              <a:rPr lang="en-US" sz="2250" dirty="0">
                <a:solidFill>
                  <a:srgbClr val="F6F1E7"/>
                </a:solidFill>
                <a:latin typeface="Georgia" pitchFamily="34" charset="0"/>
                <a:ea typeface="Georgia" pitchFamily="34" charset="-122"/>
                <a:cs typeface="Georgia" pitchFamily="34" charset="-120"/>
              </a:rPr>
              <a:t>1</a:t>
            </a:r>
            <a:endParaRPr lang="en-US" sz="2250" dirty="0"/>
          </a:p>
        </p:txBody>
      </p:sp>
      <p:sp>
        <p:nvSpPr>
          <p:cNvPr id="11" name="Text 9"/>
          <p:cNvSpPr/>
          <p:nvPr/>
        </p:nvSpPr>
        <p:spPr>
          <a:xfrm>
            <a:off x="1362075" y="3068389"/>
            <a:ext cx="4754841"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Gather ingredients</a:t>
            </a:r>
            <a:endParaRPr lang="en-US" sz="2700" dirty="0"/>
          </a:p>
        </p:txBody>
      </p:sp>
      <p:sp>
        <p:nvSpPr>
          <p:cNvPr id="12" name="Text 10"/>
          <p:cNvSpPr/>
          <p:nvPr/>
        </p:nvSpPr>
        <p:spPr>
          <a:xfrm>
            <a:off x="1362075" y="3573214"/>
            <a:ext cx="4754841"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Read four different kinds of information about every stock on our list.</a:t>
            </a:r>
            <a:endParaRPr lang="en-US" sz="1950" dirty="0"/>
          </a:p>
        </p:txBody>
      </p:sp>
      <p:sp>
        <p:nvSpPr>
          <p:cNvPr id="13" name="Shape 11"/>
          <p:cNvSpPr/>
          <p:nvPr/>
        </p:nvSpPr>
        <p:spPr>
          <a:xfrm>
            <a:off x="6540401" y="2658814"/>
            <a:ext cx="5207050" cy="1971675"/>
          </a:xfrm>
          <a:prstGeom prst="rect">
            <a:avLst/>
          </a:prstGeom>
          <a:solidFill>
            <a:srgbClr val="FBF7EC"/>
          </a:solidFill>
          <a:ln w="9525">
            <a:solidFill>
              <a:srgbClr val="DCD4BF"/>
            </a:solidFill>
            <a:prstDash val="solid"/>
          </a:ln>
        </p:spPr>
      </p:sp>
      <p:sp>
        <p:nvSpPr>
          <p:cNvPr id="14" name="Shape 12"/>
          <p:cNvSpPr/>
          <p:nvPr/>
        </p:nvSpPr>
        <p:spPr>
          <a:xfrm>
            <a:off x="6816626" y="2458789"/>
            <a:ext cx="419100" cy="419100"/>
          </a:xfrm>
          <a:prstGeom prst="rect">
            <a:avLst/>
          </a:prstGeom>
          <a:solidFill>
            <a:srgbClr val="1F3A5F"/>
          </a:solidFill>
          <a:ln/>
        </p:spPr>
      </p:sp>
      <p:sp>
        <p:nvSpPr>
          <p:cNvPr id="15" name="Text 13"/>
          <p:cNvSpPr/>
          <p:nvPr/>
        </p:nvSpPr>
        <p:spPr>
          <a:xfrm>
            <a:off x="6778526" y="2458789"/>
            <a:ext cx="495300" cy="457200"/>
          </a:xfrm>
          <a:prstGeom prst="rect">
            <a:avLst/>
          </a:prstGeom>
          <a:noFill/>
          <a:ln/>
        </p:spPr>
        <p:txBody>
          <a:bodyPr wrap="square" lIns="25400" tIns="25400" rIns="25400" bIns="25400" rtlCol="0" anchor="ctr">
            <a:normAutofit/>
          </a:bodyPr>
          <a:lstStyle/>
          <a:p>
            <a:pPr algn="ctr" indent="0" marL="0">
              <a:buNone/>
            </a:pPr>
            <a:r>
              <a:rPr lang="en-US" sz="2250" dirty="0">
                <a:solidFill>
                  <a:srgbClr val="F6F1E7"/>
                </a:solidFill>
                <a:latin typeface="Georgia" pitchFamily="34" charset="0"/>
                <a:ea typeface="Georgia" pitchFamily="34" charset="-122"/>
                <a:cs typeface="Georgia" pitchFamily="34" charset="-120"/>
              </a:rPr>
              <a:t>2</a:t>
            </a:r>
            <a:endParaRPr lang="en-US" sz="2250" dirty="0"/>
          </a:p>
        </p:txBody>
      </p:sp>
      <p:sp>
        <p:nvSpPr>
          <p:cNvPr id="16" name="Text 14"/>
          <p:cNvSpPr/>
          <p:nvPr/>
        </p:nvSpPr>
        <p:spPr>
          <a:xfrm>
            <a:off x="6835676" y="3068389"/>
            <a:ext cx="4754995"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Turn each into a number</a:t>
            </a:r>
            <a:endParaRPr lang="en-US" sz="2700" dirty="0"/>
          </a:p>
        </p:txBody>
      </p:sp>
      <p:sp>
        <p:nvSpPr>
          <p:cNvPr id="17" name="Text 15"/>
          <p:cNvSpPr/>
          <p:nvPr/>
        </p:nvSpPr>
        <p:spPr>
          <a:xfrm>
            <a:off x="6835676" y="3573214"/>
            <a:ext cx="4754995"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Each ingredient becomes a small score: +good, −bad, 0 neutral.</a:t>
            </a:r>
            <a:endParaRPr lang="en-US" sz="1950" dirty="0"/>
          </a:p>
        </p:txBody>
      </p:sp>
      <p:sp>
        <p:nvSpPr>
          <p:cNvPr id="18" name="Shape 16"/>
          <p:cNvSpPr/>
          <p:nvPr/>
        </p:nvSpPr>
        <p:spPr>
          <a:xfrm>
            <a:off x="12014150" y="2658814"/>
            <a:ext cx="5207050" cy="1971675"/>
          </a:xfrm>
          <a:prstGeom prst="rect">
            <a:avLst/>
          </a:prstGeom>
          <a:solidFill>
            <a:srgbClr val="FBF7EC"/>
          </a:solidFill>
          <a:ln w="9525">
            <a:solidFill>
              <a:srgbClr val="DCD4BF"/>
            </a:solidFill>
            <a:prstDash val="solid"/>
          </a:ln>
        </p:spPr>
      </p:sp>
      <p:sp>
        <p:nvSpPr>
          <p:cNvPr id="19" name="Shape 17"/>
          <p:cNvSpPr/>
          <p:nvPr/>
        </p:nvSpPr>
        <p:spPr>
          <a:xfrm>
            <a:off x="12290375" y="2458789"/>
            <a:ext cx="419100" cy="419100"/>
          </a:xfrm>
          <a:prstGeom prst="rect">
            <a:avLst/>
          </a:prstGeom>
          <a:solidFill>
            <a:srgbClr val="1F3A5F"/>
          </a:solidFill>
          <a:ln/>
        </p:spPr>
      </p:sp>
      <p:sp>
        <p:nvSpPr>
          <p:cNvPr id="20" name="Text 18"/>
          <p:cNvSpPr/>
          <p:nvPr/>
        </p:nvSpPr>
        <p:spPr>
          <a:xfrm>
            <a:off x="12252275" y="2458789"/>
            <a:ext cx="495300" cy="457200"/>
          </a:xfrm>
          <a:prstGeom prst="rect">
            <a:avLst/>
          </a:prstGeom>
          <a:noFill/>
          <a:ln/>
        </p:spPr>
        <p:txBody>
          <a:bodyPr wrap="square" lIns="25400" tIns="25400" rIns="25400" bIns="25400" rtlCol="0" anchor="ctr">
            <a:normAutofit/>
          </a:bodyPr>
          <a:lstStyle/>
          <a:p>
            <a:pPr algn="ctr" indent="0" marL="0">
              <a:buNone/>
            </a:pPr>
            <a:r>
              <a:rPr lang="en-US" sz="2250" dirty="0">
                <a:solidFill>
                  <a:srgbClr val="F6F1E7"/>
                </a:solidFill>
                <a:latin typeface="Georgia" pitchFamily="34" charset="0"/>
                <a:ea typeface="Georgia" pitchFamily="34" charset="-122"/>
                <a:cs typeface="Georgia" pitchFamily="34" charset="-120"/>
              </a:rPr>
              <a:t>3</a:t>
            </a:r>
            <a:endParaRPr lang="en-US" sz="2250" dirty="0"/>
          </a:p>
        </p:txBody>
      </p:sp>
      <p:sp>
        <p:nvSpPr>
          <p:cNvPr id="21" name="Text 19"/>
          <p:cNvSpPr/>
          <p:nvPr/>
        </p:nvSpPr>
        <p:spPr>
          <a:xfrm>
            <a:off x="12309425" y="3068389"/>
            <a:ext cx="4754995"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Mix them with weights</a:t>
            </a:r>
            <a:endParaRPr lang="en-US" sz="2700" dirty="0"/>
          </a:p>
        </p:txBody>
      </p:sp>
      <p:sp>
        <p:nvSpPr>
          <p:cNvPr id="22" name="Text 20"/>
          <p:cNvSpPr/>
          <p:nvPr/>
        </p:nvSpPr>
        <p:spPr>
          <a:xfrm>
            <a:off x="12309425" y="3573214"/>
            <a:ext cx="4754995"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News counts most (35 %), the dip bonus least (5 %). Add them up.</a:t>
            </a:r>
            <a:endParaRPr lang="en-US" sz="1950" dirty="0"/>
          </a:p>
        </p:txBody>
      </p:sp>
      <p:sp>
        <p:nvSpPr>
          <p:cNvPr id="23" name="Shape 21"/>
          <p:cNvSpPr/>
          <p:nvPr/>
        </p:nvSpPr>
        <p:spPr>
          <a:xfrm>
            <a:off x="1066800" y="4897189"/>
            <a:ext cx="5206901" cy="1971675"/>
          </a:xfrm>
          <a:prstGeom prst="rect">
            <a:avLst/>
          </a:prstGeom>
          <a:solidFill>
            <a:srgbClr val="FBF7EC"/>
          </a:solidFill>
          <a:ln w="9525">
            <a:solidFill>
              <a:srgbClr val="DCD4BF"/>
            </a:solidFill>
            <a:prstDash val="solid"/>
          </a:ln>
        </p:spPr>
      </p:sp>
      <p:sp>
        <p:nvSpPr>
          <p:cNvPr id="24" name="Shape 22"/>
          <p:cNvSpPr/>
          <p:nvPr/>
        </p:nvSpPr>
        <p:spPr>
          <a:xfrm>
            <a:off x="1343025" y="4697164"/>
            <a:ext cx="419100" cy="419100"/>
          </a:xfrm>
          <a:prstGeom prst="rect">
            <a:avLst/>
          </a:prstGeom>
          <a:solidFill>
            <a:srgbClr val="1F3A5F"/>
          </a:solidFill>
          <a:ln/>
        </p:spPr>
      </p:sp>
      <p:sp>
        <p:nvSpPr>
          <p:cNvPr id="25" name="Text 23"/>
          <p:cNvSpPr/>
          <p:nvPr/>
        </p:nvSpPr>
        <p:spPr>
          <a:xfrm>
            <a:off x="1304925" y="4697164"/>
            <a:ext cx="495300" cy="457200"/>
          </a:xfrm>
          <a:prstGeom prst="rect">
            <a:avLst/>
          </a:prstGeom>
          <a:noFill/>
          <a:ln/>
        </p:spPr>
        <p:txBody>
          <a:bodyPr wrap="square" lIns="25400" tIns="25400" rIns="25400" bIns="25400" rtlCol="0" anchor="ctr">
            <a:normAutofit/>
          </a:bodyPr>
          <a:lstStyle/>
          <a:p>
            <a:pPr algn="ctr" indent="0" marL="0">
              <a:buNone/>
            </a:pPr>
            <a:r>
              <a:rPr lang="en-US" sz="2250" dirty="0">
                <a:solidFill>
                  <a:srgbClr val="F6F1E7"/>
                </a:solidFill>
                <a:latin typeface="Georgia" pitchFamily="34" charset="0"/>
                <a:ea typeface="Georgia" pitchFamily="34" charset="-122"/>
                <a:cs typeface="Georgia" pitchFamily="34" charset="-120"/>
              </a:rPr>
              <a:t>4</a:t>
            </a:r>
            <a:endParaRPr lang="en-US" sz="2250" dirty="0"/>
          </a:p>
        </p:txBody>
      </p:sp>
      <p:sp>
        <p:nvSpPr>
          <p:cNvPr id="26" name="Text 24"/>
          <p:cNvSpPr/>
          <p:nvPr/>
        </p:nvSpPr>
        <p:spPr>
          <a:xfrm>
            <a:off x="1362075" y="5306764"/>
            <a:ext cx="4754841"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Compare against thresholds</a:t>
            </a:r>
            <a:endParaRPr lang="en-US" sz="2700" dirty="0"/>
          </a:p>
        </p:txBody>
      </p:sp>
      <p:sp>
        <p:nvSpPr>
          <p:cNvPr id="27" name="Text 25"/>
          <p:cNvSpPr/>
          <p:nvPr/>
        </p:nvSpPr>
        <p:spPr>
          <a:xfrm>
            <a:off x="1362075" y="5811589"/>
            <a:ext cx="4754841"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Above +1.0 → buy. Below −1.0 → sell. In between → do nothing.</a:t>
            </a:r>
            <a:endParaRPr lang="en-US" sz="1950" dirty="0"/>
          </a:p>
        </p:txBody>
      </p:sp>
      <p:sp>
        <p:nvSpPr>
          <p:cNvPr id="28" name="Shape 26"/>
          <p:cNvSpPr/>
          <p:nvPr/>
        </p:nvSpPr>
        <p:spPr>
          <a:xfrm>
            <a:off x="6540401" y="4897189"/>
            <a:ext cx="5207050" cy="1971675"/>
          </a:xfrm>
          <a:prstGeom prst="rect">
            <a:avLst/>
          </a:prstGeom>
          <a:solidFill>
            <a:srgbClr val="FBF7EC"/>
          </a:solidFill>
          <a:ln w="9525">
            <a:solidFill>
              <a:srgbClr val="DCD4BF"/>
            </a:solidFill>
            <a:prstDash val="solid"/>
          </a:ln>
        </p:spPr>
      </p:sp>
      <p:sp>
        <p:nvSpPr>
          <p:cNvPr id="29" name="Shape 27"/>
          <p:cNvSpPr/>
          <p:nvPr/>
        </p:nvSpPr>
        <p:spPr>
          <a:xfrm>
            <a:off x="6816626" y="4697164"/>
            <a:ext cx="419100" cy="419100"/>
          </a:xfrm>
          <a:prstGeom prst="rect">
            <a:avLst/>
          </a:prstGeom>
          <a:solidFill>
            <a:srgbClr val="1F3A5F"/>
          </a:solidFill>
          <a:ln/>
        </p:spPr>
      </p:sp>
      <p:sp>
        <p:nvSpPr>
          <p:cNvPr id="30" name="Text 28"/>
          <p:cNvSpPr/>
          <p:nvPr/>
        </p:nvSpPr>
        <p:spPr>
          <a:xfrm>
            <a:off x="6778526" y="4697164"/>
            <a:ext cx="495300" cy="457200"/>
          </a:xfrm>
          <a:prstGeom prst="rect">
            <a:avLst/>
          </a:prstGeom>
          <a:noFill/>
          <a:ln/>
        </p:spPr>
        <p:txBody>
          <a:bodyPr wrap="square" lIns="25400" tIns="25400" rIns="25400" bIns="25400" rtlCol="0" anchor="ctr">
            <a:normAutofit/>
          </a:bodyPr>
          <a:lstStyle/>
          <a:p>
            <a:pPr algn="ctr" indent="0" marL="0">
              <a:buNone/>
            </a:pPr>
            <a:r>
              <a:rPr lang="en-US" sz="2250" dirty="0">
                <a:solidFill>
                  <a:srgbClr val="F6F1E7"/>
                </a:solidFill>
                <a:latin typeface="Georgia" pitchFamily="34" charset="0"/>
                <a:ea typeface="Georgia" pitchFamily="34" charset="-122"/>
                <a:cs typeface="Georgia" pitchFamily="34" charset="-120"/>
              </a:rPr>
              <a:t>5</a:t>
            </a:r>
            <a:endParaRPr lang="en-US" sz="2250" dirty="0"/>
          </a:p>
        </p:txBody>
      </p:sp>
      <p:sp>
        <p:nvSpPr>
          <p:cNvPr id="31" name="Text 29"/>
          <p:cNvSpPr/>
          <p:nvPr/>
        </p:nvSpPr>
        <p:spPr>
          <a:xfrm>
            <a:off x="6835676" y="5306764"/>
            <a:ext cx="4754995"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Check the rulebook</a:t>
            </a:r>
            <a:endParaRPr lang="en-US" sz="2700" dirty="0"/>
          </a:p>
        </p:txBody>
      </p:sp>
      <p:sp>
        <p:nvSpPr>
          <p:cNvPr id="32" name="Text 30"/>
          <p:cNvSpPr/>
          <p:nvPr/>
        </p:nvSpPr>
        <p:spPr>
          <a:xfrm>
            <a:off x="6835676" y="5811589"/>
            <a:ext cx="4754995"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Even if the score says buy, skip it if it would break a portfolio rule.</a:t>
            </a:r>
            <a:endParaRPr lang="en-US" sz="1950" dirty="0"/>
          </a:p>
        </p:txBody>
      </p:sp>
      <p:sp>
        <p:nvSpPr>
          <p:cNvPr id="33" name="Shape 31"/>
          <p:cNvSpPr/>
          <p:nvPr/>
        </p:nvSpPr>
        <p:spPr>
          <a:xfrm>
            <a:off x="12014150" y="4897189"/>
            <a:ext cx="5207050" cy="1971675"/>
          </a:xfrm>
          <a:prstGeom prst="rect">
            <a:avLst/>
          </a:prstGeom>
          <a:solidFill>
            <a:srgbClr val="FBF7EC"/>
          </a:solidFill>
          <a:ln w="9525">
            <a:solidFill>
              <a:srgbClr val="DCD4BF"/>
            </a:solidFill>
            <a:prstDash val="solid"/>
          </a:ln>
        </p:spPr>
      </p:sp>
      <p:sp>
        <p:nvSpPr>
          <p:cNvPr id="34" name="Shape 32"/>
          <p:cNvSpPr/>
          <p:nvPr/>
        </p:nvSpPr>
        <p:spPr>
          <a:xfrm>
            <a:off x="12290375" y="4697164"/>
            <a:ext cx="419100" cy="419100"/>
          </a:xfrm>
          <a:prstGeom prst="rect">
            <a:avLst/>
          </a:prstGeom>
          <a:solidFill>
            <a:srgbClr val="1F3A5F"/>
          </a:solidFill>
          <a:ln/>
        </p:spPr>
      </p:sp>
      <p:sp>
        <p:nvSpPr>
          <p:cNvPr id="35" name="Text 33"/>
          <p:cNvSpPr/>
          <p:nvPr/>
        </p:nvSpPr>
        <p:spPr>
          <a:xfrm>
            <a:off x="12252275" y="4697164"/>
            <a:ext cx="495300" cy="457200"/>
          </a:xfrm>
          <a:prstGeom prst="rect">
            <a:avLst/>
          </a:prstGeom>
          <a:noFill/>
          <a:ln/>
        </p:spPr>
        <p:txBody>
          <a:bodyPr wrap="square" lIns="25400" tIns="25400" rIns="25400" bIns="25400" rtlCol="0" anchor="ctr">
            <a:normAutofit/>
          </a:bodyPr>
          <a:lstStyle/>
          <a:p>
            <a:pPr algn="ctr" indent="0" marL="0">
              <a:buNone/>
            </a:pPr>
            <a:r>
              <a:rPr lang="en-US" sz="2250" dirty="0">
                <a:solidFill>
                  <a:srgbClr val="F6F1E7"/>
                </a:solidFill>
                <a:latin typeface="Georgia" pitchFamily="34" charset="0"/>
                <a:ea typeface="Georgia" pitchFamily="34" charset="-122"/>
                <a:cs typeface="Georgia" pitchFamily="34" charset="-120"/>
              </a:rPr>
              <a:t>6</a:t>
            </a:r>
            <a:endParaRPr lang="en-US" sz="2250" dirty="0"/>
          </a:p>
        </p:txBody>
      </p:sp>
      <p:sp>
        <p:nvSpPr>
          <p:cNvPr id="36" name="Text 34"/>
          <p:cNvSpPr/>
          <p:nvPr/>
        </p:nvSpPr>
        <p:spPr>
          <a:xfrm>
            <a:off x="12309425" y="5306764"/>
            <a:ext cx="4754995"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Write down the reason</a:t>
            </a:r>
            <a:endParaRPr lang="en-US" sz="2700" dirty="0"/>
          </a:p>
        </p:txBody>
      </p:sp>
      <p:sp>
        <p:nvSpPr>
          <p:cNvPr id="37" name="Text 35"/>
          <p:cNvSpPr/>
          <p:nvPr/>
        </p:nvSpPr>
        <p:spPr>
          <a:xfrm>
            <a:off x="12309425" y="5811589"/>
            <a:ext cx="4754995"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Every decision gets a human sentence saved next to it.</a:t>
            </a:r>
            <a:endParaRPr lang="en-US" sz="1950" dirty="0"/>
          </a:p>
        </p:txBody>
      </p:sp>
      <p:sp>
        <p:nvSpPr>
          <p:cNvPr id="38" name="Text 36"/>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9" name="Text 37"/>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221605"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07 · SIGNAL 1 OF 4</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07 / 23</a:t>
            </a:r>
            <a:endParaRPr lang="en-US" sz="1800" dirty="0"/>
          </a:p>
        </p:txBody>
      </p:sp>
      <p:sp>
        <p:nvSpPr>
          <p:cNvPr id="6" name="Text 4"/>
          <p:cNvSpPr/>
          <p:nvPr/>
        </p:nvSpPr>
        <p:spPr>
          <a:xfrm>
            <a:off x="1066800" y="914400"/>
            <a:ext cx="2717731"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420" kern="0" dirty="0">
                <a:solidFill>
                  <a:srgbClr val="B8862C"/>
                </a:solidFill>
                <a:latin typeface="Georgia" pitchFamily="34" charset="0"/>
                <a:ea typeface="Georgia" pitchFamily="34" charset="-122"/>
                <a:cs typeface="Georgia" pitchFamily="34" charset="-120"/>
              </a:rPr>
              <a:t>35 %</a:t>
            </a:r>
            <a:endParaRPr lang="en-US" sz="10500" dirty="0"/>
          </a:p>
        </p:txBody>
      </p:sp>
      <p:sp>
        <p:nvSpPr>
          <p:cNvPr id="7" name="Text 5"/>
          <p:cNvSpPr/>
          <p:nvPr/>
        </p:nvSpPr>
        <p:spPr>
          <a:xfrm>
            <a:off x="3972074" y="1762125"/>
            <a:ext cx="2831781" cy="60960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7A8190"/>
                </a:solidFill>
                <a:latin typeface="Courier New" pitchFamily="34" charset="0"/>
                <a:ea typeface="Courier New" pitchFamily="34" charset="-122"/>
                <a:cs typeface="Courier New" pitchFamily="34" charset="-120"/>
              </a:rPr>
              <a:t>WEIGHT IN COMPOSITE SCORE</a:t>
            </a:r>
            <a:endParaRPr lang="en-US" sz="1950" dirty="0"/>
          </a:p>
        </p:txBody>
      </p:sp>
      <p:sp>
        <p:nvSpPr>
          <p:cNvPr id="8" name="Text 6"/>
          <p:cNvSpPr/>
          <p:nvPr/>
        </p:nvSpPr>
        <p:spPr>
          <a:xfrm>
            <a:off x="1066800" y="2600325"/>
            <a:ext cx="8807754"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spc="-81" kern="0" dirty="0">
                <a:solidFill>
                  <a:srgbClr val="1A1C21"/>
                </a:solidFill>
                <a:latin typeface="Georgia" pitchFamily="34" charset="0"/>
                <a:ea typeface="Georgia" pitchFamily="34" charset="-122"/>
                <a:cs typeface="Georgia" pitchFamily="34" charset="-120"/>
              </a:rPr>
              <a:t>News sentiment</a:t>
            </a:r>
            <a:endParaRPr lang="en-US" sz="4500" dirty="0"/>
          </a:p>
        </p:txBody>
      </p:sp>
      <p:sp>
        <p:nvSpPr>
          <p:cNvPr id="9" name="Shape 7"/>
          <p:cNvSpPr/>
          <p:nvPr/>
        </p:nvSpPr>
        <p:spPr>
          <a:xfrm>
            <a:off x="1066800" y="3499396"/>
            <a:ext cx="8551218" cy="1638300"/>
          </a:xfrm>
          <a:prstGeom prst="rect">
            <a:avLst/>
          </a:prstGeom>
          <a:solidFill>
            <a:srgbClr val="FBF7EC"/>
          </a:solidFill>
          <a:ln w="9525">
            <a:solidFill>
              <a:srgbClr val="DCD4BF"/>
            </a:solidFill>
            <a:prstDash val="solid"/>
          </a:ln>
        </p:spPr>
      </p:sp>
      <p:sp>
        <p:nvSpPr>
          <p:cNvPr id="10" name="Text 8"/>
          <p:cNvSpPr/>
          <p:nvPr/>
        </p:nvSpPr>
        <p:spPr>
          <a:xfrm>
            <a:off x="1362075" y="3756571"/>
            <a:ext cx="819948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B8862C"/>
                </a:solidFill>
                <a:latin typeface="Courier New" pitchFamily="34" charset="0"/>
                <a:ea typeface="Courier New" pitchFamily="34" charset="-122"/>
                <a:cs typeface="Courier New" pitchFamily="34" charset="-120"/>
              </a:rPr>
              <a:t>WHAT IT IS, FOR A KID</a:t>
            </a:r>
            <a:endParaRPr lang="en-US" sz="1800" dirty="0"/>
          </a:p>
        </p:txBody>
      </p:sp>
      <p:sp>
        <p:nvSpPr>
          <p:cNvPr id="11" name="Text 9"/>
          <p:cNvSpPr/>
          <p:nvPr/>
        </p:nvSpPr>
        <p:spPr>
          <a:xfrm>
            <a:off x="1362075" y="4108996"/>
            <a:ext cx="8199488"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1A1C21"/>
                </a:solidFill>
                <a:latin typeface="Georgia" pitchFamily="34" charset="0"/>
                <a:ea typeface="Georgia" pitchFamily="34" charset="-122"/>
                <a:cs typeface="Georgia" pitchFamily="34" charset="-120"/>
              </a:rPr>
              <a:t>If lots of news stories today say nice things about Apple, Apple's score goes up. If they say scary things, it goes down.</a:t>
            </a:r>
            <a:endParaRPr lang="en-US" sz="2250" dirty="0"/>
          </a:p>
        </p:txBody>
      </p:sp>
      <p:sp>
        <p:nvSpPr>
          <p:cNvPr id="12" name="Shape 10"/>
          <p:cNvSpPr/>
          <p:nvPr/>
        </p:nvSpPr>
        <p:spPr>
          <a:xfrm>
            <a:off x="1066800" y="5366296"/>
            <a:ext cx="8551218" cy="3095625"/>
          </a:xfrm>
          <a:prstGeom prst="rect">
            <a:avLst/>
          </a:prstGeom>
          <a:solidFill>
            <a:srgbClr val="FFFFFF"/>
          </a:solidFill>
          <a:ln w="9525">
            <a:solidFill>
              <a:srgbClr val="DCD4BF"/>
            </a:solidFill>
            <a:prstDash val="solid"/>
          </a:ln>
        </p:spPr>
      </p:sp>
      <p:sp>
        <p:nvSpPr>
          <p:cNvPr id="13" name="Text 11"/>
          <p:cNvSpPr/>
          <p:nvPr/>
        </p:nvSpPr>
        <p:spPr>
          <a:xfrm>
            <a:off x="1362075" y="5623471"/>
            <a:ext cx="819948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A8190"/>
                </a:solidFill>
                <a:latin typeface="Courier New" pitchFamily="34" charset="0"/>
                <a:ea typeface="Courier New" pitchFamily="34" charset="-122"/>
                <a:cs typeface="Courier New" pitchFamily="34" charset="-120"/>
              </a:rPr>
              <a:t>WHAT IT IS, PRECISELY</a:t>
            </a:r>
            <a:endParaRPr lang="en-US" sz="1800" dirty="0"/>
          </a:p>
        </p:txBody>
      </p:sp>
      <p:sp>
        <p:nvSpPr>
          <p:cNvPr id="14" name="Text 12"/>
          <p:cNvSpPr/>
          <p:nvPr/>
        </p:nvSpPr>
        <p:spPr>
          <a:xfrm>
            <a:off x="1362075" y="5975896"/>
            <a:ext cx="8199488" cy="22669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Every 5 min we pull RSS feeds from six financial outlets (CNBC, Reuters, Yahoo Finance, CNN Business, MarketWatch, Seeking Alpha). Each headline is scored with VADER (a lexicon‑based sentiment model). We match headlines to tickers, take a 7‑day rolling average, z‑score it. Optionally re‑score with FinBERT, a finance‑tuned transformer, for headlines that mention a universe ticker.</a:t>
            </a:r>
            <a:endParaRPr lang="en-US" sz="1950" dirty="0"/>
          </a:p>
        </p:txBody>
      </p:sp>
      <p:sp>
        <p:nvSpPr>
          <p:cNvPr id="15" name="Shape 13"/>
          <p:cNvSpPr/>
          <p:nvPr/>
        </p:nvSpPr>
        <p:spPr>
          <a:xfrm>
            <a:off x="10380018" y="1988641"/>
            <a:ext cx="6841182" cy="9525"/>
          </a:xfrm>
          <a:prstGeom prst="rect">
            <a:avLst/>
          </a:prstGeom>
          <a:solidFill>
            <a:srgbClr val="DCD4BF"/>
          </a:solidFill>
          <a:ln/>
        </p:spPr>
      </p:sp>
      <p:sp>
        <p:nvSpPr>
          <p:cNvPr id="16" name="Text 14"/>
          <p:cNvSpPr/>
          <p:nvPr/>
        </p:nvSpPr>
        <p:spPr>
          <a:xfrm>
            <a:off x="10380018" y="1171575"/>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SOURCE</a:t>
            </a:r>
            <a:endParaRPr lang="en-US" sz="1800" dirty="0"/>
          </a:p>
        </p:txBody>
      </p:sp>
      <p:sp>
        <p:nvSpPr>
          <p:cNvPr id="17" name="Text 15"/>
          <p:cNvSpPr/>
          <p:nvPr/>
        </p:nvSpPr>
        <p:spPr>
          <a:xfrm>
            <a:off x="12323118" y="1104900"/>
            <a:ext cx="5045025"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CNBC, Reuters, Yahoo Finance, CNN Business, MarketWatch, Seeking Alpha</a:t>
            </a:r>
            <a:endParaRPr lang="en-US" sz="1950" dirty="0"/>
          </a:p>
        </p:txBody>
      </p:sp>
      <p:sp>
        <p:nvSpPr>
          <p:cNvPr id="18" name="Shape 16"/>
          <p:cNvSpPr/>
          <p:nvPr/>
        </p:nvSpPr>
        <p:spPr>
          <a:xfrm>
            <a:off x="10380018" y="2725787"/>
            <a:ext cx="6841182" cy="9525"/>
          </a:xfrm>
          <a:prstGeom prst="rect">
            <a:avLst/>
          </a:prstGeom>
          <a:solidFill>
            <a:srgbClr val="DCD4BF"/>
          </a:solidFill>
          <a:ln/>
        </p:spPr>
      </p:sp>
      <p:sp>
        <p:nvSpPr>
          <p:cNvPr id="19" name="Text 17"/>
          <p:cNvSpPr/>
          <p:nvPr/>
        </p:nvSpPr>
        <p:spPr>
          <a:xfrm>
            <a:off x="10380018" y="2255341"/>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CADENCE</a:t>
            </a:r>
            <a:endParaRPr lang="en-US" sz="1800" dirty="0"/>
          </a:p>
        </p:txBody>
      </p:sp>
      <p:sp>
        <p:nvSpPr>
          <p:cNvPr id="20" name="Text 18"/>
          <p:cNvSpPr/>
          <p:nvPr/>
        </p:nvSpPr>
        <p:spPr>
          <a:xfrm>
            <a:off x="12323118" y="2188666"/>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every 5 minutes</a:t>
            </a:r>
            <a:endParaRPr lang="en-US" sz="1950" dirty="0"/>
          </a:p>
        </p:txBody>
      </p:sp>
      <p:sp>
        <p:nvSpPr>
          <p:cNvPr id="21" name="Shape 19"/>
          <p:cNvSpPr/>
          <p:nvPr/>
        </p:nvSpPr>
        <p:spPr>
          <a:xfrm>
            <a:off x="10380018" y="3809554"/>
            <a:ext cx="6841182" cy="9525"/>
          </a:xfrm>
          <a:prstGeom prst="rect">
            <a:avLst/>
          </a:prstGeom>
          <a:solidFill>
            <a:srgbClr val="DCD4BF"/>
          </a:solidFill>
          <a:ln/>
        </p:spPr>
      </p:sp>
      <p:sp>
        <p:nvSpPr>
          <p:cNvPr id="22" name="Text 20"/>
          <p:cNvSpPr/>
          <p:nvPr/>
        </p:nvSpPr>
        <p:spPr>
          <a:xfrm>
            <a:off x="10380018" y="2992487"/>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METHOD</a:t>
            </a:r>
            <a:endParaRPr lang="en-US" sz="1800" dirty="0"/>
          </a:p>
        </p:txBody>
      </p:sp>
      <p:sp>
        <p:nvSpPr>
          <p:cNvPr id="23" name="Text 21"/>
          <p:cNvSpPr/>
          <p:nvPr/>
        </p:nvSpPr>
        <p:spPr>
          <a:xfrm>
            <a:off x="12323118" y="2925812"/>
            <a:ext cx="5045025"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VADER polarity → 7d rolling z‑score (FinBERT optional)</a:t>
            </a:r>
            <a:endParaRPr lang="en-US" sz="1950" dirty="0"/>
          </a:p>
        </p:txBody>
      </p:sp>
      <p:sp>
        <p:nvSpPr>
          <p:cNvPr id="24" name="Shape 22"/>
          <p:cNvSpPr/>
          <p:nvPr/>
        </p:nvSpPr>
        <p:spPr>
          <a:xfrm>
            <a:off x="10380018" y="4893320"/>
            <a:ext cx="6841182" cy="9525"/>
          </a:xfrm>
          <a:prstGeom prst="rect">
            <a:avLst/>
          </a:prstGeom>
          <a:solidFill>
            <a:srgbClr val="DCD4BF"/>
          </a:solidFill>
          <a:ln/>
        </p:spPr>
      </p:sp>
      <p:sp>
        <p:nvSpPr>
          <p:cNvPr id="25" name="Text 23"/>
          <p:cNvSpPr/>
          <p:nvPr/>
        </p:nvSpPr>
        <p:spPr>
          <a:xfrm>
            <a:off x="10380018" y="4057204"/>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MODULE</a:t>
            </a:r>
            <a:endParaRPr lang="en-US" sz="1800" dirty="0"/>
          </a:p>
        </p:txBody>
      </p:sp>
      <p:sp>
        <p:nvSpPr>
          <p:cNvPr id="26" name="Text 24"/>
          <p:cNvSpPr/>
          <p:nvPr/>
        </p:nvSpPr>
        <p:spPr>
          <a:xfrm>
            <a:off x="12323118" y="4009579"/>
            <a:ext cx="5045025"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Courier New" pitchFamily="34" charset="0"/>
                <a:ea typeface="Courier New" pitchFamily="34" charset="-122"/>
                <a:cs typeface="Courier New" pitchFamily="34" charset="-120"/>
              </a:rPr>
              <a:t>bot/news/* · bot/signals/sentiment.py</a:t>
            </a:r>
            <a:endParaRPr lang="en-US" sz="1950" dirty="0"/>
          </a:p>
        </p:txBody>
      </p:sp>
      <p:sp>
        <p:nvSpPr>
          <p:cNvPr id="27" name="Shape 25"/>
          <p:cNvSpPr/>
          <p:nvPr/>
        </p:nvSpPr>
        <p:spPr>
          <a:xfrm>
            <a:off x="10380018" y="5169545"/>
            <a:ext cx="6841182" cy="942975"/>
          </a:xfrm>
          <a:prstGeom prst="rect">
            <a:avLst/>
          </a:prstGeom>
          <a:solidFill>
            <a:srgbClr val="FFFFFF"/>
          </a:solidFill>
          <a:ln w="9525">
            <a:solidFill>
              <a:srgbClr val="DCD4BF"/>
            </a:solidFill>
            <a:prstDash val="solid"/>
          </a:ln>
        </p:spPr>
      </p:sp>
      <p:sp>
        <p:nvSpPr>
          <p:cNvPr id="28" name="Text 26"/>
          <p:cNvSpPr/>
          <p:nvPr/>
        </p:nvSpPr>
        <p:spPr>
          <a:xfrm>
            <a:off x="10618143" y="5388620"/>
            <a:ext cx="655588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WEIGHT BAR</a:t>
            </a:r>
            <a:endParaRPr lang="en-US" sz="1800" dirty="0"/>
          </a:p>
        </p:txBody>
      </p:sp>
      <p:sp>
        <p:nvSpPr>
          <p:cNvPr id="29" name="Shape 27"/>
          <p:cNvSpPr/>
          <p:nvPr/>
        </p:nvSpPr>
        <p:spPr>
          <a:xfrm>
            <a:off x="10618143" y="5741045"/>
            <a:ext cx="6364932" cy="152400"/>
          </a:xfrm>
          <a:prstGeom prst="rect">
            <a:avLst/>
          </a:prstGeom>
          <a:solidFill>
            <a:srgbClr val="EFE8D9"/>
          </a:solidFill>
          <a:ln w="9525">
            <a:solidFill>
              <a:srgbClr val="DCD4BF"/>
            </a:solidFill>
            <a:prstDash val="solid"/>
          </a:ln>
        </p:spPr>
      </p:sp>
      <p:sp>
        <p:nvSpPr>
          <p:cNvPr id="30" name="Shape 28"/>
          <p:cNvSpPr/>
          <p:nvPr/>
        </p:nvSpPr>
        <p:spPr>
          <a:xfrm>
            <a:off x="10627668" y="5750570"/>
            <a:ext cx="6345882" cy="133350"/>
          </a:xfrm>
          <a:prstGeom prst="rect">
            <a:avLst/>
          </a:prstGeom>
          <a:solidFill>
            <a:srgbClr val="B8862C"/>
          </a:solidFill>
          <a:ln/>
        </p:spPr>
      </p:sp>
      <p:sp>
        <p:nvSpPr>
          <p:cNvPr id="31" name="Text 29"/>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2" name="Text 30"/>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221605"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08 · SIGNAL 2 OF 4</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08 / 23</a:t>
            </a:r>
            <a:endParaRPr lang="en-US" sz="1800" dirty="0"/>
          </a:p>
        </p:txBody>
      </p:sp>
      <p:sp>
        <p:nvSpPr>
          <p:cNvPr id="6" name="Text 4"/>
          <p:cNvSpPr/>
          <p:nvPr/>
        </p:nvSpPr>
        <p:spPr>
          <a:xfrm>
            <a:off x="1066800" y="914400"/>
            <a:ext cx="2727235"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420" kern="0" dirty="0">
                <a:solidFill>
                  <a:srgbClr val="1F3A5F"/>
                </a:solidFill>
                <a:latin typeface="Georgia" pitchFamily="34" charset="0"/>
                <a:ea typeface="Georgia" pitchFamily="34" charset="-122"/>
                <a:cs typeface="Georgia" pitchFamily="34" charset="-120"/>
              </a:rPr>
              <a:t>25 %</a:t>
            </a:r>
            <a:endParaRPr lang="en-US" sz="10500" dirty="0"/>
          </a:p>
        </p:txBody>
      </p:sp>
      <p:sp>
        <p:nvSpPr>
          <p:cNvPr id="7" name="Text 5"/>
          <p:cNvSpPr/>
          <p:nvPr/>
        </p:nvSpPr>
        <p:spPr>
          <a:xfrm>
            <a:off x="3981301" y="1762125"/>
            <a:ext cx="2831781" cy="60960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7A8190"/>
                </a:solidFill>
                <a:latin typeface="Courier New" pitchFamily="34" charset="0"/>
                <a:ea typeface="Courier New" pitchFamily="34" charset="-122"/>
                <a:cs typeface="Courier New" pitchFamily="34" charset="-120"/>
              </a:rPr>
              <a:t>WEIGHT IN COMPOSITE SCORE</a:t>
            </a:r>
            <a:endParaRPr lang="en-US" sz="1950" dirty="0"/>
          </a:p>
        </p:txBody>
      </p:sp>
      <p:sp>
        <p:nvSpPr>
          <p:cNvPr id="8" name="Text 6"/>
          <p:cNvSpPr/>
          <p:nvPr/>
        </p:nvSpPr>
        <p:spPr>
          <a:xfrm>
            <a:off x="1066800" y="2600325"/>
            <a:ext cx="8807754"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spc="-81" kern="0" dirty="0">
                <a:solidFill>
                  <a:srgbClr val="1A1C21"/>
                </a:solidFill>
                <a:latin typeface="Georgia" pitchFamily="34" charset="0"/>
                <a:ea typeface="Georgia" pitchFamily="34" charset="-122"/>
                <a:cs typeface="Georgia" pitchFamily="34" charset="-120"/>
              </a:rPr>
              <a:t>Congressional trades</a:t>
            </a:r>
            <a:endParaRPr lang="en-US" sz="4500" dirty="0"/>
          </a:p>
        </p:txBody>
      </p:sp>
      <p:sp>
        <p:nvSpPr>
          <p:cNvPr id="9" name="Shape 7"/>
          <p:cNvSpPr/>
          <p:nvPr/>
        </p:nvSpPr>
        <p:spPr>
          <a:xfrm>
            <a:off x="1066800" y="3499396"/>
            <a:ext cx="8551218" cy="2024062"/>
          </a:xfrm>
          <a:prstGeom prst="rect">
            <a:avLst/>
          </a:prstGeom>
          <a:solidFill>
            <a:srgbClr val="FBF7EC"/>
          </a:solidFill>
          <a:ln w="9525">
            <a:solidFill>
              <a:srgbClr val="DCD4BF"/>
            </a:solidFill>
            <a:prstDash val="solid"/>
          </a:ln>
        </p:spPr>
      </p:sp>
      <p:sp>
        <p:nvSpPr>
          <p:cNvPr id="10" name="Text 8"/>
          <p:cNvSpPr/>
          <p:nvPr/>
        </p:nvSpPr>
        <p:spPr>
          <a:xfrm>
            <a:off x="1362075" y="3756571"/>
            <a:ext cx="819948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1F3A5F"/>
                </a:solidFill>
                <a:latin typeface="Courier New" pitchFamily="34" charset="0"/>
                <a:ea typeface="Courier New" pitchFamily="34" charset="-122"/>
                <a:cs typeface="Courier New" pitchFamily="34" charset="-120"/>
              </a:rPr>
              <a:t>WHAT IT IS, FOR A KID</a:t>
            </a:r>
            <a:endParaRPr lang="en-US" sz="1800" dirty="0"/>
          </a:p>
        </p:txBody>
      </p:sp>
      <p:sp>
        <p:nvSpPr>
          <p:cNvPr id="11" name="Text 9"/>
          <p:cNvSpPr/>
          <p:nvPr/>
        </p:nvSpPr>
        <p:spPr>
          <a:xfrm>
            <a:off x="1362075" y="4108996"/>
            <a:ext cx="8199488" cy="1195388"/>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1A1C21"/>
                </a:solidFill>
                <a:latin typeface="Georgia" pitchFamily="34" charset="0"/>
                <a:ea typeface="Georgia" pitchFamily="34" charset="-122"/>
                <a:cs typeface="Georgia" pitchFamily="34" charset="-120"/>
              </a:rPr>
              <a:t>Members of Congress have to report their stock trades. If a bunch of them just bought Nvidia, that's interesting and nudges Nvidia's score up.</a:t>
            </a:r>
            <a:endParaRPr lang="en-US" sz="2250" dirty="0"/>
          </a:p>
        </p:txBody>
      </p:sp>
      <p:sp>
        <p:nvSpPr>
          <p:cNvPr id="12" name="Shape 10"/>
          <p:cNvSpPr/>
          <p:nvPr/>
        </p:nvSpPr>
        <p:spPr>
          <a:xfrm>
            <a:off x="1066800" y="5752058"/>
            <a:ext cx="8551218" cy="2724150"/>
          </a:xfrm>
          <a:prstGeom prst="rect">
            <a:avLst/>
          </a:prstGeom>
          <a:solidFill>
            <a:srgbClr val="FFFFFF"/>
          </a:solidFill>
          <a:ln w="9525">
            <a:solidFill>
              <a:srgbClr val="DCD4BF"/>
            </a:solidFill>
            <a:prstDash val="solid"/>
          </a:ln>
        </p:spPr>
      </p:sp>
      <p:sp>
        <p:nvSpPr>
          <p:cNvPr id="13" name="Text 11"/>
          <p:cNvSpPr/>
          <p:nvPr/>
        </p:nvSpPr>
        <p:spPr>
          <a:xfrm>
            <a:off x="1362075" y="6009233"/>
            <a:ext cx="819948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A8190"/>
                </a:solidFill>
                <a:latin typeface="Courier New" pitchFamily="34" charset="0"/>
                <a:ea typeface="Courier New" pitchFamily="34" charset="-122"/>
                <a:cs typeface="Courier New" pitchFamily="34" charset="-120"/>
              </a:rPr>
              <a:t>WHAT IT IS, PRECISELY</a:t>
            </a:r>
            <a:endParaRPr lang="en-US" sz="1800" dirty="0"/>
          </a:p>
        </p:txBody>
      </p:sp>
      <p:sp>
        <p:nvSpPr>
          <p:cNvPr id="14" name="Text 12"/>
          <p:cNvSpPr/>
          <p:nvPr/>
        </p:nvSpPr>
        <p:spPr>
          <a:xfrm>
            <a:off x="1362075" y="6361658"/>
            <a:ext cx="8199488" cy="18954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The STOCK Act requires U.S. Congress members to disclose personal trades within 45 days. We pull the House Financial Disclosure XML index weekly, download the PDF reports, extract ticker and dollar values, and compute a 60‑day net‑dollar signal per ticker. Sign matters: buys are positive, sells are negative.</a:t>
            </a:r>
            <a:endParaRPr lang="en-US" sz="1950" dirty="0"/>
          </a:p>
        </p:txBody>
      </p:sp>
      <p:sp>
        <p:nvSpPr>
          <p:cNvPr id="15" name="Shape 13"/>
          <p:cNvSpPr/>
          <p:nvPr/>
        </p:nvSpPr>
        <p:spPr>
          <a:xfrm>
            <a:off x="10380018" y="1642021"/>
            <a:ext cx="6841182" cy="9525"/>
          </a:xfrm>
          <a:prstGeom prst="rect">
            <a:avLst/>
          </a:prstGeom>
          <a:solidFill>
            <a:srgbClr val="DCD4BF"/>
          </a:solidFill>
          <a:ln/>
        </p:spPr>
      </p:sp>
      <p:sp>
        <p:nvSpPr>
          <p:cNvPr id="16" name="Text 14"/>
          <p:cNvSpPr/>
          <p:nvPr/>
        </p:nvSpPr>
        <p:spPr>
          <a:xfrm>
            <a:off x="10380018" y="1171575"/>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SOURCE</a:t>
            </a:r>
            <a:endParaRPr lang="en-US" sz="1800" dirty="0"/>
          </a:p>
        </p:txBody>
      </p:sp>
      <p:sp>
        <p:nvSpPr>
          <p:cNvPr id="17" name="Text 15"/>
          <p:cNvSpPr/>
          <p:nvPr/>
        </p:nvSpPr>
        <p:spPr>
          <a:xfrm>
            <a:off x="12323118" y="1104900"/>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House Financial Disclosure XML + PDFs</a:t>
            </a:r>
            <a:endParaRPr lang="en-US" sz="1950" dirty="0"/>
          </a:p>
        </p:txBody>
      </p:sp>
      <p:sp>
        <p:nvSpPr>
          <p:cNvPr id="18" name="Shape 16"/>
          <p:cNvSpPr/>
          <p:nvPr/>
        </p:nvSpPr>
        <p:spPr>
          <a:xfrm>
            <a:off x="10380018" y="2379166"/>
            <a:ext cx="6841182" cy="9525"/>
          </a:xfrm>
          <a:prstGeom prst="rect">
            <a:avLst/>
          </a:prstGeom>
          <a:solidFill>
            <a:srgbClr val="DCD4BF"/>
          </a:solidFill>
          <a:ln/>
        </p:spPr>
      </p:sp>
      <p:sp>
        <p:nvSpPr>
          <p:cNvPr id="19" name="Text 17"/>
          <p:cNvSpPr/>
          <p:nvPr/>
        </p:nvSpPr>
        <p:spPr>
          <a:xfrm>
            <a:off x="10380018" y="1908721"/>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CADENCE</a:t>
            </a:r>
            <a:endParaRPr lang="en-US" sz="1800" dirty="0"/>
          </a:p>
        </p:txBody>
      </p:sp>
      <p:sp>
        <p:nvSpPr>
          <p:cNvPr id="20" name="Text 18"/>
          <p:cNvSpPr/>
          <p:nvPr/>
        </p:nvSpPr>
        <p:spPr>
          <a:xfrm>
            <a:off x="12323118" y="1842046"/>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weekly refresh</a:t>
            </a:r>
            <a:endParaRPr lang="en-US" sz="1950" dirty="0"/>
          </a:p>
        </p:txBody>
      </p:sp>
      <p:sp>
        <p:nvSpPr>
          <p:cNvPr id="21" name="Shape 19"/>
          <p:cNvSpPr/>
          <p:nvPr/>
        </p:nvSpPr>
        <p:spPr>
          <a:xfrm>
            <a:off x="10380018" y="3462933"/>
            <a:ext cx="6841182" cy="9525"/>
          </a:xfrm>
          <a:prstGeom prst="rect">
            <a:avLst/>
          </a:prstGeom>
          <a:solidFill>
            <a:srgbClr val="DCD4BF"/>
          </a:solidFill>
          <a:ln/>
        </p:spPr>
      </p:sp>
      <p:sp>
        <p:nvSpPr>
          <p:cNvPr id="22" name="Text 20"/>
          <p:cNvSpPr/>
          <p:nvPr/>
        </p:nvSpPr>
        <p:spPr>
          <a:xfrm>
            <a:off x="10380018" y="2645866"/>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METHOD</a:t>
            </a:r>
            <a:endParaRPr lang="en-US" sz="1800" dirty="0"/>
          </a:p>
        </p:txBody>
      </p:sp>
      <p:sp>
        <p:nvSpPr>
          <p:cNvPr id="23" name="Text 21"/>
          <p:cNvSpPr/>
          <p:nvPr/>
        </p:nvSpPr>
        <p:spPr>
          <a:xfrm>
            <a:off x="12323118" y="2579191"/>
            <a:ext cx="5045025"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60‑day net $ volume of tracked congressional trades</a:t>
            </a:r>
            <a:endParaRPr lang="en-US" sz="1950" dirty="0"/>
          </a:p>
        </p:txBody>
      </p:sp>
      <p:sp>
        <p:nvSpPr>
          <p:cNvPr id="24" name="Shape 22"/>
          <p:cNvSpPr/>
          <p:nvPr/>
        </p:nvSpPr>
        <p:spPr>
          <a:xfrm>
            <a:off x="10380018" y="4200079"/>
            <a:ext cx="6841182" cy="9525"/>
          </a:xfrm>
          <a:prstGeom prst="rect">
            <a:avLst/>
          </a:prstGeom>
          <a:solidFill>
            <a:srgbClr val="DCD4BF"/>
          </a:solidFill>
          <a:ln/>
        </p:spPr>
      </p:sp>
      <p:sp>
        <p:nvSpPr>
          <p:cNvPr id="25" name="Text 23"/>
          <p:cNvSpPr/>
          <p:nvPr/>
        </p:nvSpPr>
        <p:spPr>
          <a:xfrm>
            <a:off x="10380018" y="3710583"/>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MODULE</a:t>
            </a:r>
            <a:endParaRPr lang="en-US" sz="1800" dirty="0"/>
          </a:p>
        </p:txBody>
      </p:sp>
      <p:sp>
        <p:nvSpPr>
          <p:cNvPr id="26" name="Text 24"/>
          <p:cNvSpPr/>
          <p:nvPr/>
        </p:nvSpPr>
        <p:spPr>
          <a:xfrm>
            <a:off x="12323118" y="3662958"/>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Courier New" pitchFamily="34" charset="0"/>
                <a:ea typeface="Courier New" pitchFamily="34" charset="-122"/>
                <a:cs typeface="Courier New" pitchFamily="34" charset="-120"/>
              </a:rPr>
              <a:t>bot/signals/politicians.py</a:t>
            </a:r>
            <a:endParaRPr lang="en-US" sz="1950" dirty="0"/>
          </a:p>
        </p:txBody>
      </p:sp>
      <p:sp>
        <p:nvSpPr>
          <p:cNvPr id="27" name="Shape 25"/>
          <p:cNvSpPr/>
          <p:nvPr/>
        </p:nvSpPr>
        <p:spPr>
          <a:xfrm>
            <a:off x="10380018" y="4476304"/>
            <a:ext cx="6841182" cy="942975"/>
          </a:xfrm>
          <a:prstGeom prst="rect">
            <a:avLst/>
          </a:prstGeom>
          <a:solidFill>
            <a:srgbClr val="FFFFFF"/>
          </a:solidFill>
          <a:ln w="9525">
            <a:solidFill>
              <a:srgbClr val="DCD4BF"/>
            </a:solidFill>
            <a:prstDash val="solid"/>
          </a:ln>
        </p:spPr>
      </p:sp>
      <p:sp>
        <p:nvSpPr>
          <p:cNvPr id="28" name="Text 26"/>
          <p:cNvSpPr/>
          <p:nvPr/>
        </p:nvSpPr>
        <p:spPr>
          <a:xfrm>
            <a:off x="10618143" y="4695379"/>
            <a:ext cx="655588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WEIGHT BAR</a:t>
            </a:r>
            <a:endParaRPr lang="en-US" sz="1800" dirty="0"/>
          </a:p>
        </p:txBody>
      </p:sp>
      <p:sp>
        <p:nvSpPr>
          <p:cNvPr id="29" name="Shape 27"/>
          <p:cNvSpPr/>
          <p:nvPr/>
        </p:nvSpPr>
        <p:spPr>
          <a:xfrm>
            <a:off x="10618143" y="5047804"/>
            <a:ext cx="6364932" cy="152400"/>
          </a:xfrm>
          <a:prstGeom prst="rect">
            <a:avLst/>
          </a:prstGeom>
          <a:solidFill>
            <a:srgbClr val="EFE8D9"/>
          </a:solidFill>
          <a:ln w="9525">
            <a:solidFill>
              <a:srgbClr val="DCD4BF"/>
            </a:solidFill>
            <a:prstDash val="solid"/>
          </a:ln>
        </p:spPr>
      </p:sp>
      <p:sp>
        <p:nvSpPr>
          <p:cNvPr id="30" name="Shape 28"/>
          <p:cNvSpPr/>
          <p:nvPr/>
        </p:nvSpPr>
        <p:spPr>
          <a:xfrm>
            <a:off x="10627668" y="5057329"/>
            <a:ext cx="6345882" cy="133350"/>
          </a:xfrm>
          <a:prstGeom prst="rect">
            <a:avLst/>
          </a:prstGeom>
          <a:solidFill>
            <a:srgbClr val="1F3A5F"/>
          </a:solidFill>
          <a:ln/>
        </p:spPr>
      </p:sp>
      <p:sp>
        <p:nvSpPr>
          <p:cNvPr id="31" name="Text 29"/>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2" name="Text 30"/>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221605"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09 · SIGNAL 3 OF 4</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09 / 23</a:t>
            </a:r>
            <a:endParaRPr lang="en-US" sz="1800" dirty="0"/>
          </a:p>
        </p:txBody>
      </p:sp>
      <p:sp>
        <p:nvSpPr>
          <p:cNvPr id="6" name="Text 4"/>
          <p:cNvSpPr/>
          <p:nvPr/>
        </p:nvSpPr>
        <p:spPr>
          <a:xfrm>
            <a:off x="1066800" y="914400"/>
            <a:ext cx="2844504"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420" kern="0" dirty="0">
                <a:solidFill>
                  <a:srgbClr val="9E3B2A"/>
                </a:solidFill>
                <a:latin typeface="Georgia" pitchFamily="34" charset="0"/>
                <a:ea typeface="Georgia" pitchFamily="34" charset="-122"/>
                <a:cs typeface="Georgia" pitchFamily="34" charset="-120"/>
              </a:rPr>
              <a:t>20 %</a:t>
            </a:r>
            <a:endParaRPr lang="en-US" sz="10500" dirty="0"/>
          </a:p>
        </p:txBody>
      </p:sp>
      <p:sp>
        <p:nvSpPr>
          <p:cNvPr id="7" name="Text 5"/>
          <p:cNvSpPr/>
          <p:nvPr/>
        </p:nvSpPr>
        <p:spPr>
          <a:xfrm>
            <a:off x="4095155" y="1762125"/>
            <a:ext cx="2831781" cy="60960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7A8190"/>
                </a:solidFill>
                <a:latin typeface="Courier New" pitchFamily="34" charset="0"/>
                <a:ea typeface="Courier New" pitchFamily="34" charset="-122"/>
                <a:cs typeface="Courier New" pitchFamily="34" charset="-120"/>
              </a:rPr>
              <a:t>WEIGHT IN COMPOSITE SCORE</a:t>
            </a:r>
            <a:endParaRPr lang="en-US" sz="1950" dirty="0"/>
          </a:p>
        </p:txBody>
      </p:sp>
      <p:sp>
        <p:nvSpPr>
          <p:cNvPr id="8" name="Text 6"/>
          <p:cNvSpPr/>
          <p:nvPr/>
        </p:nvSpPr>
        <p:spPr>
          <a:xfrm>
            <a:off x="1066800" y="2600325"/>
            <a:ext cx="8807754"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spc="-81" kern="0" dirty="0">
                <a:solidFill>
                  <a:srgbClr val="1A1C21"/>
                </a:solidFill>
                <a:latin typeface="Georgia" pitchFamily="34" charset="0"/>
                <a:ea typeface="Georgia" pitchFamily="34" charset="-122"/>
                <a:cs typeface="Georgia" pitchFamily="34" charset="-120"/>
              </a:rPr>
              <a:t>Top‑investor 13F filings</a:t>
            </a:r>
            <a:endParaRPr lang="en-US" sz="4500" dirty="0"/>
          </a:p>
        </p:txBody>
      </p:sp>
      <p:sp>
        <p:nvSpPr>
          <p:cNvPr id="9" name="Shape 7"/>
          <p:cNvSpPr/>
          <p:nvPr/>
        </p:nvSpPr>
        <p:spPr>
          <a:xfrm>
            <a:off x="1066800" y="3499396"/>
            <a:ext cx="8551218" cy="2409825"/>
          </a:xfrm>
          <a:prstGeom prst="rect">
            <a:avLst/>
          </a:prstGeom>
          <a:solidFill>
            <a:srgbClr val="FBF7EC"/>
          </a:solidFill>
          <a:ln w="9525">
            <a:solidFill>
              <a:srgbClr val="DCD4BF"/>
            </a:solidFill>
            <a:prstDash val="solid"/>
          </a:ln>
        </p:spPr>
      </p:sp>
      <p:sp>
        <p:nvSpPr>
          <p:cNvPr id="10" name="Text 8"/>
          <p:cNvSpPr/>
          <p:nvPr/>
        </p:nvSpPr>
        <p:spPr>
          <a:xfrm>
            <a:off x="1362075" y="3756571"/>
            <a:ext cx="819948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9E3B2A"/>
                </a:solidFill>
                <a:latin typeface="Courier New" pitchFamily="34" charset="0"/>
                <a:ea typeface="Courier New" pitchFamily="34" charset="-122"/>
                <a:cs typeface="Courier New" pitchFamily="34" charset="-120"/>
              </a:rPr>
              <a:t>WHAT IT IS, FOR A KID</a:t>
            </a:r>
            <a:endParaRPr lang="en-US" sz="1800" dirty="0"/>
          </a:p>
        </p:txBody>
      </p:sp>
      <p:sp>
        <p:nvSpPr>
          <p:cNvPr id="11" name="Text 9"/>
          <p:cNvSpPr/>
          <p:nvPr/>
        </p:nvSpPr>
        <p:spPr>
          <a:xfrm>
            <a:off x="1362075" y="4108996"/>
            <a:ext cx="8199488" cy="1581150"/>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1A1C21"/>
                </a:solidFill>
                <a:latin typeface="Georgia" pitchFamily="34" charset="0"/>
                <a:ea typeface="Georgia" pitchFamily="34" charset="-122"/>
                <a:cs typeface="Georgia" pitchFamily="34" charset="-120"/>
              </a:rPr>
              <a:t>Very rich, very famous investors (Warren Buffett, Michael Burry, ARK, others) have to tell the SEC what they're holding every three months. If they start loading up on a stock, we take notice.</a:t>
            </a:r>
            <a:endParaRPr lang="en-US" sz="2250" dirty="0"/>
          </a:p>
        </p:txBody>
      </p:sp>
      <p:sp>
        <p:nvSpPr>
          <p:cNvPr id="12" name="Shape 10"/>
          <p:cNvSpPr/>
          <p:nvPr/>
        </p:nvSpPr>
        <p:spPr>
          <a:xfrm>
            <a:off x="1066800" y="6137821"/>
            <a:ext cx="8551218" cy="3095625"/>
          </a:xfrm>
          <a:prstGeom prst="rect">
            <a:avLst/>
          </a:prstGeom>
          <a:solidFill>
            <a:srgbClr val="FFFFFF"/>
          </a:solidFill>
          <a:ln w="9525">
            <a:solidFill>
              <a:srgbClr val="DCD4BF"/>
            </a:solidFill>
            <a:prstDash val="solid"/>
          </a:ln>
        </p:spPr>
      </p:sp>
      <p:sp>
        <p:nvSpPr>
          <p:cNvPr id="13" name="Text 11"/>
          <p:cNvSpPr/>
          <p:nvPr/>
        </p:nvSpPr>
        <p:spPr>
          <a:xfrm>
            <a:off x="1362075" y="6394996"/>
            <a:ext cx="819948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A8190"/>
                </a:solidFill>
                <a:latin typeface="Courier New" pitchFamily="34" charset="0"/>
                <a:ea typeface="Courier New" pitchFamily="34" charset="-122"/>
                <a:cs typeface="Courier New" pitchFamily="34" charset="-120"/>
              </a:rPr>
              <a:t>WHAT IT IS, PRECISELY</a:t>
            </a:r>
            <a:endParaRPr lang="en-US" sz="1800" dirty="0"/>
          </a:p>
        </p:txBody>
      </p:sp>
      <p:sp>
        <p:nvSpPr>
          <p:cNvPr id="14" name="Text 12"/>
          <p:cNvSpPr/>
          <p:nvPr/>
        </p:nvSpPr>
        <p:spPr>
          <a:xfrm>
            <a:off x="1362075" y="6747421"/>
            <a:ext cx="8199488" cy="22669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We track 10 curated funds by CIK — Berkshire Hathaway, Pershing Square, Scion, Bridgewater, Renaissance, ARK, Third Point, Appaloosa, Greenlight, Baupost. Each monthly pass parses their 13F‑HR filings on SEC EDGAR and computes the dollar delta (added / trimmed / exited) per ticker. "Famous investor fully exits" is a strong close signal on its own.</a:t>
            </a:r>
            <a:endParaRPr lang="en-US" sz="1950" dirty="0"/>
          </a:p>
        </p:txBody>
      </p:sp>
      <p:sp>
        <p:nvSpPr>
          <p:cNvPr id="15" name="Shape 13"/>
          <p:cNvSpPr/>
          <p:nvPr/>
        </p:nvSpPr>
        <p:spPr>
          <a:xfrm>
            <a:off x="10380018" y="1642021"/>
            <a:ext cx="6841182" cy="9525"/>
          </a:xfrm>
          <a:prstGeom prst="rect">
            <a:avLst/>
          </a:prstGeom>
          <a:solidFill>
            <a:srgbClr val="DCD4BF"/>
          </a:solidFill>
          <a:ln/>
        </p:spPr>
      </p:sp>
      <p:sp>
        <p:nvSpPr>
          <p:cNvPr id="16" name="Text 14"/>
          <p:cNvSpPr/>
          <p:nvPr/>
        </p:nvSpPr>
        <p:spPr>
          <a:xfrm>
            <a:off x="10380018" y="1171575"/>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SOURCE</a:t>
            </a:r>
            <a:endParaRPr lang="en-US" sz="1800" dirty="0"/>
          </a:p>
        </p:txBody>
      </p:sp>
      <p:sp>
        <p:nvSpPr>
          <p:cNvPr id="17" name="Text 15"/>
          <p:cNvSpPr/>
          <p:nvPr/>
        </p:nvSpPr>
        <p:spPr>
          <a:xfrm>
            <a:off x="12323118" y="1104900"/>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SEC EDGAR · 10 curated fund CIKs</a:t>
            </a:r>
            <a:endParaRPr lang="en-US" sz="1950" dirty="0"/>
          </a:p>
        </p:txBody>
      </p:sp>
      <p:sp>
        <p:nvSpPr>
          <p:cNvPr id="18" name="Shape 16"/>
          <p:cNvSpPr/>
          <p:nvPr/>
        </p:nvSpPr>
        <p:spPr>
          <a:xfrm>
            <a:off x="10380018" y="2379166"/>
            <a:ext cx="6841182" cy="9525"/>
          </a:xfrm>
          <a:prstGeom prst="rect">
            <a:avLst/>
          </a:prstGeom>
          <a:solidFill>
            <a:srgbClr val="DCD4BF"/>
          </a:solidFill>
          <a:ln/>
        </p:spPr>
      </p:sp>
      <p:sp>
        <p:nvSpPr>
          <p:cNvPr id="19" name="Text 17"/>
          <p:cNvSpPr/>
          <p:nvPr/>
        </p:nvSpPr>
        <p:spPr>
          <a:xfrm>
            <a:off x="10380018" y="1908721"/>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CADENCE</a:t>
            </a:r>
            <a:endParaRPr lang="en-US" sz="1800" dirty="0"/>
          </a:p>
        </p:txBody>
      </p:sp>
      <p:sp>
        <p:nvSpPr>
          <p:cNvPr id="20" name="Text 18"/>
          <p:cNvSpPr/>
          <p:nvPr/>
        </p:nvSpPr>
        <p:spPr>
          <a:xfrm>
            <a:off x="12323118" y="1842046"/>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monthly refresh</a:t>
            </a:r>
            <a:endParaRPr lang="en-US" sz="1950" dirty="0"/>
          </a:p>
        </p:txBody>
      </p:sp>
      <p:sp>
        <p:nvSpPr>
          <p:cNvPr id="21" name="Shape 19"/>
          <p:cNvSpPr/>
          <p:nvPr/>
        </p:nvSpPr>
        <p:spPr>
          <a:xfrm>
            <a:off x="10380018" y="3116312"/>
            <a:ext cx="6841182" cy="9525"/>
          </a:xfrm>
          <a:prstGeom prst="rect">
            <a:avLst/>
          </a:prstGeom>
          <a:solidFill>
            <a:srgbClr val="DCD4BF"/>
          </a:solidFill>
          <a:ln/>
        </p:spPr>
      </p:sp>
      <p:sp>
        <p:nvSpPr>
          <p:cNvPr id="22" name="Text 20"/>
          <p:cNvSpPr/>
          <p:nvPr/>
        </p:nvSpPr>
        <p:spPr>
          <a:xfrm>
            <a:off x="10380018" y="2645866"/>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METHOD</a:t>
            </a:r>
            <a:endParaRPr lang="en-US" sz="1800" dirty="0"/>
          </a:p>
        </p:txBody>
      </p:sp>
      <p:sp>
        <p:nvSpPr>
          <p:cNvPr id="23" name="Text 21"/>
          <p:cNvSpPr/>
          <p:nvPr/>
        </p:nvSpPr>
        <p:spPr>
          <a:xfrm>
            <a:off x="12323118" y="2579191"/>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latest 13F $ delta per ticker</a:t>
            </a:r>
            <a:endParaRPr lang="en-US" sz="1950" dirty="0"/>
          </a:p>
        </p:txBody>
      </p:sp>
      <p:sp>
        <p:nvSpPr>
          <p:cNvPr id="24" name="Shape 22"/>
          <p:cNvSpPr/>
          <p:nvPr/>
        </p:nvSpPr>
        <p:spPr>
          <a:xfrm>
            <a:off x="10380018" y="3853458"/>
            <a:ext cx="6841182" cy="9525"/>
          </a:xfrm>
          <a:prstGeom prst="rect">
            <a:avLst/>
          </a:prstGeom>
          <a:solidFill>
            <a:srgbClr val="DCD4BF"/>
          </a:solidFill>
          <a:ln/>
        </p:spPr>
      </p:sp>
      <p:sp>
        <p:nvSpPr>
          <p:cNvPr id="25" name="Text 23"/>
          <p:cNvSpPr/>
          <p:nvPr/>
        </p:nvSpPr>
        <p:spPr>
          <a:xfrm>
            <a:off x="10380018" y="3363962"/>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MODULE</a:t>
            </a:r>
            <a:endParaRPr lang="en-US" sz="1800" dirty="0"/>
          </a:p>
        </p:txBody>
      </p:sp>
      <p:sp>
        <p:nvSpPr>
          <p:cNvPr id="26" name="Text 24"/>
          <p:cNvSpPr/>
          <p:nvPr/>
        </p:nvSpPr>
        <p:spPr>
          <a:xfrm>
            <a:off x="12323118" y="3316337"/>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Courier New" pitchFamily="34" charset="0"/>
                <a:ea typeface="Courier New" pitchFamily="34" charset="-122"/>
                <a:cs typeface="Courier New" pitchFamily="34" charset="-120"/>
              </a:rPr>
              <a:t>bot/signals/investors.py</a:t>
            </a:r>
            <a:endParaRPr lang="en-US" sz="1950" dirty="0"/>
          </a:p>
        </p:txBody>
      </p:sp>
      <p:sp>
        <p:nvSpPr>
          <p:cNvPr id="27" name="Shape 25"/>
          <p:cNvSpPr/>
          <p:nvPr/>
        </p:nvSpPr>
        <p:spPr>
          <a:xfrm>
            <a:off x="10380018" y="4129683"/>
            <a:ext cx="6841182" cy="942975"/>
          </a:xfrm>
          <a:prstGeom prst="rect">
            <a:avLst/>
          </a:prstGeom>
          <a:solidFill>
            <a:srgbClr val="FFFFFF"/>
          </a:solidFill>
          <a:ln w="9525">
            <a:solidFill>
              <a:srgbClr val="DCD4BF"/>
            </a:solidFill>
            <a:prstDash val="solid"/>
          </a:ln>
        </p:spPr>
      </p:sp>
      <p:sp>
        <p:nvSpPr>
          <p:cNvPr id="28" name="Text 26"/>
          <p:cNvSpPr/>
          <p:nvPr/>
        </p:nvSpPr>
        <p:spPr>
          <a:xfrm>
            <a:off x="10618143" y="4348758"/>
            <a:ext cx="655588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WEIGHT BAR</a:t>
            </a:r>
            <a:endParaRPr lang="en-US" sz="1800" dirty="0"/>
          </a:p>
        </p:txBody>
      </p:sp>
      <p:sp>
        <p:nvSpPr>
          <p:cNvPr id="29" name="Shape 27"/>
          <p:cNvSpPr/>
          <p:nvPr/>
        </p:nvSpPr>
        <p:spPr>
          <a:xfrm>
            <a:off x="10618143" y="4701183"/>
            <a:ext cx="6364932" cy="152400"/>
          </a:xfrm>
          <a:prstGeom prst="rect">
            <a:avLst/>
          </a:prstGeom>
          <a:solidFill>
            <a:srgbClr val="EFE8D9"/>
          </a:solidFill>
          <a:ln w="9525">
            <a:solidFill>
              <a:srgbClr val="DCD4BF"/>
            </a:solidFill>
            <a:prstDash val="solid"/>
          </a:ln>
        </p:spPr>
      </p:sp>
      <p:sp>
        <p:nvSpPr>
          <p:cNvPr id="30" name="Shape 28"/>
          <p:cNvSpPr/>
          <p:nvPr/>
        </p:nvSpPr>
        <p:spPr>
          <a:xfrm>
            <a:off x="10627668" y="4710708"/>
            <a:ext cx="6345882" cy="133350"/>
          </a:xfrm>
          <a:prstGeom prst="rect">
            <a:avLst/>
          </a:prstGeom>
          <a:solidFill>
            <a:srgbClr val="9E3B2A"/>
          </a:solidFill>
          <a:ln/>
        </p:spPr>
      </p:sp>
      <p:sp>
        <p:nvSpPr>
          <p:cNvPr id="31" name="Text 29"/>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2" name="Text 30"/>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221605"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10 · SIGNAL 4 OF 4</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10 / 23</a:t>
            </a:r>
            <a:endParaRPr lang="en-US" sz="1800" dirty="0"/>
          </a:p>
        </p:txBody>
      </p:sp>
      <p:sp>
        <p:nvSpPr>
          <p:cNvPr id="6" name="Text 4"/>
          <p:cNvSpPr/>
          <p:nvPr/>
        </p:nvSpPr>
        <p:spPr>
          <a:xfrm>
            <a:off x="1066800" y="914400"/>
            <a:ext cx="5780218" cy="2438400"/>
          </a:xfrm>
          <a:prstGeom prst="rect">
            <a:avLst/>
          </a:prstGeom>
          <a:noFill/>
          <a:ln/>
        </p:spPr>
        <p:txBody>
          <a:bodyPr wrap="square" lIns="25400" tIns="25400" rIns="25400" bIns="25400" rtlCol="0" anchor="t">
            <a:normAutofit/>
          </a:bodyPr>
          <a:lstStyle/>
          <a:p>
            <a:pPr algn="l" indent="0" marL="0">
              <a:lnSpc>
                <a:spcPct val="90000"/>
              </a:lnSpc>
              <a:buNone/>
            </a:pPr>
            <a:r>
              <a:rPr lang="en-US" sz="10500" spc="-420" kern="0" dirty="0">
                <a:solidFill>
                  <a:srgbClr val="4A6B3A"/>
                </a:solidFill>
                <a:latin typeface="Georgia" pitchFamily="34" charset="0"/>
                <a:ea typeface="Georgia" pitchFamily="34" charset="-122"/>
                <a:cs typeface="Georgia" pitchFamily="34" charset="-120"/>
              </a:rPr>
              <a:t>15 % + 5 %</a:t>
            </a:r>
            <a:endParaRPr lang="en-US" sz="10500" dirty="0"/>
          </a:p>
        </p:txBody>
      </p:sp>
      <p:sp>
        <p:nvSpPr>
          <p:cNvPr id="7" name="Text 5"/>
          <p:cNvSpPr/>
          <p:nvPr/>
        </p:nvSpPr>
        <p:spPr>
          <a:xfrm>
            <a:off x="6945362" y="1762125"/>
            <a:ext cx="2752835" cy="8953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7A8190"/>
                </a:solidFill>
                <a:latin typeface="Courier New" pitchFamily="34" charset="0"/>
                <a:ea typeface="Courier New" pitchFamily="34" charset="-122"/>
                <a:cs typeface="Courier New" pitchFamily="34" charset="-120"/>
              </a:rPr>
              <a:t>WEIGHT IN COMPOSITE SCORE</a:t>
            </a:r>
            <a:endParaRPr lang="en-US" sz="1950" dirty="0"/>
          </a:p>
        </p:txBody>
      </p:sp>
      <p:sp>
        <p:nvSpPr>
          <p:cNvPr id="8" name="Text 6"/>
          <p:cNvSpPr/>
          <p:nvPr/>
        </p:nvSpPr>
        <p:spPr>
          <a:xfrm>
            <a:off x="1066800" y="3581400"/>
            <a:ext cx="8807754"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spc="-81" kern="0" dirty="0">
                <a:solidFill>
                  <a:srgbClr val="1A1C21"/>
                </a:solidFill>
                <a:latin typeface="Georgia" pitchFamily="34" charset="0"/>
                <a:ea typeface="Georgia" pitchFamily="34" charset="-122"/>
                <a:cs typeface="Georgia" pitchFamily="34" charset="-120"/>
              </a:rPr>
              <a:t>Price momentum &amp; dip bonus</a:t>
            </a:r>
            <a:endParaRPr lang="en-US" sz="4500" dirty="0"/>
          </a:p>
        </p:txBody>
      </p:sp>
      <p:sp>
        <p:nvSpPr>
          <p:cNvPr id="9" name="Shape 7"/>
          <p:cNvSpPr/>
          <p:nvPr/>
        </p:nvSpPr>
        <p:spPr>
          <a:xfrm>
            <a:off x="1066800" y="4480471"/>
            <a:ext cx="8551218" cy="2024062"/>
          </a:xfrm>
          <a:prstGeom prst="rect">
            <a:avLst/>
          </a:prstGeom>
          <a:solidFill>
            <a:srgbClr val="FBF7EC"/>
          </a:solidFill>
          <a:ln w="9525">
            <a:solidFill>
              <a:srgbClr val="DCD4BF"/>
            </a:solidFill>
            <a:prstDash val="solid"/>
          </a:ln>
        </p:spPr>
      </p:sp>
      <p:sp>
        <p:nvSpPr>
          <p:cNvPr id="10" name="Text 8"/>
          <p:cNvSpPr/>
          <p:nvPr/>
        </p:nvSpPr>
        <p:spPr>
          <a:xfrm>
            <a:off x="1362075" y="4737646"/>
            <a:ext cx="819948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4A6B3A"/>
                </a:solidFill>
                <a:latin typeface="Courier New" pitchFamily="34" charset="0"/>
                <a:ea typeface="Courier New" pitchFamily="34" charset="-122"/>
                <a:cs typeface="Courier New" pitchFamily="34" charset="-120"/>
              </a:rPr>
              <a:t>WHAT IT IS, FOR A KID</a:t>
            </a:r>
            <a:endParaRPr lang="en-US" sz="1800" dirty="0"/>
          </a:p>
        </p:txBody>
      </p:sp>
      <p:sp>
        <p:nvSpPr>
          <p:cNvPr id="11" name="Text 9"/>
          <p:cNvSpPr/>
          <p:nvPr/>
        </p:nvSpPr>
        <p:spPr>
          <a:xfrm>
            <a:off x="1362075" y="5090071"/>
            <a:ext cx="8199488" cy="1195388"/>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1A1C21"/>
                </a:solidFill>
                <a:latin typeface="Georgia" pitchFamily="34" charset="0"/>
                <a:ea typeface="Georgia" pitchFamily="34" charset="-122"/>
                <a:cs typeface="Georgia" pitchFamily="34" charset="-120"/>
              </a:rPr>
              <a:t>If a stock has been going up faster than the S&amp;P 500, that's a small plus. And if a stock has fallen way below its recent high, it gets a tiny sale‑sticker bonus.</a:t>
            </a:r>
            <a:endParaRPr lang="en-US" sz="2250" dirty="0"/>
          </a:p>
        </p:txBody>
      </p:sp>
      <p:sp>
        <p:nvSpPr>
          <p:cNvPr id="12" name="Shape 10"/>
          <p:cNvSpPr/>
          <p:nvPr/>
        </p:nvSpPr>
        <p:spPr>
          <a:xfrm>
            <a:off x="1066800" y="6733133"/>
            <a:ext cx="8551218" cy="3095625"/>
          </a:xfrm>
          <a:prstGeom prst="rect">
            <a:avLst/>
          </a:prstGeom>
          <a:solidFill>
            <a:srgbClr val="FFFFFF"/>
          </a:solidFill>
          <a:ln w="9525">
            <a:solidFill>
              <a:srgbClr val="DCD4BF"/>
            </a:solidFill>
            <a:prstDash val="solid"/>
          </a:ln>
        </p:spPr>
      </p:sp>
      <p:sp>
        <p:nvSpPr>
          <p:cNvPr id="13" name="Text 11"/>
          <p:cNvSpPr/>
          <p:nvPr/>
        </p:nvSpPr>
        <p:spPr>
          <a:xfrm>
            <a:off x="1362075" y="6990308"/>
            <a:ext cx="819948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A8190"/>
                </a:solidFill>
                <a:latin typeface="Courier New" pitchFamily="34" charset="0"/>
                <a:ea typeface="Courier New" pitchFamily="34" charset="-122"/>
                <a:cs typeface="Courier New" pitchFamily="34" charset="-120"/>
              </a:rPr>
              <a:t>WHAT IT IS, PRECISELY</a:t>
            </a:r>
            <a:endParaRPr lang="en-US" sz="1800" dirty="0"/>
          </a:p>
        </p:txBody>
      </p:sp>
      <p:sp>
        <p:nvSpPr>
          <p:cNvPr id="14" name="Text 12"/>
          <p:cNvSpPr/>
          <p:nvPr/>
        </p:nvSpPr>
        <p:spPr>
          <a:xfrm>
            <a:off x="1362075" y="7342733"/>
            <a:ext cx="8199488" cy="22669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Daily after close we pull historical bars from Alpaca (IEX feed) and compute each ticker's 20‑day return minus SPY's. That is the momentum term. Separately, a dip bonus adds +1 if the current price is down more than 25 % from the 52‑week high — mean‑reversion sweetener for beaten‑down names whose other signals still look positive.</a:t>
            </a:r>
            <a:endParaRPr lang="en-US" sz="1950" dirty="0"/>
          </a:p>
        </p:txBody>
      </p:sp>
      <p:sp>
        <p:nvSpPr>
          <p:cNvPr id="15" name="Shape 13"/>
          <p:cNvSpPr/>
          <p:nvPr/>
        </p:nvSpPr>
        <p:spPr>
          <a:xfrm>
            <a:off x="10380018" y="1642021"/>
            <a:ext cx="6841182" cy="9525"/>
          </a:xfrm>
          <a:prstGeom prst="rect">
            <a:avLst/>
          </a:prstGeom>
          <a:solidFill>
            <a:srgbClr val="DCD4BF"/>
          </a:solidFill>
          <a:ln/>
        </p:spPr>
      </p:sp>
      <p:sp>
        <p:nvSpPr>
          <p:cNvPr id="16" name="Text 14"/>
          <p:cNvSpPr/>
          <p:nvPr/>
        </p:nvSpPr>
        <p:spPr>
          <a:xfrm>
            <a:off x="10380018" y="1171575"/>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SOURCE</a:t>
            </a:r>
            <a:endParaRPr lang="en-US" sz="1800" dirty="0"/>
          </a:p>
        </p:txBody>
      </p:sp>
      <p:sp>
        <p:nvSpPr>
          <p:cNvPr id="17" name="Text 15"/>
          <p:cNvSpPr/>
          <p:nvPr/>
        </p:nvSpPr>
        <p:spPr>
          <a:xfrm>
            <a:off x="12323118" y="1104900"/>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Alpaca historical bars (IEX feed)</a:t>
            </a:r>
            <a:endParaRPr lang="en-US" sz="1950" dirty="0"/>
          </a:p>
        </p:txBody>
      </p:sp>
      <p:sp>
        <p:nvSpPr>
          <p:cNvPr id="18" name="Shape 16"/>
          <p:cNvSpPr/>
          <p:nvPr/>
        </p:nvSpPr>
        <p:spPr>
          <a:xfrm>
            <a:off x="10380018" y="2379166"/>
            <a:ext cx="6841182" cy="9525"/>
          </a:xfrm>
          <a:prstGeom prst="rect">
            <a:avLst/>
          </a:prstGeom>
          <a:solidFill>
            <a:srgbClr val="DCD4BF"/>
          </a:solidFill>
          <a:ln/>
        </p:spPr>
      </p:sp>
      <p:sp>
        <p:nvSpPr>
          <p:cNvPr id="19" name="Text 17"/>
          <p:cNvSpPr/>
          <p:nvPr/>
        </p:nvSpPr>
        <p:spPr>
          <a:xfrm>
            <a:off x="10380018" y="1908721"/>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CADENCE</a:t>
            </a:r>
            <a:endParaRPr lang="en-US" sz="1800" dirty="0"/>
          </a:p>
        </p:txBody>
      </p:sp>
      <p:sp>
        <p:nvSpPr>
          <p:cNvPr id="20" name="Text 18"/>
          <p:cNvSpPr/>
          <p:nvPr/>
        </p:nvSpPr>
        <p:spPr>
          <a:xfrm>
            <a:off x="12323118" y="1842046"/>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daily</a:t>
            </a:r>
            <a:endParaRPr lang="en-US" sz="1950" dirty="0"/>
          </a:p>
        </p:txBody>
      </p:sp>
      <p:sp>
        <p:nvSpPr>
          <p:cNvPr id="21" name="Shape 19"/>
          <p:cNvSpPr/>
          <p:nvPr/>
        </p:nvSpPr>
        <p:spPr>
          <a:xfrm>
            <a:off x="10380018" y="3462933"/>
            <a:ext cx="6841182" cy="9525"/>
          </a:xfrm>
          <a:prstGeom prst="rect">
            <a:avLst/>
          </a:prstGeom>
          <a:solidFill>
            <a:srgbClr val="DCD4BF"/>
          </a:solidFill>
          <a:ln/>
        </p:spPr>
      </p:sp>
      <p:sp>
        <p:nvSpPr>
          <p:cNvPr id="22" name="Text 20"/>
          <p:cNvSpPr/>
          <p:nvPr/>
        </p:nvSpPr>
        <p:spPr>
          <a:xfrm>
            <a:off x="10380018" y="2645866"/>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METHOD</a:t>
            </a:r>
            <a:endParaRPr lang="en-US" sz="1800" dirty="0"/>
          </a:p>
        </p:txBody>
      </p:sp>
      <p:sp>
        <p:nvSpPr>
          <p:cNvPr id="23" name="Text 21"/>
          <p:cNvSpPr/>
          <p:nvPr/>
        </p:nvSpPr>
        <p:spPr>
          <a:xfrm>
            <a:off x="12323118" y="2579191"/>
            <a:ext cx="5045025"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Arial" pitchFamily="34" charset="0"/>
                <a:ea typeface="Arial" pitchFamily="34" charset="-122"/>
                <a:cs typeface="Arial" pitchFamily="34" charset="-120"/>
              </a:rPr>
              <a:t>(20d return − SPY 20d return); dip = +1 if drawdown &gt; 25 %</a:t>
            </a:r>
            <a:endParaRPr lang="en-US" sz="1950" dirty="0"/>
          </a:p>
        </p:txBody>
      </p:sp>
      <p:sp>
        <p:nvSpPr>
          <p:cNvPr id="24" name="Shape 22"/>
          <p:cNvSpPr/>
          <p:nvPr/>
        </p:nvSpPr>
        <p:spPr>
          <a:xfrm>
            <a:off x="10380018" y="4200079"/>
            <a:ext cx="6841182" cy="9525"/>
          </a:xfrm>
          <a:prstGeom prst="rect">
            <a:avLst/>
          </a:prstGeom>
          <a:solidFill>
            <a:srgbClr val="DCD4BF"/>
          </a:solidFill>
          <a:ln/>
        </p:spPr>
      </p:sp>
      <p:sp>
        <p:nvSpPr>
          <p:cNvPr id="25" name="Text 23"/>
          <p:cNvSpPr/>
          <p:nvPr/>
        </p:nvSpPr>
        <p:spPr>
          <a:xfrm>
            <a:off x="10380018" y="3710583"/>
            <a:ext cx="179070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MODULE</a:t>
            </a:r>
            <a:endParaRPr lang="en-US" sz="1800" dirty="0"/>
          </a:p>
        </p:txBody>
      </p:sp>
      <p:sp>
        <p:nvSpPr>
          <p:cNvPr id="26" name="Text 24"/>
          <p:cNvSpPr/>
          <p:nvPr/>
        </p:nvSpPr>
        <p:spPr>
          <a:xfrm>
            <a:off x="12323118" y="3662958"/>
            <a:ext cx="504502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C21"/>
                </a:solidFill>
                <a:latin typeface="Courier New" pitchFamily="34" charset="0"/>
                <a:ea typeface="Courier New" pitchFamily="34" charset="-122"/>
                <a:cs typeface="Courier New" pitchFamily="34" charset="-120"/>
              </a:rPr>
              <a:t>bot/signals/aggregator.py</a:t>
            </a:r>
            <a:endParaRPr lang="en-US" sz="1950" dirty="0"/>
          </a:p>
        </p:txBody>
      </p:sp>
      <p:sp>
        <p:nvSpPr>
          <p:cNvPr id="27" name="Shape 25"/>
          <p:cNvSpPr/>
          <p:nvPr/>
        </p:nvSpPr>
        <p:spPr>
          <a:xfrm>
            <a:off x="10380018" y="4476304"/>
            <a:ext cx="6841182" cy="942975"/>
          </a:xfrm>
          <a:prstGeom prst="rect">
            <a:avLst/>
          </a:prstGeom>
          <a:solidFill>
            <a:srgbClr val="FFFFFF"/>
          </a:solidFill>
          <a:ln w="9525">
            <a:solidFill>
              <a:srgbClr val="DCD4BF"/>
            </a:solidFill>
            <a:prstDash val="solid"/>
          </a:ln>
        </p:spPr>
      </p:sp>
      <p:sp>
        <p:nvSpPr>
          <p:cNvPr id="28" name="Text 26"/>
          <p:cNvSpPr/>
          <p:nvPr/>
        </p:nvSpPr>
        <p:spPr>
          <a:xfrm>
            <a:off x="10618143" y="4695379"/>
            <a:ext cx="6555880"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WEIGHT BAR</a:t>
            </a:r>
            <a:endParaRPr lang="en-US" sz="1800" dirty="0"/>
          </a:p>
        </p:txBody>
      </p:sp>
      <p:sp>
        <p:nvSpPr>
          <p:cNvPr id="29" name="Shape 27"/>
          <p:cNvSpPr/>
          <p:nvPr/>
        </p:nvSpPr>
        <p:spPr>
          <a:xfrm>
            <a:off x="10618143" y="5047804"/>
            <a:ext cx="6364932" cy="152400"/>
          </a:xfrm>
          <a:prstGeom prst="rect">
            <a:avLst/>
          </a:prstGeom>
          <a:solidFill>
            <a:srgbClr val="EFE8D9"/>
          </a:solidFill>
          <a:ln w="9525">
            <a:solidFill>
              <a:srgbClr val="DCD4BF"/>
            </a:solidFill>
            <a:prstDash val="solid"/>
          </a:ln>
        </p:spPr>
      </p:sp>
      <p:sp>
        <p:nvSpPr>
          <p:cNvPr id="30" name="Shape 28"/>
          <p:cNvSpPr/>
          <p:nvPr/>
        </p:nvSpPr>
        <p:spPr>
          <a:xfrm>
            <a:off x="10627668" y="5057329"/>
            <a:ext cx="6345882" cy="133350"/>
          </a:xfrm>
          <a:prstGeom prst="rect">
            <a:avLst/>
          </a:prstGeom>
          <a:solidFill>
            <a:srgbClr val="4A6B3A"/>
          </a:solidFill>
          <a:ln/>
        </p:spPr>
      </p:sp>
      <p:sp>
        <p:nvSpPr>
          <p:cNvPr id="31" name="Text 29"/>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2" name="Text 30"/>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4295422"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11 · THE COMPOSITE SCORE</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11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Five numbers, one sum, one decision.</a:t>
            </a:r>
            <a:endParaRPr lang="en-US" sz="4800" dirty="0"/>
          </a:p>
        </p:txBody>
      </p:sp>
      <p:sp>
        <p:nvSpPr>
          <p:cNvPr id="7" name="Shape 5"/>
          <p:cNvSpPr/>
          <p:nvPr/>
        </p:nvSpPr>
        <p:spPr>
          <a:xfrm>
            <a:off x="1066800" y="1853059"/>
            <a:ext cx="8082558" cy="5343525"/>
          </a:xfrm>
          <a:prstGeom prst="rect">
            <a:avLst/>
          </a:prstGeom>
          <a:solidFill>
            <a:srgbClr val="FFFFFF"/>
          </a:solidFill>
          <a:ln w="9525">
            <a:solidFill>
              <a:srgbClr val="DCD4BF"/>
            </a:solidFill>
            <a:prstDash val="solid"/>
          </a:ln>
        </p:spPr>
      </p:sp>
      <p:sp>
        <p:nvSpPr>
          <p:cNvPr id="8" name="Text 6"/>
          <p:cNvSpPr/>
          <p:nvPr/>
        </p:nvSpPr>
        <p:spPr>
          <a:xfrm>
            <a:off x="1495425" y="2205484"/>
            <a:ext cx="7442067" cy="438150"/>
          </a:xfrm>
          <a:prstGeom prst="rect">
            <a:avLst/>
          </a:prstGeom>
          <a:noFill/>
          <a:ln/>
        </p:spPr>
        <p:txBody>
          <a:bodyPr wrap="square" lIns="25400" tIns="25400" rIns="25400" bIns="25400" rtlCol="0" anchor="t">
            <a:normAutofit/>
          </a:bodyPr>
          <a:lstStyle/>
          <a:p>
            <a:pPr algn="l" indent="0" marL="0">
              <a:lnSpc>
                <a:spcPct val="175000"/>
              </a:lnSpc>
              <a:buNone/>
            </a:pPr>
            <a:r>
              <a:rPr lang="en-US" sz="1800" spc="324" kern="0" dirty="0">
                <a:solidFill>
                  <a:srgbClr val="7A8190"/>
                </a:solidFill>
                <a:latin typeface="Courier New" pitchFamily="34" charset="0"/>
                <a:ea typeface="Courier New" pitchFamily="34" charset="-122"/>
                <a:cs typeface="Courier New" pitchFamily="34" charset="-120"/>
              </a:rPr>
              <a:t>BOT/SIGNALS/AGGREGATOR.PY</a:t>
            </a:r>
            <a:endParaRPr lang="en-US" sz="1800" dirty="0"/>
          </a:p>
        </p:txBody>
      </p:sp>
      <p:sp>
        <p:nvSpPr>
          <p:cNvPr id="9" name="Text 7"/>
          <p:cNvSpPr/>
          <p:nvPr/>
        </p:nvSpPr>
        <p:spPr>
          <a:xfrm>
            <a:off x="1495425" y="2796034"/>
            <a:ext cx="7442067" cy="538163"/>
          </a:xfrm>
          <a:prstGeom prst="rect">
            <a:avLst/>
          </a:prstGeom>
          <a:noFill/>
          <a:ln/>
        </p:spPr>
        <p:txBody>
          <a:bodyPr wrap="square" lIns="25400" tIns="25400" rIns="25400" bIns="25400" rtlCol="0" anchor="t">
            <a:normAutofit/>
          </a:bodyPr>
          <a:lstStyle/>
          <a:p>
            <a:pPr algn="l" indent="0" marL="0">
              <a:lnSpc>
                <a:spcPct val="175000"/>
              </a:lnSpc>
              <a:buNone/>
            </a:pPr>
            <a:r>
              <a:rPr lang="en-US" sz="2250" dirty="0">
                <a:solidFill>
                  <a:srgbClr val="1A1C21"/>
                </a:solidFill>
                <a:latin typeface="Courier New" pitchFamily="34" charset="0"/>
                <a:ea typeface="Courier New" pitchFamily="34" charset="-122"/>
                <a:cs typeface="Courier New" pitchFamily="34" charset="-120"/>
              </a:rPr>
              <a:t>composite_score </a:t>
            </a:r>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endParaRPr lang="en-US" sz="2250" dirty="0"/>
          </a:p>
        </p:txBody>
      </p:sp>
      <p:sp>
        <p:nvSpPr>
          <p:cNvPr id="10" name="Text 8"/>
          <p:cNvSpPr/>
          <p:nvPr/>
        </p:nvSpPr>
        <p:spPr>
          <a:xfrm>
            <a:off x="1762125" y="3296096"/>
            <a:ext cx="7175367" cy="566738"/>
          </a:xfrm>
          <a:prstGeom prst="rect">
            <a:avLst/>
          </a:prstGeom>
          <a:noFill/>
          <a:ln/>
        </p:spPr>
        <p:txBody>
          <a:bodyPr wrap="square" lIns="25400" tIns="25400" rIns="25400" bIns="25400" rtlCol="0" anchor="t">
            <a:normAutofit/>
          </a:bodyPr>
          <a:lstStyle/>
          <a:p>
            <a:pPr algn="l" indent="0" marL="0">
              <a:lnSpc>
                <a:spcPct val="175000"/>
              </a:lnSpc>
              <a:buNone/>
            </a:pPr>
            <a:r>
              <a:rPr lang="en-US" sz="2250" dirty="0">
                <a:solidFill>
                  <a:srgbClr val="B8862C"/>
                </a:solidFill>
                <a:latin typeface="Courier New" pitchFamily="34" charset="0"/>
                <a:ea typeface="Courier New" pitchFamily="34" charset="-122"/>
                <a:cs typeface="Courier New" pitchFamily="34" charset="-120"/>
              </a:rPr>
              <a:t>0.35</a:t>
            </a:r>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1A1C21"/>
                </a:solidFill>
                <a:latin typeface="Courier New" pitchFamily="34" charset="0"/>
                <a:ea typeface="Courier New" pitchFamily="34" charset="-122"/>
                <a:cs typeface="Courier New" pitchFamily="34" charset="-120"/>
              </a:rPr>
              <a:t>news_sentiment_z</a:t>
            </a:r>
            <a:endParaRPr lang="en-US" sz="2250" dirty="0"/>
          </a:p>
        </p:txBody>
      </p:sp>
      <p:sp>
        <p:nvSpPr>
          <p:cNvPr id="11" name="Text 9"/>
          <p:cNvSpPr/>
          <p:nvPr/>
        </p:nvSpPr>
        <p:spPr>
          <a:xfrm>
            <a:off x="1762125" y="3824734"/>
            <a:ext cx="7175367" cy="566738"/>
          </a:xfrm>
          <a:prstGeom prst="rect">
            <a:avLst/>
          </a:prstGeom>
          <a:noFill/>
          <a:ln/>
        </p:spPr>
        <p:txBody>
          <a:bodyPr wrap="square" lIns="25400" tIns="25400" rIns="25400" bIns="25400" rtlCol="0" anchor="t">
            <a:normAutofit/>
          </a:bodyPr>
          <a:lstStyle/>
          <a:p>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1F3A5F"/>
                </a:solidFill>
                <a:latin typeface="Courier New" pitchFamily="34" charset="0"/>
                <a:ea typeface="Courier New" pitchFamily="34" charset="-122"/>
                <a:cs typeface="Courier New" pitchFamily="34" charset="-120"/>
              </a:rPr>
              <a:t>0.25</a:t>
            </a:r>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1A1C21"/>
                </a:solidFill>
                <a:latin typeface="Courier New" pitchFamily="34" charset="0"/>
                <a:ea typeface="Courier New" pitchFamily="34" charset="-122"/>
                <a:cs typeface="Courier New" pitchFamily="34" charset="-120"/>
              </a:rPr>
              <a:t>politician_signal</a:t>
            </a:r>
            <a:endParaRPr lang="en-US" sz="2250" dirty="0"/>
          </a:p>
        </p:txBody>
      </p:sp>
      <p:sp>
        <p:nvSpPr>
          <p:cNvPr id="12" name="Text 10"/>
          <p:cNvSpPr/>
          <p:nvPr/>
        </p:nvSpPr>
        <p:spPr>
          <a:xfrm>
            <a:off x="1762125" y="4353371"/>
            <a:ext cx="7175367" cy="566738"/>
          </a:xfrm>
          <a:prstGeom prst="rect">
            <a:avLst/>
          </a:prstGeom>
          <a:noFill/>
          <a:ln/>
        </p:spPr>
        <p:txBody>
          <a:bodyPr wrap="square" lIns="25400" tIns="25400" rIns="25400" bIns="25400" rtlCol="0" anchor="t">
            <a:normAutofit/>
          </a:bodyPr>
          <a:lstStyle/>
          <a:p>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9E3B2A"/>
                </a:solidFill>
                <a:latin typeface="Courier New" pitchFamily="34" charset="0"/>
                <a:ea typeface="Courier New" pitchFamily="34" charset="-122"/>
                <a:cs typeface="Courier New" pitchFamily="34" charset="-120"/>
              </a:rPr>
              <a:t>0.20</a:t>
            </a:r>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1A1C21"/>
                </a:solidFill>
                <a:latin typeface="Courier New" pitchFamily="34" charset="0"/>
                <a:ea typeface="Courier New" pitchFamily="34" charset="-122"/>
                <a:cs typeface="Courier New" pitchFamily="34" charset="-120"/>
              </a:rPr>
              <a:t>investor_signal</a:t>
            </a:r>
            <a:endParaRPr lang="en-US" sz="2250" dirty="0"/>
          </a:p>
        </p:txBody>
      </p:sp>
      <p:sp>
        <p:nvSpPr>
          <p:cNvPr id="13" name="Text 11"/>
          <p:cNvSpPr/>
          <p:nvPr/>
        </p:nvSpPr>
        <p:spPr>
          <a:xfrm>
            <a:off x="1762125" y="4882009"/>
            <a:ext cx="7175367" cy="566738"/>
          </a:xfrm>
          <a:prstGeom prst="rect">
            <a:avLst/>
          </a:prstGeom>
          <a:noFill/>
          <a:ln/>
        </p:spPr>
        <p:txBody>
          <a:bodyPr wrap="square" lIns="25400" tIns="25400" rIns="25400" bIns="25400" rtlCol="0" anchor="t">
            <a:normAutofit/>
          </a:bodyPr>
          <a:lstStyle/>
          <a:p>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4A6B3A"/>
                </a:solidFill>
                <a:latin typeface="Courier New" pitchFamily="34" charset="0"/>
                <a:ea typeface="Courier New" pitchFamily="34" charset="-122"/>
                <a:cs typeface="Courier New" pitchFamily="34" charset="-120"/>
              </a:rPr>
              <a:t>0.15</a:t>
            </a:r>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1A1C21"/>
                </a:solidFill>
                <a:latin typeface="Courier New" pitchFamily="34" charset="0"/>
                <a:ea typeface="Courier New" pitchFamily="34" charset="-122"/>
                <a:cs typeface="Courier New" pitchFamily="34" charset="-120"/>
              </a:rPr>
              <a:t>momentum</a:t>
            </a:r>
            <a:endParaRPr lang="en-US" sz="2250" dirty="0"/>
          </a:p>
        </p:txBody>
      </p:sp>
      <p:sp>
        <p:nvSpPr>
          <p:cNvPr id="14" name="Text 12"/>
          <p:cNvSpPr/>
          <p:nvPr/>
        </p:nvSpPr>
        <p:spPr>
          <a:xfrm>
            <a:off x="1762125" y="5410646"/>
            <a:ext cx="7175367" cy="566738"/>
          </a:xfrm>
          <a:prstGeom prst="rect">
            <a:avLst/>
          </a:prstGeom>
          <a:noFill/>
          <a:ln/>
        </p:spPr>
        <p:txBody>
          <a:bodyPr wrap="square" lIns="25400" tIns="25400" rIns="25400" bIns="25400" rtlCol="0" anchor="t">
            <a:normAutofit/>
          </a:bodyPr>
          <a:lstStyle/>
          <a:p>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4A6B3A"/>
                </a:solidFill>
                <a:latin typeface="Courier New" pitchFamily="34" charset="0"/>
                <a:ea typeface="Courier New" pitchFamily="34" charset="-122"/>
                <a:cs typeface="Courier New" pitchFamily="34" charset="-120"/>
              </a:rPr>
              <a:t>0.05</a:t>
            </a:r>
            <a:pPr algn="l" indent="0" marL="0">
              <a:lnSpc>
                <a:spcPct val="175000"/>
              </a:lnSpc>
              <a:buNone/>
            </a:pPr>
            <a:r>
              <a:rPr lang="en-US" sz="2250" dirty="0">
                <a:solidFill>
                  <a:srgbClr val="7A8190"/>
                </a:solidFill>
                <a:latin typeface="Courier New" pitchFamily="34" charset="0"/>
                <a:ea typeface="Courier New" pitchFamily="34" charset="-122"/>
                <a:cs typeface="Courier New" pitchFamily="34" charset="-120"/>
              </a:rPr>
              <a:t>*</a:t>
            </a:r>
            <a:pPr algn="l" indent="0" marL="0">
              <a:lnSpc>
                <a:spcPct val="175000"/>
              </a:lnSpc>
              <a:buNone/>
            </a:pPr>
            <a:r>
              <a:rPr lang="en-US" sz="2250" dirty="0">
                <a:solidFill>
                  <a:srgbClr val="1A1C21"/>
                </a:solidFill>
                <a:latin typeface="Courier New" pitchFamily="34" charset="0"/>
                <a:ea typeface="Courier New" pitchFamily="34" charset="-122"/>
                <a:cs typeface="Courier New" pitchFamily="34" charset="-120"/>
              </a:rPr>
              <a:t>dip_bonus</a:t>
            </a:r>
            <a:endParaRPr lang="en-US" sz="2250" dirty="0"/>
          </a:p>
        </p:txBody>
      </p:sp>
      <p:sp>
        <p:nvSpPr>
          <p:cNvPr id="15" name="Shape 13"/>
          <p:cNvSpPr/>
          <p:nvPr/>
        </p:nvSpPr>
        <p:spPr>
          <a:xfrm>
            <a:off x="1495425" y="6205984"/>
            <a:ext cx="7225308" cy="9525"/>
          </a:xfrm>
          <a:prstGeom prst="rect">
            <a:avLst/>
          </a:prstGeom>
          <a:solidFill>
            <a:srgbClr val="DCD4BF"/>
          </a:solidFill>
          <a:ln/>
        </p:spPr>
      </p:sp>
      <p:sp>
        <p:nvSpPr>
          <p:cNvPr id="16" name="Text 14"/>
          <p:cNvSpPr/>
          <p:nvPr/>
        </p:nvSpPr>
        <p:spPr>
          <a:xfrm>
            <a:off x="1495425" y="6425059"/>
            <a:ext cx="7442067" cy="457200"/>
          </a:xfrm>
          <a:prstGeom prst="rect">
            <a:avLst/>
          </a:prstGeom>
          <a:noFill/>
          <a:ln/>
        </p:spPr>
        <p:txBody>
          <a:bodyPr wrap="square" lIns="25400" tIns="25400" rIns="25400" bIns="25400" rtlCol="0" anchor="t">
            <a:normAutofit/>
          </a:bodyPr>
          <a:lstStyle/>
          <a:p>
            <a:pPr algn="l" indent="0" marL="0">
              <a:lnSpc>
                <a:spcPct val="175000"/>
              </a:lnSpc>
              <a:buNone/>
            </a:pPr>
            <a:r>
              <a:rPr lang="en-US" sz="1800" dirty="0">
                <a:solidFill>
                  <a:srgbClr val="4A4F58"/>
                </a:solidFill>
                <a:latin typeface="Courier New" pitchFamily="34" charset="0"/>
                <a:ea typeface="Courier New" pitchFamily="34" charset="-122"/>
                <a:cs typeface="Courier New" pitchFamily="34" charset="-120"/>
              </a:rPr>
              <a:t>open if &gt; </a:t>
            </a:r>
            <a:pPr algn="l" indent="0" marL="0">
              <a:lnSpc>
                <a:spcPct val="175000"/>
              </a:lnSpc>
              <a:buNone/>
            </a:pPr>
            <a:r>
              <a:rPr lang="en-US" sz="1800" dirty="0">
                <a:solidFill>
                  <a:srgbClr val="4A6B3A"/>
                </a:solidFill>
                <a:latin typeface="Courier New" pitchFamily="34" charset="0"/>
                <a:ea typeface="Courier New" pitchFamily="34" charset="-122"/>
                <a:cs typeface="Courier New" pitchFamily="34" charset="-120"/>
              </a:rPr>
              <a:t>+1.0 </a:t>
            </a:r>
            <a:pPr algn="l" indent="0" marL="0">
              <a:lnSpc>
                <a:spcPct val="175000"/>
              </a:lnSpc>
              <a:buNone/>
            </a:pPr>
            <a:r>
              <a:rPr lang="en-US" sz="1800" dirty="0">
                <a:solidFill>
                  <a:srgbClr val="4A4F58"/>
                </a:solidFill>
                <a:latin typeface="Courier New" pitchFamily="34" charset="0"/>
                <a:ea typeface="Courier New" pitchFamily="34" charset="-122"/>
                <a:cs typeface="Courier New" pitchFamily="34" charset="-120"/>
              </a:rPr>
              <a:t>· close if &lt; </a:t>
            </a:r>
            <a:pPr algn="l" indent="0" marL="0">
              <a:lnSpc>
                <a:spcPct val="175000"/>
              </a:lnSpc>
              <a:buNone/>
            </a:pPr>
            <a:r>
              <a:rPr lang="en-US" sz="1800" dirty="0">
                <a:solidFill>
                  <a:srgbClr val="9E3B2A"/>
                </a:solidFill>
                <a:latin typeface="Courier New" pitchFamily="34" charset="0"/>
                <a:ea typeface="Courier New" pitchFamily="34" charset="-122"/>
                <a:cs typeface="Courier New" pitchFamily="34" charset="-120"/>
              </a:rPr>
              <a:t>−1.0</a:t>
            </a:r>
            <a:endParaRPr lang="en-US" sz="1800" dirty="0"/>
          </a:p>
        </p:txBody>
      </p:sp>
      <p:sp>
        <p:nvSpPr>
          <p:cNvPr id="17" name="Text 15"/>
          <p:cNvSpPr/>
          <p:nvPr/>
        </p:nvSpPr>
        <p:spPr>
          <a:xfrm>
            <a:off x="9873258" y="1853059"/>
            <a:ext cx="756838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1F3A5F"/>
                </a:solidFill>
                <a:latin typeface="Courier New" pitchFamily="34" charset="0"/>
                <a:ea typeface="Courier New" pitchFamily="34" charset="-122"/>
                <a:cs typeface="Courier New" pitchFamily="34" charset="-120"/>
              </a:rPr>
              <a:t>IN ENGLISH</a:t>
            </a:r>
            <a:endParaRPr lang="en-US" sz="1800" dirty="0"/>
          </a:p>
        </p:txBody>
      </p:sp>
      <p:sp>
        <p:nvSpPr>
          <p:cNvPr id="18" name="Text 16"/>
          <p:cNvSpPr/>
          <p:nvPr/>
        </p:nvSpPr>
        <p:spPr>
          <a:xfrm>
            <a:off x="9873258" y="2281684"/>
            <a:ext cx="7568380" cy="2472333"/>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Take each of the four signals, multiply it by how much we trust it, and add them up. News matters most because it's the freshest. Politicians and fund managers each get a fifth or a quarter. Price momentum is a tiebreaker. The dip bonus is a small nudge that lets us buy quality names after they sell off.</a:t>
            </a:r>
            <a:endParaRPr lang="en-US" sz="2250" dirty="0"/>
          </a:p>
        </p:txBody>
      </p:sp>
      <p:sp>
        <p:nvSpPr>
          <p:cNvPr id="19" name="Shape 17"/>
          <p:cNvSpPr/>
          <p:nvPr/>
        </p:nvSpPr>
        <p:spPr>
          <a:xfrm>
            <a:off x="9873258" y="5782717"/>
            <a:ext cx="7347942" cy="9525"/>
          </a:xfrm>
          <a:prstGeom prst="rect">
            <a:avLst/>
          </a:prstGeom>
          <a:solidFill>
            <a:srgbClr val="DCD4BF"/>
          </a:solidFill>
          <a:ln/>
        </p:spPr>
      </p:sp>
      <p:sp>
        <p:nvSpPr>
          <p:cNvPr id="20" name="Text 18"/>
          <p:cNvSpPr/>
          <p:nvPr/>
        </p:nvSpPr>
        <p:spPr>
          <a:xfrm>
            <a:off x="9873258" y="5211217"/>
            <a:ext cx="7429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B8862C"/>
                </a:solidFill>
                <a:latin typeface="Courier New" pitchFamily="34" charset="0"/>
                <a:ea typeface="Courier New" pitchFamily="34" charset="-122"/>
                <a:cs typeface="Courier New" pitchFamily="34" charset="-120"/>
              </a:rPr>
              <a:t>0.35</a:t>
            </a:r>
            <a:endParaRPr lang="en-US" sz="2250" dirty="0"/>
          </a:p>
        </p:txBody>
      </p:sp>
      <p:sp>
        <p:nvSpPr>
          <p:cNvPr id="21" name="Text 19"/>
          <p:cNvSpPr/>
          <p:nvPr/>
        </p:nvSpPr>
        <p:spPr>
          <a:xfrm>
            <a:off x="10730508" y="5115967"/>
            <a:ext cx="450742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Arial" pitchFamily="34" charset="0"/>
                <a:ea typeface="Arial" pitchFamily="34" charset="-122"/>
                <a:cs typeface="Arial" pitchFamily="34" charset="-120"/>
              </a:rPr>
              <a:t>news sentiment z</a:t>
            </a:r>
            <a:endParaRPr lang="en-US" sz="1950" dirty="0"/>
          </a:p>
        </p:txBody>
      </p:sp>
      <p:sp>
        <p:nvSpPr>
          <p:cNvPr id="22" name="Text 20"/>
          <p:cNvSpPr/>
          <p:nvPr/>
        </p:nvSpPr>
        <p:spPr>
          <a:xfrm>
            <a:off x="10730508" y="5411242"/>
            <a:ext cx="4507426" cy="31432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Arial" pitchFamily="34" charset="0"/>
                <a:ea typeface="Arial" pitchFamily="34" charset="-122"/>
                <a:cs typeface="Arial" pitchFamily="34" charset="-120"/>
              </a:rPr>
              <a:t>7-day rolling VADER z‑score</a:t>
            </a:r>
            <a:endParaRPr lang="en-US" sz="1800" dirty="0"/>
          </a:p>
        </p:txBody>
      </p:sp>
      <p:sp>
        <p:nvSpPr>
          <p:cNvPr id="23" name="Shape 21"/>
          <p:cNvSpPr/>
          <p:nvPr/>
        </p:nvSpPr>
        <p:spPr>
          <a:xfrm>
            <a:off x="15297150" y="5354092"/>
            <a:ext cx="1924050" cy="95250"/>
          </a:xfrm>
          <a:prstGeom prst="rect">
            <a:avLst/>
          </a:prstGeom>
          <a:solidFill>
            <a:srgbClr val="EFE8D9"/>
          </a:solidFill>
          <a:ln w="9525">
            <a:solidFill>
              <a:srgbClr val="DCD4BF"/>
            </a:solidFill>
            <a:prstDash val="solid"/>
          </a:ln>
        </p:spPr>
      </p:sp>
      <p:sp>
        <p:nvSpPr>
          <p:cNvPr id="24" name="Shape 22"/>
          <p:cNvSpPr/>
          <p:nvPr/>
        </p:nvSpPr>
        <p:spPr>
          <a:xfrm>
            <a:off x="15306675" y="5363617"/>
            <a:ext cx="1905000" cy="76200"/>
          </a:xfrm>
          <a:prstGeom prst="rect">
            <a:avLst/>
          </a:prstGeom>
          <a:solidFill>
            <a:srgbClr val="B8862C"/>
          </a:solidFill>
          <a:ln/>
        </p:spPr>
      </p:sp>
      <p:sp>
        <p:nvSpPr>
          <p:cNvPr id="25" name="Shape 23"/>
          <p:cNvSpPr/>
          <p:nvPr/>
        </p:nvSpPr>
        <p:spPr>
          <a:xfrm>
            <a:off x="9873258" y="6554242"/>
            <a:ext cx="7347942" cy="9525"/>
          </a:xfrm>
          <a:prstGeom prst="rect">
            <a:avLst/>
          </a:prstGeom>
          <a:solidFill>
            <a:srgbClr val="DCD4BF"/>
          </a:solidFill>
          <a:ln/>
        </p:spPr>
      </p:sp>
      <p:sp>
        <p:nvSpPr>
          <p:cNvPr id="26" name="Text 24"/>
          <p:cNvSpPr/>
          <p:nvPr/>
        </p:nvSpPr>
        <p:spPr>
          <a:xfrm>
            <a:off x="9873258" y="5982742"/>
            <a:ext cx="7429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1F3A5F"/>
                </a:solidFill>
                <a:latin typeface="Courier New" pitchFamily="34" charset="0"/>
                <a:ea typeface="Courier New" pitchFamily="34" charset="-122"/>
                <a:cs typeface="Courier New" pitchFamily="34" charset="-120"/>
              </a:rPr>
              <a:t>0.25</a:t>
            </a:r>
            <a:endParaRPr lang="en-US" sz="2250" dirty="0"/>
          </a:p>
        </p:txBody>
      </p:sp>
      <p:sp>
        <p:nvSpPr>
          <p:cNvPr id="27" name="Text 25"/>
          <p:cNvSpPr/>
          <p:nvPr/>
        </p:nvSpPr>
        <p:spPr>
          <a:xfrm>
            <a:off x="10730508" y="5887492"/>
            <a:ext cx="450742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Arial" pitchFamily="34" charset="0"/>
                <a:ea typeface="Arial" pitchFamily="34" charset="-122"/>
                <a:cs typeface="Arial" pitchFamily="34" charset="-120"/>
              </a:rPr>
              <a:t>politician signal</a:t>
            </a:r>
            <a:endParaRPr lang="en-US" sz="1950" dirty="0"/>
          </a:p>
        </p:txBody>
      </p:sp>
      <p:sp>
        <p:nvSpPr>
          <p:cNvPr id="28" name="Text 26"/>
          <p:cNvSpPr/>
          <p:nvPr/>
        </p:nvSpPr>
        <p:spPr>
          <a:xfrm>
            <a:off x="10730508" y="6182767"/>
            <a:ext cx="4507426" cy="31432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Arial" pitchFamily="34" charset="0"/>
                <a:ea typeface="Arial" pitchFamily="34" charset="-122"/>
                <a:cs typeface="Arial" pitchFamily="34" charset="-120"/>
              </a:rPr>
              <a:t>60‑day net congressional $</a:t>
            </a:r>
            <a:endParaRPr lang="en-US" sz="1800" dirty="0"/>
          </a:p>
        </p:txBody>
      </p:sp>
      <p:sp>
        <p:nvSpPr>
          <p:cNvPr id="29" name="Shape 27"/>
          <p:cNvSpPr/>
          <p:nvPr/>
        </p:nvSpPr>
        <p:spPr>
          <a:xfrm>
            <a:off x="15297150" y="6125617"/>
            <a:ext cx="1924050" cy="95250"/>
          </a:xfrm>
          <a:prstGeom prst="rect">
            <a:avLst/>
          </a:prstGeom>
          <a:solidFill>
            <a:srgbClr val="EFE8D9"/>
          </a:solidFill>
          <a:ln w="9525">
            <a:solidFill>
              <a:srgbClr val="DCD4BF"/>
            </a:solidFill>
            <a:prstDash val="solid"/>
          </a:ln>
        </p:spPr>
      </p:sp>
      <p:sp>
        <p:nvSpPr>
          <p:cNvPr id="30" name="Shape 28"/>
          <p:cNvSpPr/>
          <p:nvPr/>
        </p:nvSpPr>
        <p:spPr>
          <a:xfrm>
            <a:off x="15306675" y="6135142"/>
            <a:ext cx="1360587" cy="76200"/>
          </a:xfrm>
          <a:prstGeom prst="rect">
            <a:avLst/>
          </a:prstGeom>
          <a:solidFill>
            <a:srgbClr val="1F3A5F"/>
          </a:solidFill>
          <a:ln/>
        </p:spPr>
      </p:sp>
      <p:sp>
        <p:nvSpPr>
          <p:cNvPr id="31" name="Shape 29"/>
          <p:cNvSpPr/>
          <p:nvPr/>
        </p:nvSpPr>
        <p:spPr>
          <a:xfrm>
            <a:off x="9873258" y="7316242"/>
            <a:ext cx="7347942" cy="9525"/>
          </a:xfrm>
          <a:prstGeom prst="rect">
            <a:avLst/>
          </a:prstGeom>
          <a:solidFill>
            <a:srgbClr val="DCD4BF"/>
          </a:solidFill>
          <a:ln/>
        </p:spPr>
      </p:sp>
      <p:sp>
        <p:nvSpPr>
          <p:cNvPr id="32" name="Text 30"/>
          <p:cNvSpPr/>
          <p:nvPr/>
        </p:nvSpPr>
        <p:spPr>
          <a:xfrm>
            <a:off x="9873258" y="6749504"/>
            <a:ext cx="7429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9E3B2A"/>
                </a:solidFill>
                <a:latin typeface="Courier New" pitchFamily="34" charset="0"/>
                <a:ea typeface="Courier New" pitchFamily="34" charset="-122"/>
                <a:cs typeface="Courier New" pitchFamily="34" charset="-120"/>
              </a:rPr>
              <a:t>0.20</a:t>
            </a:r>
            <a:endParaRPr lang="en-US" sz="2250" dirty="0"/>
          </a:p>
        </p:txBody>
      </p:sp>
      <p:sp>
        <p:nvSpPr>
          <p:cNvPr id="33" name="Text 31"/>
          <p:cNvSpPr/>
          <p:nvPr/>
        </p:nvSpPr>
        <p:spPr>
          <a:xfrm>
            <a:off x="10730508" y="6659017"/>
            <a:ext cx="450742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Arial" pitchFamily="34" charset="0"/>
                <a:ea typeface="Arial" pitchFamily="34" charset="-122"/>
                <a:cs typeface="Arial" pitchFamily="34" charset="-120"/>
              </a:rPr>
              <a:t>investor signal</a:t>
            </a:r>
            <a:endParaRPr lang="en-US" sz="1950" dirty="0"/>
          </a:p>
        </p:txBody>
      </p:sp>
      <p:sp>
        <p:nvSpPr>
          <p:cNvPr id="34" name="Text 32"/>
          <p:cNvSpPr/>
          <p:nvPr/>
        </p:nvSpPr>
        <p:spPr>
          <a:xfrm>
            <a:off x="10730508" y="6954292"/>
            <a:ext cx="450742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Arial" pitchFamily="34" charset="0"/>
                <a:ea typeface="Arial" pitchFamily="34" charset="-122"/>
                <a:cs typeface="Arial" pitchFamily="34" charset="-120"/>
              </a:rPr>
              <a:t>13F $ delta from tracked funds</a:t>
            </a:r>
            <a:endParaRPr lang="en-US" sz="1800" dirty="0"/>
          </a:p>
        </p:txBody>
      </p:sp>
      <p:sp>
        <p:nvSpPr>
          <p:cNvPr id="35" name="Shape 33"/>
          <p:cNvSpPr/>
          <p:nvPr/>
        </p:nvSpPr>
        <p:spPr>
          <a:xfrm>
            <a:off x="15297150" y="6892379"/>
            <a:ext cx="1924050" cy="95250"/>
          </a:xfrm>
          <a:prstGeom prst="rect">
            <a:avLst/>
          </a:prstGeom>
          <a:solidFill>
            <a:srgbClr val="EFE8D9"/>
          </a:solidFill>
          <a:ln w="9525">
            <a:solidFill>
              <a:srgbClr val="DCD4BF"/>
            </a:solidFill>
            <a:prstDash val="solid"/>
          </a:ln>
        </p:spPr>
      </p:sp>
      <p:sp>
        <p:nvSpPr>
          <p:cNvPr id="36" name="Shape 34"/>
          <p:cNvSpPr/>
          <p:nvPr/>
        </p:nvSpPr>
        <p:spPr>
          <a:xfrm>
            <a:off x="15306675" y="6901904"/>
            <a:ext cx="1088529" cy="76200"/>
          </a:xfrm>
          <a:prstGeom prst="rect">
            <a:avLst/>
          </a:prstGeom>
          <a:solidFill>
            <a:srgbClr val="9E3B2A"/>
          </a:solidFill>
          <a:ln/>
        </p:spPr>
      </p:sp>
      <p:sp>
        <p:nvSpPr>
          <p:cNvPr id="37" name="Shape 35"/>
          <p:cNvSpPr/>
          <p:nvPr/>
        </p:nvSpPr>
        <p:spPr>
          <a:xfrm>
            <a:off x="9873258" y="8087767"/>
            <a:ext cx="7347942" cy="9525"/>
          </a:xfrm>
          <a:prstGeom prst="rect">
            <a:avLst/>
          </a:prstGeom>
          <a:solidFill>
            <a:srgbClr val="DCD4BF"/>
          </a:solidFill>
          <a:ln/>
        </p:spPr>
      </p:sp>
      <p:sp>
        <p:nvSpPr>
          <p:cNvPr id="38" name="Text 36"/>
          <p:cNvSpPr/>
          <p:nvPr/>
        </p:nvSpPr>
        <p:spPr>
          <a:xfrm>
            <a:off x="9873258" y="7516267"/>
            <a:ext cx="7429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4A6B3A"/>
                </a:solidFill>
                <a:latin typeface="Courier New" pitchFamily="34" charset="0"/>
                <a:ea typeface="Courier New" pitchFamily="34" charset="-122"/>
                <a:cs typeface="Courier New" pitchFamily="34" charset="-120"/>
              </a:rPr>
              <a:t>0.15</a:t>
            </a:r>
            <a:endParaRPr lang="en-US" sz="2250" dirty="0"/>
          </a:p>
        </p:txBody>
      </p:sp>
      <p:sp>
        <p:nvSpPr>
          <p:cNvPr id="39" name="Text 37"/>
          <p:cNvSpPr/>
          <p:nvPr/>
        </p:nvSpPr>
        <p:spPr>
          <a:xfrm>
            <a:off x="10730508" y="7421017"/>
            <a:ext cx="450742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Arial" pitchFamily="34" charset="0"/>
                <a:ea typeface="Arial" pitchFamily="34" charset="-122"/>
                <a:cs typeface="Arial" pitchFamily="34" charset="-120"/>
              </a:rPr>
              <a:t>momentum</a:t>
            </a:r>
            <a:endParaRPr lang="en-US" sz="1950" dirty="0"/>
          </a:p>
        </p:txBody>
      </p:sp>
      <p:sp>
        <p:nvSpPr>
          <p:cNvPr id="40" name="Text 38"/>
          <p:cNvSpPr/>
          <p:nvPr/>
        </p:nvSpPr>
        <p:spPr>
          <a:xfrm>
            <a:off x="10730508" y="7716292"/>
            <a:ext cx="4507426" cy="31432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Arial" pitchFamily="34" charset="0"/>
                <a:ea typeface="Arial" pitchFamily="34" charset="-122"/>
                <a:cs typeface="Arial" pitchFamily="34" charset="-120"/>
              </a:rPr>
              <a:t>20‑day return − SPY</a:t>
            </a:r>
            <a:endParaRPr lang="en-US" sz="1800" dirty="0"/>
          </a:p>
        </p:txBody>
      </p:sp>
      <p:sp>
        <p:nvSpPr>
          <p:cNvPr id="41" name="Shape 39"/>
          <p:cNvSpPr/>
          <p:nvPr/>
        </p:nvSpPr>
        <p:spPr>
          <a:xfrm>
            <a:off x="15297150" y="7659142"/>
            <a:ext cx="1924050" cy="95250"/>
          </a:xfrm>
          <a:prstGeom prst="rect">
            <a:avLst/>
          </a:prstGeom>
          <a:solidFill>
            <a:srgbClr val="EFE8D9"/>
          </a:solidFill>
          <a:ln w="9525">
            <a:solidFill>
              <a:srgbClr val="DCD4BF"/>
            </a:solidFill>
            <a:prstDash val="solid"/>
          </a:ln>
        </p:spPr>
      </p:sp>
      <p:sp>
        <p:nvSpPr>
          <p:cNvPr id="42" name="Shape 40"/>
          <p:cNvSpPr/>
          <p:nvPr/>
        </p:nvSpPr>
        <p:spPr>
          <a:xfrm>
            <a:off x="15306675" y="7668667"/>
            <a:ext cx="816322" cy="76200"/>
          </a:xfrm>
          <a:prstGeom prst="rect">
            <a:avLst/>
          </a:prstGeom>
          <a:solidFill>
            <a:srgbClr val="4A6B3A"/>
          </a:solidFill>
          <a:ln/>
        </p:spPr>
      </p:sp>
      <p:sp>
        <p:nvSpPr>
          <p:cNvPr id="43" name="Text 41"/>
          <p:cNvSpPr/>
          <p:nvPr/>
        </p:nvSpPr>
        <p:spPr>
          <a:xfrm>
            <a:off x="9873258" y="8283029"/>
            <a:ext cx="7429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4A6B3A"/>
                </a:solidFill>
                <a:latin typeface="Courier New" pitchFamily="34" charset="0"/>
                <a:ea typeface="Courier New" pitchFamily="34" charset="-122"/>
                <a:cs typeface="Courier New" pitchFamily="34" charset="-120"/>
              </a:rPr>
              <a:t>0.05</a:t>
            </a:r>
            <a:endParaRPr lang="en-US" sz="2250" dirty="0"/>
          </a:p>
        </p:txBody>
      </p:sp>
      <p:sp>
        <p:nvSpPr>
          <p:cNvPr id="44" name="Text 42"/>
          <p:cNvSpPr/>
          <p:nvPr/>
        </p:nvSpPr>
        <p:spPr>
          <a:xfrm>
            <a:off x="10730508" y="8192542"/>
            <a:ext cx="450742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Arial" pitchFamily="34" charset="0"/>
                <a:ea typeface="Arial" pitchFamily="34" charset="-122"/>
                <a:cs typeface="Arial" pitchFamily="34" charset="-120"/>
              </a:rPr>
              <a:t>dip bonus</a:t>
            </a:r>
            <a:endParaRPr lang="en-US" sz="1950" dirty="0"/>
          </a:p>
        </p:txBody>
      </p:sp>
      <p:sp>
        <p:nvSpPr>
          <p:cNvPr id="45" name="Text 43"/>
          <p:cNvSpPr/>
          <p:nvPr/>
        </p:nvSpPr>
        <p:spPr>
          <a:xfrm>
            <a:off x="10730508" y="8487817"/>
            <a:ext cx="450742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Arial" pitchFamily="34" charset="0"/>
                <a:ea typeface="Arial" pitchFamily="34" charset="-122"/>
                <a:cs typeface="Arial" pitchFamily="34" charset="-120"/>
              </a:rPr>
              <a:t>+1 if drawdown &gt; 25 %</a:t>
            </a:r>
            <a:endParaRPr lang="en-US" sz="1800" dirty="0"/>
          </a:p>
        </p:txBody>
      </p:sp>
      <p:sp>
        <p:nvSpPr>
          <p:cNvPr id="46" name="Shape 44"/>
          <p:cNvSpPr/>
          <p:nvPr/>
        </p:nvSpPr>
        <p:spPr>
          <a:xfrm>
            <a:off x="15297150" y="8425904"/>
            <a:ext cx="1924050" cy="95250"/>
          </a:xfrm>
          <a:prstGeom prst="rect">
            <a:avLst/>
          </a:prstGeom>
          <a:solidFill>
            <a:srgbClr val="EFE8D9"/>
          </a:solidFill>
          <a:ln w="9525">
            <a:solidFill>
              <a:srgbClr val="DCD4BF"/>
            </a:solidFill>
            <a:prstDash val="solid"/>
          </a:ln>
        </p:spPr>
      </p:sp>
      <p:sp>
        <p:nvSpPr>
          <p:cNvPr id="47" name="Shape 45"/>
          <p:cNvSpPr/>
          <p:nvPr/>
        </p:nvSpPr>
        <p:spPr>
          <a:xfrm>
            <a:off x="15306675" y="8435429"/>
            <a:ext cx="272058" cy="76200"/>
          </a:xfrm>
          <a:prstGeom prst="rect">
            <a:avLst/>
          </a:prstGeom>
          <a:solidFill>
            <a:srgbClr val="4A6B3A"/>
          </a:solidFill>
          <a:ln/>
        </p:spPr>
      </p:sp>
      <p:sp>
        <p:nvSpPr>
          <p:cNvPr id="48" name="Text 46"/>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49" name="Text 47"/>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8D9"/>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579544"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12 · SCORE TO ACTION</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12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What the score actually triggers.</a:t>
            </a:r>
            <a:endParaRPr lang="en-US" sz="4800" dirty="0"/>
          </a:p>
        </p:txBody>
      </p:sp>
      <p:sp>
        <p:nvSpPr>
          <p:cNvPr id="7" name="Shape 5"/>
          <p:cNvSpPr/>
          <p:nvPr/>
        </p:nvSpPr>
        <p:spPr>
          <a:xfrm>
            <a:off x="1066800" y="2005459"/>
            <a:ext cx="5206901" cy="3028950"/>
          </a:xfrm>
          <a:prstGeom prst="rect">
            <a:avLst/>
          </a:prstGeom>
          <a:solidFill>
            <a:srgbClr val="FFFFFF"/>
          </a:solidFill>
          <a:ln w="9525">
            <a:solidFill>
              <a:srgbClr val="DCD4BF"/>
            </a:solidFill>
            <a:prstDash val="solid"/>
          </a:ln>
        </p:spPr>
      </p:sp>
      <p:sp>
        <p:nvSpPr>
          <p:cNvPr id="8" name="Text 6"/>
          <p:cNvSpPr/>
          <p:nvPr/>
        </p:nvSpPr>
        <p:spPr>
          <a:xfrm>
            <a:off x="1419225" y="2357884"/>
            <a:ext cx="463711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4A6B3A"/>
                </a:solidFill>
                <a:latin typeface="Courier New" pitchFamily="34" charset="0"/>
                <a:ea typeface="Courier New" pitchFamily="34" charset="-122"/>
                <a:cs typeface="Courier New" pitchFamily="34" charset="-120"/>
              </a:rPr>
              <a:t>SCORE ≥ +1.0</a:t>
            </a:r>
            <a:endParaRPr lang="en-US" sz="1800" dirty="0"/>
          </a:p>
        </p:txBody>
      </p:sp>
      <p:sp>
        <p:nvSpPr>
          <p:cNvPr id="9" name="Text 7"/>
          <p:cNvSpPr/>
          <p:nvPr/>
        </p:nvSpPr>
        <p:spPr>
          <a:xfrm>
            <a:off x="1419225" y="2748409"/>
            <a:ext cx="4637112" cy="628650"/>
          </a:xfrm>
          <a:prstGeom prst="rect">
            <a:avLst/>
          </a:prstGeom>
          <a:noFill/>
          <a:ln/>
        </p:spPr>
        <p:txBody>
          <a:bodyPr wrap="square" lIns="25400" tIns="25400" rIns="25400" bIns="25400" rtlCol="0" anchor="t">
            <a:normAutofit/>
          </a:bodyPr>
          <a:lstStyle/>
          <a:p>
            <a:pPr algn="l" indent="0" marL="0">
              <a:buNone/>
            </a:pPr>
            <a:r>
              <a:rPr lang="en-US" sz="4050" spc="-81" kern="0" dirty="0">
                <a:solidFill>
                  <a:srgbClr val="4A6B3A"/>
                </a:solidFill>
                <a:latin typeface="Georgia" pitchFamily="34" charset="0"/>
                <a:ea typeface="Georgia" pitchFamily="34" charset="-122"/>
                <a:cs typeface="Georgia" pitchFamily="34" charset="-120"/>
              </a:rPr>
              <a:t>Buy zone</a:t>
            </a:r>
            <a:endParaRPr lang="en-US" sz="4050" dirty="0"/>
          </a:p>
        </p:txBody>
      </p:sp>
      <p:sp>
        <p:nvSpPr>
          <p:cNvPr id="10" name="Text 8"/>
          <p:cNvSpPr/>
          <p:nvPr/>
        </p:nvSpPr>
        <p:spPr>
          <a:xfrm>
            <a:off x="1419225" y="3529459"/>
            <a:ext cx="4637112"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A new name enters the buy queue, ranked by score, subject to portfolio rules.</a:t>
            </a:r>
            <a:endParaRPr lang="en-US" sz="1950" dirty="0"/>
          </a:p>
        </p:txBody>
      </p:sp>
      <p:sp>
        <p:nvSpPr>
          <p:cNvPr id="11" name="Shape 9"/>
          <p:cNvSpPr/>
          <p:nvPr/>
        </p:nvSpPr>
        <p:spPr>
          <a:xfrm>
            <a:off x="6540401" y="2005459"/>
            <a:ext cx="5207050" cy="3028950"/>
          </a:xfrm>
          <a:prstGeom prst="rect">
            <a:avLst/>
          </a:prstGeom>
          <a:solidFill>
            <a:srgbClr val="FFFFFF"/>
          </a:solidFill>
          <a:ln w="9525">
            <a:solidFill>
              <a:srgbClr val="DCD4BF"/>
            </a:solidFill>
            <a:prstDash val="solid"/>
          </a:ln>
        </p:spPr>
      </p:sp>
      <p:sp>
        <p:nvSpPr>
          <p:cNvPr id="12" name="Text 10"/>
          <p:cNvSpPr/>
          <p:nvPr/>
        </p:nvSpPr>
        <p:spPr>
          <a:xfrm>
            <a:off x="6892826" y="2357884"/>
            <a:ext cx="4637266"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A8190"/>
                </a:solidFill>
                <a:latin typeface="Courier New" pitchFamily="34" charset="0"/>
                <a:ea typeface="Courier New" pitchFamily="34" charset="-122"/>
                <a:cs typeface="Courier New" pitchFamily="34" charset="-120"/>
              </a:rPr>
              <a:t>SCORE +1.0 TO −1.0</a:t>
            </a:r>
            <a:endParaRPr lang="en-US" sz="1800" dirty="0"/>
          </a:p>
        </p:txBody>
      </p:sp>
      <p:sp>
        <p:nvSpPr>
          <p:cNvPr id="13" name="Text 11"/>
          <p:cNvSpPr/>
          <p:nvPr/>
        </p:nvSpPr>
        <p:spPr>
          <a:xfrm>
            <a:off x="6892826" y="2748409"/>
            <a:ext cx="4637266" cy="628650"/>
          </a:xfrm>
          <a:prstGeom prst="rect">
            <a:avLst/>
          </a:prstGeom>
          <a:noFill/>
          <a:ln/>
        </p:spPr>
        <p:txBody>
          <a:bodyPr wrap="square" lIns="25400" tIns="25400" rIns="25400" bIns="25400" rtlCol="0" anchor="t">
            <a:normAutofit/>
          </a:bodyPr>
          <a:lstStyle/>
          <a:p>
            <a:pPr algn="l" indent="0" marL="0">
              <a:buNone/>
            </a:pPr>
            <a:r>
              <a:rPr lang="en-US" sz="4050" spc="-81" kern="0" dirty="0">
                <a:solidFill>
                  <a:srgbClr val="7A8190"/>
                </a:solidFill>
                <a:latin typeface="Georgia" pitchFamily="34" charset="0"/>
                <a:ea typeface="Georgia" pitchFamily="34" charset="-122"/>
                <a:cs typeface="Georgia" pitchFamily="34" charset="-120"/>
              </a:rPr>
              <a:t>Hold zone</a:t>
            </a:r>
            <a:endParaRPr lang="en-US" sz="4050" dirty="0"/>
          </a:p>
        </p:txBody>
      </p:sp>
      <p:sp>
        <p:nvSpPr>
          <p:cNvPr id="14" name="Text 12"/>
          <p:cNvSpPr/>
          <p:nvPr/>
        </p:nvSpPr>
        <p:spPr>
          <a:xfrm>
            <a:off x="6892826" y="3529459"/>
            <a:ext cx="4637266"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Do nothing. Positions we already own keep sitting.</a:t>
            </a:r>
            <a:endParaRPr lang="en-US" sz="1950" dirty="0"/>
          </a:p>
        </p:txBody>
      </p:sp>
      <p:sp>
        <p:nvSpPr>
          <p:cNvPr id="15" name="Shape 13"/>
          <p:cNvSpPr/>
          <p:nvPr/>
        </p:nvSpPr>
        <p:spPr>
          <a:xfrm>
            <a:off x="12014150" y="2005459"/>
            <a:ext cx="5207050" cy="3028950"/>
          </a:xfrm>
          <a:prstGeom prst="rect">
            <a:avLst/>
          </a:prstGeom>
          <a:solidFill>
            <a:srgbClr val="FFFFFF"/>
          </a:solidFill>
          <a:ln w="9525">
            <a:solidFill>
              <a:srgbClr val="DCD4BF"/>
            </a:solidFill>
            <a:prstDash val="solid"/>
          </a:ln>
        </p:spPr>
      </p:sp>
      <p:sp>
        <p:nvSpPr>
          <p:cNvPr id="16" name="Text 14"/>
          <p:cNvSpPr/>
          <p:nvPr/>
        </p:nvSpPr>
        <p:spPr>
          <a:xfrm>
            <a:off x="12366575" y="2357884"/>
            <a:ext cx="4637266"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9E3B2A"/>
                </a:solidFill>
                <a:latin typeface="Courier New" pitchFamily="34" charset="0"/>
                <a:ea typeface="Courier New" pitchFamily="34" charset="-122"/>
                <a:cs typeface="Courier New" pitchFamily="34" charset="-120"/>
              </a:rPr>
              <a:t>SCORE ≤ −1.0</a:t>
            </a:r>
            <a:endParaRPr lang="en-US" sz="1800" dirty="0"/>
          </a:p>
        </p:txBody>
      </p:sp>
      <p:sp>
        <p:nvSpPr>
          <p:cNvPr id="17" name="Text 15"/>
          <p:cNvSpPr/>
          <p:nvPr/>
        </p:nvSpPr>
        <p:spPr>
          <a:xfrm>
            <a:off x="12366575" y="2748409"/>
            <a:ext cx="4637266" cy="628650"/>
          </a:xfrm>
          <a:prstGeom prst="rect">
            <a:avLst/>
          </a:prstGeom>
          <a:noFill/>
          <a:ln/>
        </p:spPr>
        <p:txBody>
          <a:bodyPr wrap="square" lIns="25400" tIns="25400" rIns="25400" bIns="25400" rtlCol="0" anchor="t">
            <a:normAutofit/>
          </a:bodyPr>
          <a:lstStyle/>
          <a:p>
            <a:pPr algn="l" indent="0" marL="0">
              <a:buNone/>
            </a:pPr>
            <a:r>
              <a:rPr lang="en-US" sz="4050" spc="-81" kern="0" dirty="0">
                <a:solidFill>
                  <a:srgbClr val="9E3B2A"/>
                </a:solidFill>
                <a:latin typeface="Georgia" pitchFamily="34" charset="0"/>
                <a:ea typeface="Georgia" pitchFamily="34" charset="-122"/>
                <a:cs typeface="Georgia" pitchFamily="34" charset="-120"/>
              </a:rPr>
              <a:t>Sell zone</a:t>
            </a:r>
            <a:endParaRPr lang="en-US" sz="4050" dirty="0"/>
          </a:p>
        </p:txBody>
      </p:sp>
      <p:sp>
        <p:nvSpPr>
          <p:cNvPr id="18" name="Text 16"/>
          <p:cNvSpPr/>
          <p:nvPr/>
        </p:nvSpPr>
        <p:spPr>
          <a:xfrm>
            <a:off x="12366575" y="3529459"/>
            <a:ext cx="4637266"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A4F58"/>
                </a:solidFill>
                <a:latin typeface="Arial" pitchFamily="34" charset="0"/>
                <a:ea typeface="Arial" pitchFamily="34" charset="-122"/>
                <a:cs typeface="Arial" pitchFamily="34" charset="-120"/>
              </a:rPr>
              <a:t>If we own it, close the position. We log the reason and the signal breakdown.</a:t>
            </a:r>
            <a:endParaRPr lang="en-US" sz="1950" dirty="0"/>
          </a:p>
        </p:txBody>
      </p:sp>
      <p:sp>
        <p:nvSpPr>
          <p:cNvPr id="19" name="Text 17"/>
          <p:cNvSpPr/>
          <p:nvPr/>
        </p:nvSpPr>
        <p:spPr>
          <a:xfrm>
            <a:off x="1066800" y="5567809"/>
            <a:ext cx="8044815"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1F3A5F"/>
                </a:solidFill>
                <a:latin typeface="Courier New" pitchFamily="34" charset="0"/>
                <a:ea typeface="Courier New" pitchFamily="34" charset="-122"/>
                <a:cs typeface="Courier New" pitchFamily="34" charset="-120"/>
              </a:rPr>
              <a:t>WHY THE WIDE DEAD ZONE?</a:t>
            </a:r>
            <a:endParaRPr lang="en-US" sz="1800" dirty="0"/>
          </a:p>
        </p:txBody>
      </p:sp>
      <p:sp>
        <p:nvSpPr>
          <p:cNvPr id="20" name="Text 18"/>
          <p:cNvSpPr/>
          <p:nvPr/>
        </p:nvSpPr>
        <p:spPr>
          <a:xfrm>
            <a:off x="1066800" y="5996434"/>
            <a:ext cx="8044815" cy="1660922"/>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We deliberately leave a gap between −1 and +1 where nothing happens. Scores drift around a little every tick. Without the buffer, we'd churn trades (and commissions, and slippage) on noise.</a:t>
            </a:r>
            <a:endParaRPr lang="en-US" sz="2250" dirty="0"/>
          </a:p>
        </p:txBody>
      </p:sp>
      <p:sp>
        <p:nvSpPr>
          <p:cNvPr id="21" name="Text 19"/>
          <p:cNvSpPr/>
          <p:nvPr/>
        </p:nvSpPr>
        <p:spPr>
          <a:xfrm>
            <a:off x="9410700" y="5567809"/>
            <a:ext cx="8044815"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1F3A5F"/>
                </a:solidFill>
                <a:latin typeface="Courier New" pitchFamily="34" charset="0"/>
                <a:ea typeface="Courier New" pitchFamily="34" charset="-122"/>
                <a:cs typeface="Courier New" pitchFamily="34" charset="-120"/>
              </a:rPr>
              <a:t>WHAT THE DECISION LOG RECORDS</a:t>
            </a:r>
            <a:endParaRPr lang="en-US" sz="1800" dirty="0"/>
          </a:p>
        </p:txBody>
      </p:sp>
      <p:sp>
        <p:nvSpPr>
          <p:cNvPr id="22" name="Text 20"/>
          <p:cNvSpPr/>
          <p:nvPr/>
        </p:nvSpPr>
        <p:spPr>
          <a:xfrm>
            <a:off x="9410700" y="5996434"/>
            <a:ext cx="8044815" cy="1660922"/>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For every ticker, every tick: the action ( buy, sell, hold, add, trim, stop ), the composite score, the per‑signal components, and a sentence like "news avg_vader +0.32 over 9 headlines (+1.8σ); 20d return +12.4 % vs SPY +3.1 %".</a:t>
            </a:r>
            <a:endParaRPr lang="en-US" sz="2250" dirty="0"/>
          </a:p>
        </p:txBody>
      </p:sp>
      <p:sp>
        <p:nvSpPr>
          <p:cNvPr id="23" name="Text 21"/>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24" name="Text 22"/>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221605"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13 · DECISION TREE</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13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Every tick, every holding is re‑checked in this order.</a:t>
            </a:r>
            <a:endParaRPr lang="en-US" sz="4800" dirty="0"/>
          </a:p>
        </p:txBody>
      </p:sp>
      <p:sp>
        <p:nvSpPr>
          <p:cNvPr id="7" name="Text 5"/>
          <p:cNvSpPr/>
          <p:nvPr/>
        </p:nvSpPr>
        <p:spPr>
          <a:xfrm>
            <a:off x="1066800" y="1662559"/>
            <a:ext cx="10791825"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Earlier rows beat later rows — a stop always wins over a rebalance trim.</a:t>
            </a:r>
            <a:endParaRPr lang="en-US" sz="2250" dirty="0"/>
          </a:p>
        </p:txBody>
      </p:sp>
      <p:sp>
        <p:nvSpPr>
          <p:cNvPr id="8" name="Text 6"/>
          <p:cNvSpPr/>
          <p:nvPr/>
        </p:nvSpPr>
        <p:spPr>
          <a:xfrm>
            <a:off x="1066800" y="2334964"/>
            <a:ext cx="5389321"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9E3B2A"/>
                </a:solidFill>
                <a:latin typeface="Courier New" pitchFamily="34" charset="0"/>
                <a:ea typeface="Courier New" pitchFamily="34" charset="-122"/>
                <a:cs typeface="Courier New" pitchFamily="34" charset="-120"/>
              </a:rPr>
              <a:t>ON NAMES WE ALREADY OWN</a:t>
            </a:r>
            <a:endParaRPr lang="en-US" sz="1800" dirty="0"/>
          </a:p>
        </p:txBody>
      </p:sp>
      <p:sp>
        <p:nvSpPr>
          <p:cNvPr id="9" name="Shape 7"/>
          <p:cNvSpPr/>
          <p:nvPr/>
        </p:nvSpPr>
        <p:spPr>
          <a:xfrm>
            <a:off x="1066800" y="2744539"/>
            <a:ext cx="5232350" cy="1251496"/>
          </a:xfrm>
          <a:prstGeom prst="rect">
            <a:avLst/>
          </a:prstGeom>
          <a:solidFill>
            <a:srgbClr val="FFFFFF"/>
          </a:solidFill>
          <a:ln w="9525">
            <a:solidFill>
              <a:srgbClr val="DCD4BF"/>
            </a:solidFill>
            <a:prstDash val="solid"/>
          </a:ln>
        </p:spPr>
      </p:sp>
      <p:sp>
        <p:nvSpPr>
          <p:cNvPr id="10" name="Text 8"/>
          <p:cNvSpPr/>
          <p:nvPr/>
        </p:nvSpPr>
        <p:spPr>
          <a:xfrm>
            <a:off x="1266825" y="2906464"/>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Stop</a:t>
            </a:r>
            <a:endParaRPr lang="en-US" sz="1950" dirty="0"/>
          </a:p>
        </p:txBody>
      </p:sp>
      <p:sp>
        <p:nvSpPr>
          <p:cNvPr id="11" name="Text 9"/>
          <p:cNvSpPr/>
          <p:nvPr/>
        </p:nvSpPr>
        <p:spPr>
          <a:xfrm>
            <a:off x="1266825" y="3230314"/>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price &lt; peak × (1 − 7 %)</a:t>
            </a:r>
            <a:endParaRPr lang="en-US" sz="1800" dirty="0"/>
          </a:p>
        </p:txBody>
      </p:sp>
      <p:sp>
        <p:nvSpPr>
          <p:cNvPr id="12" name="Text 10"/>
          <p:cNvSpPr/>
          <p:nvPr/>
        </p:nvSpPr>
        <p:spPr>
          <a:xfrm>
            <a:off x="1266825" y="3525589"/>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Emergency brake. Doesn't care about score.</a:t>
            </a:r>
            <a:endParaRPr lang="en-US" sz="1800" dirty="0"/>
          </a:p>
        </p:txBody>
      </p:sp>
      <p:sp>
        <p:nvSpPr>
          <p:cNvPr id="13" name="Shape 11"/>
          <p:cNvSpPr/>
          <p:nvPr/>
        </p:nvSpPr>
        <p:spPr>
          <a:xfrm>
            <a:off x="1066800" y="4129385"/>
            <a:ext cx="5232350" cy="1251496"/>
          </a:xfrm>
          <a:prstGeom prst="rect">
            <a:avLst/>
          </a:prstGeom>
          <a:solidFill>
            <a:srgbClr val="FFFFFF"/>
          </a:solidFill>
          <a:ln w="9525">
            <a:solidFill>
              <a:srgbClr val="DCD4BF"/>
            </a:solidFill>
            <a:prstDash val="solid"/>
          </a:ln>
        </p:spPr>
      </p:sp>
      <p:sp>
        <p:nvSpPr>
          <p:cNvPr id="14" name="Text 12"/>
          <p:cNvSpPr/>
          <p:nvPr/>
        </p:nvSpPr>
        <p:spPr>
          <a:xfrm>
            <a:off x="1266825" y="4291310"/>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Exit</a:t>
            </a:r>
            <a:endParaRPr lang="en-US" sz="1950" dirty="0"/>
          </a:p>
        </p:txBody>
      </p:sp>
      <p:sp>
        <p:nvSpPr>
          <p:cNvPr id="15" name="Text 13"/>
          <p:cNvSpPr/>
          <p:nvPr/>
        </p:nvSpPr>
        <p:spPr>
          <a:xfrm>
            <a:off x="1266825" y="4615160"/>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composite &lt; −1.0</a:t>
            </a:r>
            <a:endParaRPr lang="en-US" sz="1800" dirty="0"/>
          </a:p>
        </p:txBody>
      </p:sp>
      <p:sp>
        <p:nvSpPr>
          <p:cNvPr id="16" name="Text 14"/>
          <p:cNvSpPr/>
          <p:nvPr/>
        </p:nvSpPr>
        <p:spPr>
          <a:xfrm>
            <a:off x="1266825" y="4910435"/>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Thesis has flipped negative. Close.</a:t>
            </a:r>
            <a:endParaRPr lang="en-US" sz="1800" dirty="0"/>
          </a:p>
        </p:txBody>
      </p:sp>
      <p:sp>
        <p:nvSpPr>
          <p:cNvPr id="17" name="Shape 15"/>
          <p:cNvSpPr/>
          <p:nvPr/>
        </p:nvSpPr>
        <p:spPr>
          <a:xfrm>
            <a:off x="1066800" y="5514231"/>
            <a:ext cx="5232350" cy="1560016"/>
          </a:xfrm>
          <a:prstGeom prst="rect">
            <a:avLst/>
          </a:prstGeom>
          <a:solidFill>
            <a:srgbClr val="FFFFFF"/>
          </a:solidFill>
          <a:ln w="9525">
            <a:solidFill>
              <a:srgbClr val="DCD4BF"/>
            </a:solidFill>
            <a:prstDash val="solid"/>
          </a:ln>
        </p:spPr>
      </p:sp>
      <p:sp>
        <p:nvSpPr>
          <p:cNvPr id="18" name="Text 16"/>
          <p:cNvSpPr/>
          <p:nvPr/>
        </p:nvSpPr>
        <p:spPr>
          <a:xfrm>
            <a:off x="1266825" y="5676156"/>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Trim</a:t>
            </a:r>
            <a:endParaRPr lang="en-US" sz="1950" dirty="0"/>
          </a:p>
        </p:txBody>
      </p:sp>
      <p:sp>
        <p:nvSpPr>
          <p:cNvPr id="19" name="Text 17"/>
          <p:cNvSpPr/>
          <p:nvPr/>
        </p:nvSpPr>
        <p:spPr>
          <a:xfrm>
            <a:off x="1266825" y="6000006"/>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weight &gt; 8 % → back to 5 %</a:t>
            </a:r>
            <a:endParaRPr lang="en-US" sz="1800" dirty="0"/>
          </a:p>
        </p:txBody>
      </p:sp>
      <p:sp>
        <p:nvSpPr>
          <p:cNvPr id="20" name="Text 18"/>
          <p:cNvSpPr/>
          <p:nvPr/>
        </p:nvSpPr>
        <p:spPr>
          <a:xfrm>
            <a:off x="1266825" y="6295281"/>
            <a:ext cx="4977269"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Stop any one name from dominating the portfolio.</a:t>
            </a:r>
            <a:endParaRPr lang="en-US" sz="1800" dirty="0"/>
          </a:p>
        </p:txBody>
      </p:sp>
      <p:sp>
        <p:nvSpPr>
          <p:cNvPr id="21" name="Shape 19"/>
          <p:cNvSpPr/>
          <p:nvPr/>
        </p:nvSpPr>
        <p:spPr>
          <a:xfrm>
            <a:off x="1066800" y="7207597"/>
            <a:ext cx="5232350" cy="1251496"/>
          </a:xfrm>
          <a:prstGeom prst="rect">
            <a:avLst/>
          </a:prstGeom>
          <a:solidFill>
            <a:srgbClr val="FFFFFF"/>
          </a:solidFill>
          <a:ln w="9525">
            <a:solidFill>
              <a:srgbClr val="DCD4BF"/>
            </a:solidFill>
            <a:prstDash val="solid"/>
          </a:ln>
        </p:spPr>
      </p:sp>
      <p:sp>
        <p:nvSpPr>
          <p:cNvPr id="22" name="Text 20"/>
          <p:cNvSpPr/>
          <p:nvPr/>
        </p:nvSpPr>
        <p:spPr>
          <a:xfrm>
            <a:off x="1266825" y="7369522"/>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Dip add</a:t>
            </a:r>
            <a:endParaRPr lang="en-US" sz="1950" dirty="0"/>
          </a:p>
        </p:txBody>
      </p:sp>
      <p:sp>
        <p:nvSpPr>
          <p:cNvPr id="23" name="Text 21"/>
          <p:cNvSpPr/>
          <p:nvPr/>
        </p:nvSpPr>
        <p:spPr>
          <a:xfrm>
            <a:off x="1266825" y="7693372"/>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−25 % from cost &amp; score &gt; 0</a:t>
            </a:r>
            <a:endParaRPr lang="en-US" sz="1800" dirty="0"/>
          </a:p>
        </p:txBody>
      </p:sp>
      <p:sp>
        <p:nvSpPr>
          <p:cNvPr id="24" name="Text 22"/>
          <p:cNvSpPr/>
          <p:nvPr/>
        </p:nvSpPr>
        <p:spPr>
          <a:xfrm>
            <a:off x="1266825" y="7988647"/>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Buy 50 % more of a winning thesis that sold off.</a:t>
            </a:r>
            <a:endParaRPr lang="en-US" sz="1800" dirty="0"/>
          </a:p>
        </p:txBody>
      </p:sp>
      <p:sp>
        <p:nvSpPr>
          <p:cNvPr id="25" name="Text 23"/>
          <p:cNvSpPr/>
          <p:nvPr/>
        </p:nvSpPr>
        <p:spPr>
          <a:xfrm>
            <a:off x="6527750" y="2334964"/>
            <a:ext cx="5389321"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ON NEW CANDIDATES</a:t>
            </a:r>
            <a:endParaRPr lang="en-US" sz="1800" dirty="0"/>
          </a:p>
        </p:txBody>
      </p:sp>
      <p:sp>
        <p:nvSpPr>
          <p:cNvPr id="26" name="Shape 24"/>
          <p:cNvSpPr/>
          <p:nvPr/>
        </p:nvSpPr>
        <p:spPr>
          <a:xfrm>
            <a:off x="6527750" y="2744539"/>
            <a:ext cx="5232350" cy="1251496"/>
          </a:xfrm>
          <a:prstGeom prst="rect">
            <a:avLst/>
          </a:prstGeom>
          <a:solidFill>
            <a:srgbClr val="FFFFFF"/>
          </a:solidFill>
          <a:ln w="9525">
            <a:solidFill>
              <a:srgbClr val="DCD4BF"/>
            </a:solidFill>
            <a:prstDash val="solid"/>
          </a:ln>
        </p:spPr>
      </p:sp>
      <p:sp>
        <p:nvSpPr>
          <p:cNvPr id="27" name="Text 25"/>
          <p:cNvSpPr/>
          <p:nvPr/>
        </p:nvSpPr>
        <p:spPr>
          <a:xfrm>
            <a:off x="6727775" y="2906464"/>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Open</a:t>
            </a:r>
            <a:endParaRPr lang="en-US" sz="1950" dirty="0"/>
          </a:p>
        </p:txBody>
      </p:sp>
      <p:sp>
        <p:nvSpPr>
          <p:cNvPr id="28" name="Text 26"/>
          <p:cNvSpPr/>
          <p:nvPr/>
        </p:nvSpPr>
        <p:spPr>
          <a:xfrm>
            <a:off x="6727775" y="3230314"/>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composite &gt; +1.0, ranked desc</a:t>
            </a:r>
            <a:endParaRPr lang="en-US" sz="1800" dirty="0"/>
          </a:p>
        </p:txBody>
      </p:sp>
      <p:sp>
        <p:nvSpPr>
          <p:cNvPr id="29" name="Text 27"/>
          <p:cNvSpPr/>
          <p:nvPr/>
        </p:nvSpPr>
        <p:spPr>
          <a:xfrm>
            <a:off x="6727775" y="3525589"/>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Highest‑conviction fresh name first.</a:t>
            </a:r>
            <a:endParaRPr lang="en-US" sz="1800" dirty="0"/>
          </a:p>
        </p:txBody>
      </p:sp>
      <p:sp>
        <p:nvSpPr>
          <p:cNvPr id="30" name="Shape 28"/>
          <p:cNvSpPr/>
          <p:nvPr/>
        </p:nvSpPr>
        <p:spPr>
          <a:xfrm>
            <a:off x="6527750" y="4129385"/>
            <a:ext cx="5232350" cy="1251496"/>
          </a:xfrm>
          <a:prstGeom prst="rect">
            <a:avLst/>
          </a:prstGeom>
          <a:solidFill>
            <a:srgbClr val="FFFFFF"/>
          </a:solidFill>
          <a:ln w="9525">
            <a:solidFill>
              <a:srgbClr val="DCD4BF"/>
            </a:solidFill>
            <a:prstDash val="solid"/>
          </a:ln>
        </p:spPr>
      </p:sp>
      <p:sp>
        <p:nvSpPr>
          <p:cNvPr id="31" name="Text 29"/>
          <p:cNvSpPr/>
          <p:nvPr/>
        </p:nvSpPr>
        <p:spPr>
          <a:xfrm>
            <a:off x="6727775" y="4291310"/>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Sector cap</a:t>
            </a:r>
            <a:endParaRPr lang="en-US" sz="1950" dirty="0"/>
          </a:p>
        </p:txBody>
      </p:sp>
      <p:sp>
        <p:nvSpPr>
          <p:cNvPr id="32" name="Text 30"/>
          <p:cNvSpPr/>
          <p:nvPr/>
        </p:nvSpPr>
        <p:spPr>
          <a:xfrm>
            <a:off x="6727775" y="4615160"/>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total sector ≤ 25 %</a:t>
            </a:r>
            <a:endParaRPr lang="en-US" sz="1800" dirty="0"/>
          </a:p>
        </p:txBody>
      </p:sp>
      <p:sp>
        <p:nvSpPr>
          <p:cNvPr id="33" name="Text 31"/>
          <p:cNvSpPr/>
          <p:nvPr/>
        </p:nvSpPr>
        <p:spPr>
          <a:xfrm>
            <a:off x="6727775" y="4910435"/>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Don't become a pure‑tech fund by accident.</a:t>
            </a:r>
            <a:endParaRPr lang="en-US" sz="1800" dirty="0"/>
          </a:p>
        </p:txBody>
      </p:sp>
      <p:sp>
        <p:nvSpPr>
          <p:cNvPr id="34" name="Shape 32"/>
          <p:cNvSpPr/>
          <p:nvPr/>
        </p:nvSpPr>
        <p:spPr>
          <a:xfrm>
            <a:off x="6527750" y="5514231"/>
            <a:ext cx="5232350" cy="1251496"/>
          </a:xfrm>
          <a:prstGeom prst="rect">
            <a:avLst/>
          </a:prstGeom>
          <a:solidFill>
            <a:srgbClr val="FFFFFF"/>
          </a:solidFill>
          <a:ln w="9525">
            <a:solidFill>
              <a:srgbClr val="DCD4BF"/>
            </a:solidFill>
            <a:prstDash val="solid"/>
          </a:ln>
        </p:spPr>
      </p:sp>
      <p:sp>
        <p:nvSpPr>
          <p:cNvPr id="35" name="Text 33"/>
          <p:cNvSpPr/>
          <p:nvPr/>
        </p:nvSpPr>
        <p:spPr>
          <a:xfrm>
            <a:off x="6727775" y="5676156"/>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Cash reserve</a:t>
            </a:r>
            <a:endParaRPr lang="en-US" sz="1950" dirty="0"/>
          </a:p>
        </p:txBody>
      </p:sp>
      <p:sp>
        <p:nvSpPr>
          <p:cNvPr id="36" name="Text 34"/>
          <p:cNvSpPr/>
          <p:nvPr/>
        </p:nvSpPr>
        <p:spPr>
          <a:xfrm>
            <a:off x="6727775" y="6000006"/>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keep ≥ 8 % cash</a:t>
            </a:r>
            <a:endParaRPr lang="en-US" sz="1800" dirty="0"/>
          </a:p>
        </p:txBody>
      </p:sp>
      <p:sp>
        <p:nvSpPr>
          <p:cNvPr id="37" name="Text 35"/>
          <p:cNvSpPr/>
          <p:nvPr/>
        </p:nvSpPr>
        <p:spPr>
          <a:xfrm>
            <a:off x="6727775" y="6295281"/>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Dry powder for dips and stops.</a:t>
            </a:r>
            <a:endParaRPr lang="en-US" sz="1800" dirty="0"/>
          </a:p>
        </p:txBody>
      </p:sp>
      <p:sp>
        <p:nvSpPr>
          <p:cNvPr id="38" name="Shape 36"/>
          <p:cNvSpPr/>
          <p:nvPr/>
        </p:nvSpPr>
        <p:spPr>
          <a:xfrm>
            <a:off x="6527750" y="6899077"/>
            <a:ext cx="5232350" cy="1251496"/>
          </a:xfrm>
          <a:prstGeom prst="rect">
            <a:avLst/>
          </a:prstGeom>
          <a:solidFill>
            <a:srgbClr val="FFFFFF"/>
          </a:solidFill>
          <a:ln w="9525">
            <a:solidFill>
              <a:srgbClr val="DCD4BF"/>
            </a:solidFill>
            <a:prstDash val="solid"/>
          </a:ln>
        </p:spPr>
      </p:sp>
      <p:sp>
        <p:nvSpPr>
          <p:cNvPr id="39" name="Text 37"/>
          <p:cNvSpPr/>
          <p:nvPr/>
        </p:nvSpPr>
        <p:spPr>
          <a:xfrm>
            <a:off x="6727775" y="7061002"/>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Size</a:t>
            </a:r>
            <a:endParaRPr lang="en-US" sz="1950" dirty="0"/>
          </a:p>
        </p:txBody>
      </p:sp>
      <p:sp>
        <p:nvSpPr>
          <p:cNvPr id="40" name="Text 38"/>
          <p:cNvSpPr/>
          <p:nvPr/>
        </p:nvSpPr>
        <p:spPr>
          <a:xfrm>
            <a:off x="6727775" y="7384852"/>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5 % of equity at entry</a:t>
            </a:r>
            <a:endParaRPr lang="en-US" sz="1800" dirty="0"/>
          </a:p>
        </p:txBody>
      </p:sp>
      <p:sp>
        <p:nvSpPr>
          <p:cNvPr id="41" name="Text 39"/>
          <p:cNvSpPr/>
          <p:nvPr/>
        </p:nvSpPr>
        <p:spPr>
          <a:xfrm>
            <a:off x="6727775" y="7680127"/>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Same bet size for everyone, every time.</a:t>
            </a:r>
            <a:endParaRPr lang="en-US" sz="1800" dirty="0"/>
          </a:p>
        </p:txBody>
      </p:sp>
      <p:sp>
        <p:nvSpPr>
          <p:cNvPr id="42" name="Text 40"/>
          <p:cNvSpPr/>
          <p:nvPr/>
        </p:nvSpPr>
        <p:spPr>
          <a:xfrm>
            <a:off x="11988701" y="2334964"/>
            <a:ext cx="5389321"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A6B3A"/>
                </a:solidFill>
                <a:latin typeface="Courier New" pitchFamily="34" charset="0"/>
                <a:ea typeface="Courier New" pitchFamily="34" charset="-122"/>
                <a:cs typeface="Courier New" pitchFamily="34" charset="-120"/>
              </a:rPr>
              <a:t>ON PORTFOLIO SHAPE</a:t>
            </a:r>
            <a:endParaRPr lang="en-US" sz="1800" dirty="0"/>
          </a:p>
        </p:txBody>
      </p:sp>
      <p:sp>
        <p:nvSpPr>
          <p:cNvPr id="43" name="Shape 41"/>
          <p:cNvSpPr/>
          <p:nvPr/>
        </p:nvSpPr>
        <p:spPr>
          <a:xfrm>
            <a:off x="11988701" y="2744539"/>
            <a:ext cx="5232350" cy="1251496"/>
          </a:xfrm>
          <a:prstGeom prst="rect">
            <a:avLst/>
          </a:prstGeom>
          <a:solidFill>
            <a:srgbClr val="FFFFFF"/>
          </a:solidFill>
          <a:ln w="9525">
            <a:solidFill>
              <a:srgbClr val="DCD4BF"/>
            </a:solidFill>
            <a:prstDash val="solid"/>
          </a:ln>
        </p:spPr>
      </p:sp>
      <p:sp>
        <p:nvSpPr>
          <p:cNvPr id="44" name="Text 42"/>
          <p:cNvSpPr/>
          <p:nvPr/>
        </p:nvSpPr>
        <p:spPr>
          <a:xfrm>
            <a:off x="12188726" y="2906464"/>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FI floor</a:t>
            </a:r>
            <a:endParaRPr lang="en-US" sz="1950" dirty="0"/>
          </a:p>
        </p:txBody>
      </p:sp>
      <p:sp>
        <p:nvSpPr>
          <p:cNvPr id="45" name="Text 43"/>
          <p:cNvSpPr/>
          <p:nvPr/>
        </p:nvSpPr>
        <p:spPr>
          <a:xfrm>
            <a:off x="12188726" y="3230314"/>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bonds ≥ 10 % → buy AGG</a:t>
            </a:r>
            <a:endParaRPr lang="en-US" sz="1800" dirty="0"/>
          </a:p>
        </p:txBody>
      </p:sp>
      <p:sp>
        <p:nvSpPr>
          <p:cNvPr id="46" name="Text 44"/>
          <p:cNvSpPr/>
          <p:nvPr/>
        </p:nvSpPr>
        <p:spPr>
          <a:xfrm>
            <a:off x="12188726" y="3525589"/>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Ballast against equity drawdowns.</a:t>
            </a:r>
            <a:endParaRPr lang="en-US" sz="1800" dirty="0"/>
          </a:p>
        </p:txBody>
      </p:sp>
      <p:sp>
        <p:nvSpPr>
          <p:cNvPr id="47" name="Shape 45"/>
          <p:cNvSpPr/>
          <p:nvPr/>
        </p:nvSpPr>
        <p:spPr>
          <a:xfrm>
            <a:off x="11988701" y="4129385"/>
            <a:ext cx="5232350" cy="1251496"/>
          </a:xfrm>
          <a:prstGeom prst="rect">
            <a:avLst/>
          </a:prstGeom>
          <a:solidFill>
            <a:srgbClr val="FFFFFF"/>
          </a:solidFill>
          <a:ln w="9525">
            <a:solidFill>
              <a:srgbClr val="DCD4BF"/>
            </a:solidFill>
            <a:prstDash val="solid"/>
          </a:ln>
        </p:spPr>
      </p:sp>
      <p:sp>
        <p:nvSpPr>
          <p:cNvPr id="48" name="Text 46"/>
          <p:cNvSpPr/>
          <p:nvPr/>
        </p:nvSpPr>
        <p:spPr>
          <a:xfrm>
            <a:off x="12188726" y="4291310"/>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FI ceiling</a:t>
            </a:r>
            <a:endParaRPr lang="en-US" sz="1950" dirty="0"/>
          </a:p>
        </p:txBody>
      </p:sp>
      <p:sp>
        <p:nvSpPr>
          <p:cNvPr id="49" name="Text 47"/>
          <p:cNvSpPr/>
          <p:nvPr/>
        </p:nvSpPr>
        <p:spPr>
          <a:xfrm>
            <a:off x="12188726" y="4615160"/>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target ≤ 15 %</a:t>
            </a:r>
            <a:endParaRPr lang="en-US" sz="1800" dirty="0"/>
          </a:p>
        </p:txBody>
      </p:sp>
      <p:sp>
        <p:nvSpPr>
          <p:cNvPr id="50" name="Text 48"/>
          <p:cNvSpPr/>
          <p:nvPr/>
        </p:nvSpPr>
        <p:spPr>
          <a:xfrm>
            <a:off x="12188726" y="4910435"/>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Not a bond fund either.</a:t>
            </a:r>
            <a:endParaRPr lang="en-US" sz="1800" dirty="0"/>
          </a:p>
        </p:txBody>
      </p:sp>
      <p:sp>
        <p:nvSpPr>
          <p:cNvPr id="51" name="Shape 49"/>
          <p:cNvSpPr/>
          <p:nvPr/>
        </p:nvSpPr>
        <p:spPr>
          <a:xfrm>
            <a:off x="11988701" y="5514231"/>
            <a:ext cx="5232350" cy="1251496"/>
          </a:xfrm>
          <a:prstGeom prst="rect">
            <a:avLst/>
          </a:prstGeom>
          <a:solidFill>
            <a:srgbClr val="FFFFFF"/>
          </a:solidFill>
          <a:ln w="9525">
            <a:solidFill>
              <a:srgbClr val="DCD4BF"/>
            </a:solidFill>
            <a:prstDash val="solid"/>
          </a:ln>
        </p:spPr>
      </p:sp>
      <p:sp>
        <p:nvSpPr>
          <p:cNvPr id="52" name="Text 50"/>
          <p:cNvSpPr/>
          <p:nvPr/>
        </p:nvSpPr>
        <p:spPr>
          <a:xfrm>
            <a:off x="12188726" y="5676156"/>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Max positions</a:t>
            </a:r>
            <a:endParaRPr lang="en-US" sz="1950" dirty="0"/>
          </a:p>
        </p:txBody>
      </p:sp>
      <p:sp>
        <p:nvSpPr>
          <p:cNvPr id="53" name="Text 51"/>
          <p:cNvSpPr/>
          <p:nvPr/>
        </p:nvSpPr>
        <p:spPr>
          <a:xfrm>
            <a:off x="12188726" y="6000006"/>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30 concurrent</a:t>
            </a:r>
            <a:endParaRPr lang="en-US" sz="1800" dirty="0"/>
          </a:p>
        </p:txBody>
      </p:sp>
      <p:sp>
        <p:nvSpPr>
          <p:cNvPr id="54" name="Text 52"/>
          <p:cNvSpPr/>
          <p:nvPr/>
        </p:nvSpPr>
        <p:spPr>
          <a:xfrm>
            <a:off x="12188726" y="6295281"/>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Hard cap keeps the book readable.</a:t>
            </a:r>
            <a:endParaRPr lang="en-US" sz="1800" dirty="0"/>
          </a:p>
        </p:txBody>
      </p:sp>
      <p:sp>
        <p:nvSpPr>
          <p:cNvPr id="55" name="Shape 53"/>
          <p:cNvSpPr/>
          <p:nvPr/>
        </p:nvSpPr>
        <p:spPr>
          <a:xfrm>
            <a:off x="11988701" y="6899077"/>
            <a:ext cx="5232350" cy="1251496"/>
          </a:xfrm>
          <a:prstGeom prst="rect">
            <a:avLst/>
          </a:prstGeom>
          <a:solidFill>
            <a:srgbClr val="FFFFFF"/>
          </a:solidFill>
          <a:ln w="9525">
            <a:solidFill>
              <a:srgbClr val="DCD4BF"/>
            </a:solidFill>
            <a:prstDash val="solid"/>
          </a:ln>
        </p:spPr>
      </p:sp>
      <p:sp>
        <p:nvSpPr>
          <p:cNvPr id="56" name="Text 54"/>
          <p:cNvSpPr/>
          <p:nvPr/>
        </p:nvSpPr>
        <p:spPr>
          <a:xfrm>
            <a:off x="12188726" y="7061002"/>
            <a:ext cx="4977269" cy="323850"/>
          </a:xfrm>
          <a:prstGeom prst="rect">
            <a:avLst/>
          </a:prstGeom>
          <a:noFill/>
          <a:ln/>
        </p:spPr>
        <p:txBody>
          <a:bodyPr wrap="square" lIns="25400" tIns="25400" rIns="25400" bIns="25400" rtlCol="0" anchor="t">
            <a:normAutofit/>
          </a:bodyPr>
          <a:lstStyle/>
          <a:p>
            <a:pPr algn="l" indent="0" marL="0">
              <a:buNone/>
            </a:pPr>
            <a:r>
              <a:rPr lang="en-US" sz="1950" spc="-19" kern="0" dirty="0">
                <a:solidFill>
                  <a:srgbClr val="1A1C21"/>
                </a:solidFill>
                <a:latin typeface="Georgia" pitchFamily="34" charset="0"/>
                <a:ea typeface="Georgia" pitchFamily="34" charset="-122"/>
                <a:cs typeface="Georgia" pitchFamily="34" charset="-120"/>
              </a:rPr>
              <a:t>Rebalance day</a:t>
            </a:r>
            <a:endParaRPr lang="en-US" sz="1950" dirty="0"/>
          </a:p>
        </p:txBody>
      </p:sp>
      <p:sp>
        <p:nvSpPr>
          <p:cNvPr id="57" name="Text 55"/>
          <p:cNvSpPr/>
          <p:nvPr/>
        </p:nvSpPr>
        <p:spPr>
          <a:xfrm>
            <a:off x="12188726" y="7384852"/>
            <a:ext cx="497726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Friday trim pass</a:t>
            </a:r>
            <a:endParaRPr lang="en-US" sz="1800" dirty="0"/>
          </a:p>
        </p:txBody>
      </p:sp>
      <p:sp>
        <p:nvSpPr>
          <p:cNvPr id="58" name="Text 56"/>
          <p:cNvSpPr/>
          <p:nvPr/>
        </p:nvSpPr>
        <p:spPr>
          <a:xfrm>
            <a:off x="12188726" y="7680127"/>
            <a:ext cx="497726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A4F58"/>
                </a:solidFill>
                <a:latin typeface="Arial" pitchFamily="34" charset="0"/>
                <a:ea typeface="Arial" pitchFamily="34" charset="-122"/>
                <a:cs typeface="Arial" pitchFamily="34" charset="-120"/>
              </a:rPr>
              <a:t>Weekly walk back to target weights.</a:t>
            </a:r>
            <a:endParaRPr lang="en-US" sz="1800" dirty="0"/>
          </a:p>
        </p:txBody>
      </p:sp>
      <p:sp>
        <p:nvSpPr>
          <p:cNvPr id="59" name="Text 57"/>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60" name="Text 58"/>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8D9"/>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579544"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14 · RISK GUARDRAILS</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14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The rules that override the robot.</a:t>
            </a:r>
            <a:endParaRPr lang="en-US" sz="4800" dirty="0"/>
          </a:p>
        </p:txBody>
      </p:sp>
      <p:sp>
        <p:nvSpPr>
          <p:cNvPr id="7" name="Text 5"/>
          <p:cNvSpPr/>
          <p:nvPr/>
        </p:nvSpPr>
        <p:spPr>
          <a:xfrm>
            <a:off x="1066800" y="1719709"/>
            <a:ext cx="10791825" cy="887611"/>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These aren't scored — they're hard constraints in </a:t>
            </a:r>
            <a:pPr algn="l" indent="0" marL="0">
              <a:lnSpc>
                <a:spcPct val="142000"/>
              </a:lnSpc>
              <a:buNone/>
            </a:pPr>
            <a:r>
              <a:rPr lang="en-US" sz="2250" dirty="0">
                <a:solidFill>
                  <a:srgbClr val="4A4F58"/>
                </a:solidFill>
                <a:latin typeface="Courier New" pitchFamily="34" charset="0"/>
                <a:ea typeface="Courier New" pitchFamily="34" charset="-122"/>
                <a:cs typeface="Courier New" pitchFamily="34" charset="-120"/>
              </a:rPr>
              <a:t>bot/config.py </a:t>
            </a:r>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and </a:t>
            </a:r>
            <a:pPr algn="l" indent="0" marL="0">
              <a:lnSpc>
                <a:spcPct val="142000"/>
              </a:lnSpc>
              <a:buNone/>
            </a:pPr>
            <a:r>
              <a:rPr lang="en-US" sz="2250" dirty="0">
                <a:solidFill>
                  <a:srgbClr val="4A4F58"/>
                </a:solidFill>
                <a:latin typeface="Courier New" pitchFamily="34" charset="0"/>
                <a:ea typeface="Courier New" pitchFamily="34" charset="-122"/>
                <a:cs typeface="Courier New" pitchFamily="34" charset="-120"/>
              </a:rPr>
              <a:t>bot/risk.py</a:t>
            </a:r>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a:t>
            </a:r>
            <a:endParaRPr lang="en-US" sz="2250" dirty="0"/>
          </a:p>
        </p:txBody>
      </p:sp>
      <p:sp>
        <p:nvSpPr>
          <p:cNvPr id="8" name="Shape 6"/>
          <p:cNvSpPr/>
          <p:nvPr/>
        </p:nvSpPr>
        <p:spPr>
          <a:xfrm>
            <a:off x="1066800" y="3026420"/>
            <a:ext cx="3910013" cy="2257425"/>
          </a:xfrm>
          <a:prstGeom prst="rect">
            <a:avLst/>
          </a:prstGeom>
          <a:solidFill>
            <a:srgbClr val="FFFFFF"/>
          </a:solidFill>
          <a:ln w="9525">
            <a:solidFill>
              <a:srgbClr val="DCD4BF"/>
            </a:solidFill>
            <a:prstDash val="solid"/>
          </a:ln>
        </p:spPr>
      </p:sp>
      <p:sp>
        <p:nvSpPr>
          <p:cNvPr id="9" name="Text 7"/>
          <p:cNvSpPr/>
          <p:nvPr/>
        </p:nvSpPr>
        <p:spPr>
          <a:xfrm>
            <a:off x="1285875" y="3264545"/>
            <a:ext cx="3576018" cy="2571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7A8190"/>
                </a:solidFill>
                <a:latin typeface="Courier New" pitchFamily="34" charset="0"/>
                <a:ea typeface="Courier New" pitchFamily="34" charset="-122"/>
                <a:cs typeface="Courier New" pitchFamily="34" charset="-120"/>
              </a:rPr>
              <a:t>MAX_POSITION_PCT</a:t>
            </a:r>
            <a:endParaRPr lang="en-US" sz="1500" dirty="0"/>
          </a:p>
        </p:txBody>
      </p:sp>
      <p:sp>
        <p:nvSpPr>
          <p:cNvPr id="10" name="Text 8"/>
          <p:cNvSpPr/>
          <p:nvPr/>
        </p:nvSpPr>
        <p:spPr>
          <a:xfrm>
            <a:off x="1285875" y="3559820"/>
            <a:ext cx="3576018"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spc="-139" kern="0" dirty="0">
                <a:solidFill>
                  <a:srgbClr val="1F3A5F"/>
                </a:solidFill>
                <a:latin typeface="Georgia" pitchFamily="34" charset="0"/>
                <a:ea typeface="Georgia" pitchFamily="34" charset="-122"/>
                <a:cs typeface="Georgia" pitchFamily="34" charset="-120"/>
              </a:rPr>
              <a:t>5 %</a:t>
            </a:r>
            <a:endParaRPr lang="en-US" sz="4650" dirty="0"/>
          </a:p>
        </p:txBody>
      </p:sp>
      <p:sp>
        <p:nvSpPr>
          <p:cNvPr id="11" name="Text 9"/>
          <p:cNvSpPr/>
          <p:nvPr/>
        </p:nvSpPr>
        <p:spPr>
          <a:xfrm>
            <a:off x="1285875" y="4226570"/>
            <a:ext cx="3576018" cy="285750"/>
          </a:xfrm>
          <a:prstGeom prst="rect">
            <a:avLst/>
          </a:prstGeom>
          <a:noFill/>
          <a:ln/>
        </p:spPr>
        <p:txBody>
          <a:bodyPr wrap="square" lIns="25400" tIns="25400" rIns="25400" bIns="25400" rtlCol="0" anchor="t">
            <a:normAutofit/>
          </a:bodyPr>
          <a:lstStyle/>
          <a:p>
            <a:pPr algn="l" indent="0" marL="0">
              <a:buNone/>
            </a:pPr>
            <a:r>
              <a:rPr lang="en-US" sz="1650" dirty="0">
                <a:solidFill>
                  <a:srgbClr val="1A1C21"/>
                </a:solidFill>
                <a:latin typeface="Arial" pitchFamily="34" charset="0"/>
                <a:ea typeface="Arial" pitchFamily="34" charset="-122"/>
                <a:cs typeface="Arial" pitchFamily="34" charset="-120"/>
              </a:rPr>
              <a:t>hard cap at entry</a:t>
            </a:r>
            <a:endParaRPr lang="en-US" sz="1650" dirty="0"/>
          </a:p>
        </p:txBody>
      </p:sp>
      <p:sp>
        <p:nvSpPr>
          <p:cNvPr id="12" name="Text 10"/>
          <p:cNvSpPr/>
          <p:nvPr/>
        </p:nvSpPr>
        <p:spPr>
          <a:xfrm>
            <a:off x="1285875" y="4531370"/>
            <a:ext cx="3576018"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F58"/>
                </a:solidFill>
                <a:latin typeface="Arial" pitchFamily="34" charset="0"/>
                <a:ea typeface="Arial" pitchFamily="34" charset="-122"/>
                <a:cs typeface="Arial" pitchFamily="34" charset="-120"/>
              </a:rPr>
              <a:t>No single name is ever more than 1/20 of the book on day one.</a:t>
            </a:r>
            <a:endParaRPr lang="en-US" sz="1500" dirty="0"/>
          </a:p>
        </p:txBody>
      </p:sp>
      <p:sp>
        <p:nvSpPr>
          <p:cNvPr id="13" name="Shape 11"/>
          <p:cNvSpPr/>
          <p:nvPr/>
        </p:nvSpPr>
        <p:spPr>
          <a:xfrm>
            <a:off x="5148263" y="3026420"/>
            <a:ext cx="3910013" cy="2257425"/>
          </a:xfrm>
          <a:prstGeom prst="rect">
            <a:avLst/>
          </a:prstGeom>
          <a:solidFill>
            <a:srgbClr val="FFFFFF"/>
          </a:solidFill>
          <a:ln w="9525">
            <a:solidFill>
              <a:srgbClr val="DCD4BF"/>
            </a:solidFill>
            <a:prstDash val="solid"/>
          </a:ln>
        </p:spPr>
      </p:sp>
      <p:sp>
        <p:nvSpPr>
          <p:cNvPr id="14" name="Text 12"/>
          <p:cNvSpPr/>
          <p:nvPr/>
        </p:nvSpPr>
        <p:spPr>
          <a:xfrm>
            <a:off x="5367338" y="3264545"/>
            <a:ext cx="3576018" cy="2571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7A8190"/>
                </a:solidFill>
                <a:latin typeface="Courier New" pitchFamily="34" charset="0"/>
                <a:ea typeface="Courier New" pitchFamily="34" charset="-122"/>
                <a:cs typeface="Courier New" pitchFamily="34" charset="-120"/>
              </a:rPr>
              <a:t>REBALANCE_TRIM_PCT</a:t>
            </a:r>
            <a:endParaRPr lang="en-US" sz="1500" dirty="0"/>
          </a:p>
        </p:txBody>
      </p:sp>
      <p:sp>
        <p:nvSpPr>
          <p:cNvPr id="15" name="Text 13"/>
          <p:cNvSpPr/>
          <p:nvPr/>
        </p:nvSpPr>
        <p:spPr>
          <a:xfrm>
            <a:off x="5367338" y="3559820"/>
            <a:ext cx="3576018"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spc="-139" kern="0" dirty="0">
                <a:solidFill>
                  <a:srgbClr val="1F3A5F"/>
                </a:solidFill>
                <a:latin typeface="Georgia" pitchFamily="34" charset="0"/>
                <a:ea typeface="Georgia" pitchFamily="34" charset="-122"/>
                <a:cs typeface="Georgia" pitchFamily="34" charset="-120"/>
              </a:rPr>
              <a:t>8 %</a:t>
            </a:r>
            <a:endParaRPr lang="en-US" sz="4650" dirty="0"/>
          </a:p>
        </p:txBody>
      </p:sp>
      <p:sp>
        <p:nvSpPr>
          <p:cNvPr id="16" name="Text 14"/>
          <p:cNvSpPr/>
          <p:nvPr/>
        </p:nvSpPr>
        <p:spPr>
          <a:xfrm>
            <a:off x="5367338" y="4226570"/>
            <a:ext cx="3576018" cy="285750"/>
          </a:xfrm>
          <a:prstGeom prst="rect">
            <a:avLst/>
          </a:prstGeom>
          <a:noFill/>
          <a:ln/>
        </p:spPr>
        <p:txBody>
          <a:bodyPr wrap="square" lIns="25400" tIns="25400" rIns="25400" bIns="25400" rtlCol="0" anchor="t">
            <a:normAutofit/>
          </a:bodyPr>
          <a:lstStyle/>
          <a:p>
            <a:pPr algn="l" indent="0" marL="0">
              <a:buNone/>
            </a:pPr>
            <a:r>
              <a:rPr lang="en-US" sz="1650" dirty="0">
                <a:solidFill>
                  <a:srgbClr val="1A1C21"/>
                </a:solidFill>
                <a:latin typeface="Arial" pitchFamily="34" charset="0"/>
                <a:ea typeface="Arial" pitchFamily="34" charset="-122"/>
                <a:cs typeface="Arial" pitchFamily="34" charset="-120"/>
              </a:rPr>
              <a:t>trim threshold</a:t>
            </a:r>
            <a:endParaRPr lang="en-US" sz="1650" dirty="0"/>
          </a:p>
        </p:txBody>
      </p:sp>
      <p:sp>
        <p:nvSpPr>
          <p:cNvPr id="17" name="Text 15"/>
          <p:cNvSpPr/>
          <p:nvPr/>
        </p:nvSpPr>
        <p:spPr>
          <a:xfrm>
            <a:off x="5367338" y="4531370"/>
            <a:ext cx="3576018"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F58"/>
                </a:solidFill>
                <a:latin typeface="Arial" pitchFamily="34" charset="0"/>
                <a:ea typeface="Arial" pitchFamily="34" charset="-122"/>
                <a:cs typeface="Arial" pitchFamily="34" charset="-120"/>
              </a:rPr>
              <a:t>If a winner grows past 8 %, we sell down to 5 %.</a:t>
            </a:r>
            <a:endParaRPr lang="en-US" sz="1500" dirty="0"/>
          </a:p>
        </p:txBody>
      </p:sp>
      <p:sp>
        <p:nvSpPr>
          <p:cNvPr id="18" name="Shape 16"/>
          <p:cNvSpPr/>
          <p:nvPr/>
        </p:nvSpPr>
        <p:spPr>
          <a:xfrm>
            <a:off x="9229725" y="3026420"/>
            <a:ext cx="3910013" cy="2257425"/>
          </a:xfrm>
          <a:prstGeom prst="rect">
            <a:avLst/>
          </a:prstGeom>
          <a:solidFill>
            <a:srgbClr val="FFFFFF"/>
          </a:solidFill>
          <a:ln w="9525">
            <a:solidFill>
              <a:srgbClr val="DCD4BF"/>
            </a:solidFill>
            <a:prstDash val="solid"/>
          </a:ln>
        </p:spPr>
      </p:sp>
      <p:sp>
        <p:nvSpPr>
          <p:cNvPr id="19" name="Text 17"/>
          <p:cNvSpPr/>
          <p:nvPr/>
        </p:nvSpPr>
        <p:spPr>
          <a:xfrm>
            <a:off x="9448800" y="3264545"/>
            <a:ext cx="3576018" cy="2571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7A8190"/>
                </a:solidFill>
                <a:latin typeface="Courier New" pitchFamily="34" charset="0"/>
                <a:ea typeface="Courier New" pitchFamily="34" charset="-122"/>
                <a:cs typeface="Courier New" pitchFamily="34" charset="-120"/>
              </a:rPr>
              <a:t>MAX_SECTOR_PCT</a:t>
            </a:r>
            <a:endParaRPr lang="en-US" sz="1500" dirty="0"/>
          </a:p>
        </p:txBody>
      </p:sp>
      <p:sp>
        <p:nvSpPr>
          <p:cNvPr id="20" name="Text 18"/>
          <p:cNvSpPr/>
          <p:nvPr/>
        </p:nvSpPr>
        <p:spPr>
          <a:xfrm>
            <a:off x="9448800" y="3559820"/>
            <a:ext cx="3576018"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spc="-139" kern="0" dirty="0">
                <a:solidFill>
                  <a:srgbClr val="1F3A5F"/>
                </a:solidFill>
                <a:latin typeface="Georgia" pitchFamily="34" charset="0"/>
                <a:ea typeface="Georgia" pitchFamily="34" charset="-122"/>
                <a:cs typeface="Georgia" pitchFamily="34" charset="-120"/>
              </a:rPr>
              <a:t>25 %</a:t>
            </a:r>
            <a:endParaRPr lang="en-US" sz="4650" dirty="0"/>
          </a:p>
        </p:txBody>
      </p:sp>
      <p:sp>
        <p:nvSpPr>
          <p:cNvPr id="21" name="Text 19"/>
          <p:cNvSpPr/>
          <p:nvPr/>
        </p:nvSpPr>
        <p:spPr>
          <a:xfrm>
            <a:off x="9448800" y="4226570"/>
            <a:ext cx="3576018" cy="285750"/>
          </a:xfrm>
          <a:prstGeom prst="rect">
            <a:avLst/>
          </a:prstGeom>
          <a:noFill/>
          <a:ln/>
        </p:spPr>
        <p:txBody>
          <a:bodyPr wrap="square" lIns="25400" tIns="25400" rIns="25400" bIns="25400" rtlCol="0" anchor="t">
            <a:normAutofit/>
          </a:bodyPr>
          <a:lstStyle/>
          <a:p>
            <a:pPr algn="l" indent="0" marL="0">
              <a:buNone/>
            </a:pPr>
            <a:r>
              <a:rPr lang="en-US" sz="1650" dirty="0">
                <a:solidFill>
                  <a:srgbClr val="1A1C21"/>
                </a:solidFill>
                <a:latin typeface="Arial" pitchFamily="34" charset="0"/>
                <a:ea typeface="Arial" pitchFamily="34" charset="-122"/>
                <a:cs typeface="Arial" pitchFamily="34" charset="-120"/>
              </a:rPr>
              <a:t>per‑sector ceiling</a:t>
            </a:r>
            <a:endParaRPr lang="en-US" sz="1650" dirty="0"/>
          </a:p>
        </p:txBody>
      </p:sp>
      <p:sp>
        <p:nvSpPr>
          <p:cNvPr id="22" name="Text 20"/>
          <p:cNvSpPr/>
          <p:nvPr/>
        </p:nvSpPr>
        <p:spPr>
          <a:xfrm>
            <a:off x="9448800" y="4531370"/>
            <a:ext cx="3576018"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F58"/>
                </a:solidFill>
                <a:latin typeface="Arial" pitchFamily="34" charset="0"/>
                <a:ea typeface="Arial" pitchFamily="34" charset="-122"/>
                <a:cs typeface="Arial" pitchFamily="34" charset="-120"/>
              </a:rPr>
              <a:t>Tech, consumer, financials — none can dominate.</a:t>
            </a:r>
            <a:endParaRPr lang="en-US" sz="1500" dirty="0"/>
          </a:p>
        </p:txBody>
      </p:sp>
      <p:sp>
        <p:nvSpPr>
          <p:cNvPr id="23" name="Shape 21"/>
          <p:cNvSpPr/>
          <p:nvPr/>
        </p:nvSpPr>
        <p:spPr>
          <a:xfrm>
            <a:off x="13311188" y="3026420"/>
            <a:ext cx="3910013" cy="2257425"/>
          </a:xfrm>
          <a:prstGeom prst="rect">
            <a:avLst/>
          </a:prstGeom>
          <a:solidFill>
            <a:srgbClr val="FFFFFF"/>
          </a:solidFill>
          <a:ln w="9525">
            <a:solidFill>
              <a:srgbClr val="DCD4BF"/>
            </a:solidFill>
            <a:prstDash val="solid"/>
          </a:ln>
        </p:spPr>
      </p:sp>
      <p:sp>
        <p:nvSpPr>
          <p:cNvPr id="24" name="Text 22"/>
          <p:cNvSpPr/>
          <p:nvPr/>
        </p:nvSpPr>
        <p:spPr>
          <a:xfrm>
            <a:off x="13530263" y="3264545"/>
            <a:ext cx="3576018" cy="2571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7A8190"/>
                </a:solidFill>
                <a:latin typeface="Courier New" pitchFamily="34" charset="0"/>
                <a:ea typeface="Courier New" pitchFamily="34" charset="-122"/>
                <a:cs typeface="Courier New" pitchFamily="34" charset="-120"/>
              </a:rPr>
              <a:t>CASH_RESERVE_PCT</a:t>
            </a:r>
            <a:endParaRPr lang="en-US" sz="1500" dirty="0"/>
          </a:p>
        </p:txBody>
      </p:sp>
      <p:sp>
        <p:nvSpPr>
          <p:cNvPr id="25" name="Text 23"/>
          <p:cNvSpPr/>
          <p:nvPr/>
        </p:nvSpPr>
        <p:spPr>
          <a:xfrm>
            <a:off x="13530263" y="3559820"/>
            <a:ext cx="3576018"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spc="-139" kern="0" dirty="0">
                <a:solidFill>
                  <a:srgbClr val="1F3A5F"/>
                </a:solidFill>
                <a:latin typeface="Georgia" pitchFamily="34" charset="0"/>
                <a:ea typeface="Georgia" pitchFamily="34" charset="-122"/>
                <a:cs typeface="Georgia" pitchFamily="34" charset="-120"/>
              </a:rPr>
              <a:t>8 %</a:t>
            </a:r>
            <a:endParaRPr lang="en-US" sz="4650" dirty="0"/>
          </a:p>
        </p:txBody>
      </p:sp>
      <p:sp>
        <p:nvSpPr>
          <p:cNvPr id="26" name="Text 24"/>
          <p:cNvSpPr/>
          <p:nvPr/>
        </p:nvSpPr>
        <p:spPr>
          <a:xfrm>
            <a:off x="13530263" y="4226570"/>
            <a:ext cx="3576018" cy="285750"/>
          </a:xfrm>
          <a:prstGeom prst="rect">
            <a:avLst/>
          </a:prstGeom>
          <a:noFill/>
          <a:ln/>
        </p:spPr>
        <p:txBody>
          <a:bodyPr wrap="square" lIns="25400" tIns="25400" rIns="25400" bIns="25400" rtlCol="0" anchor="t">
            <a:normAutofit/>
          </a:bodyPr>
          <a:lstStyle/>
          <a:p>
            <a:pPr algn="l" indent="0" marL="0">
              <a:buNone/>
            </a:pPr>
            <a:r>
              <a:rPr lang="en-US" sz="1650" dirty="0">
                <a:solidFill>
                  <a:srgbClr val="1A1C21"/>
                </a:solidFill>
                <a:latin typeface="Arial" pitchFamily="34" charset="0"/>
                <a:ea typeface="Arial" pitchFamily="34" charset="-122"/>
                <a:cs typeface="Arial" pitchFamily="34" charset="-120"/>
              </a:rPr>
              <a:t>cash floor</a:t>
            </a:r>
            <a:endParaRPr lang="en-US" sz="1650" dirty="0"/>
          </a:p>
        </p:txBody>
      </p:sp>
      <p:sp>
        <p:nvSpPr>
          <p:cNvPr id="27" name="Text 25"/>
          <p:cNvSpPr/>
          <p:nvPr/>
        </p:nvSpPr>
        <p:spPr>
          <a:xfrm>
            <a:off x="13530263" y="4531370"/>
            <a:ext cx="3576018"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F58"/>
                </a:solidFill>
                <a:latin typeface="Arial" pitchFamily="34" charset="0"/>
                <a:ea typeface="Arial" pitchFamily="34" charset="-122"/>
                <a:cs typeface="Arial" pitchFamily="34" charset="-120"/>
              </a:rPr>
              <a:t>Always leave ammunition for dip‑buys and stops.</a:t>
            </a:r>
            <a:endParaRPr lang="en-US" sz="1500" dirty="0"/>
          </a:p>
        </p:txBody>
      </p:sp>
      <p:sp>
        <p:nvSpPr>
          <p:cNvPr id="28" name="Shape 26"/>
          <p:cNvSpPr/>
          <p:nvPr/>
        </p:nvSpPr>
        <p:spPr>
          <a:xfrm>
            <a:off x="1066800" y="5455295"/>
            <a:ext cx="3910013" cy="2257425"/>
          </a:xfrm>
          <a:prstGeom prst="rect">
            <a:avLst/>
          </a:prstGeom>
          <a:solidFill>
            <a:srgbClr val="FFFFFF"/>
          </a:solidFill>
          <a:ln w="9525">
            <a:solidFill>
              <a:srgbClr val="DCD4BF"/>
            </a:solidFill>
            <a:prstDash val="solid"/>
          </a:ln>
        </p:spPr>
      </p:sp>
      <p:sp>
        <p:nvSpPr>
          <p:cNvPr id="29" name="Text 27"/>
          <p:cNvSpPr/>
          <p:nvPr/>
        </p:nvSpPr>
        <p:spPr>
          <a:xfrm>
            <a:off x="1285875" y="5693420"/>
            <a:ext cx="3576018" cy="2571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7A8190"/>
                </a:solidFill>
                <a:latin typeface="Courier New" pitchFamily="34" charset="0"/>
                <a:ea typeface="Courier New" pitchFamily="34" charset="-122"/>
                <a:cs typeface="Courier New" pitchFamily="34" charset="-120"/>
              </a:rPr>
              <a:t>TRAILING_STOP_PCT</a:t>
            </a:r>
            <a:endParaRPr lang="en-US" sz="1500" dirty="0"/>
          </a:p>
        </p:txBody>
      </p:sp>
      <p:sp>
        <p:nvSpPr>
          <p:cNvPr id="30" name="Text 28"/>
          <p:cNvSpPr/>
          <p:nvPr/>
        </p:nvSpPr>
        <p:spPr>
          <a:xfrm>
            <a:off x="1285875" y="5988695"/>
            <a:ext cx="3576018"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spc="-139" kern="0" dirty="0">
                <a:solidFill>
                  <a:srgbClr val="1F3A5F"/>
                </a:solidFill>
                <a:latin typeface="Georgia" pitchFamily="34" charset="0"/>
                <a:ea typeface="Georgia" pitchFamily="34" charset="-122"/>
                <a:cs typeface="Georgia" pitchFamily="34" charset="-120"/>
              </a:rPr>
              <a:t>7 %</a:t>
            </a:r>
            <a:endParaRPr lang="en-US" sz="4650" dirty="0"/>
          </a:p>
        </p:txBody>
      </p:sp>
      <p:sp>
        <p:nvSpPr>
          <p:cNvPr id="31" name="Text 29"/>
          <p:cNvSpPr/>
          <p:nvPr/>
        </p:nvSpPr>
        <p:spPr>
          <a:xfrm>
            <a:off x="1285875" y="6655445"/>
            <a:ext cx="3576018" cy="285750"/>
          </a:xfrm>
          <a:prstGeom prst="rect">
            <a:avLst/>
          </a:prstGeom>
          <a:noFill/>
          <a:ln/>
        </p:spPr>
        <p:txBody>
          <a:bodyPr wrap="square" lIns="25400" tIns="25400" rIns="25400" bIns="25400" rtlCol="0" anchor="t">
            <a:normAutofit/>
          </a:bodyPr>
          <a:lstStyle/>
          <a:p>
            <a:pPr algn="l" indent="0" marL="0">
              <a:buNone/>
            </a:pPr>
            <a:r>
              <a:rPr lang="en-US" sz="1650" dirty="0">
                <a:solidFill>
                  <a:srgbClr val="1A1C21"/>
                </a:solidFill>
                <a:latin typeface="Arial" pitchFamily="34" charset="0"/>
                <a:ea typeface="Arial" pitchFamily="34" charset="-122"/>
                <a:cs typeface="Arial" pitchFamily="34" charset="-120"/>
              </a:rPr>
              <a:t>trailing stop</a:t>
            </a:r>
            <a:endParaRPr lang="en-US" sz="1650" dirty="0"/>
          </a:p>
        </p:txBody>
      </p:sp>
      <p:sp>
        <p:nvSpPr>
          <p:cNvPr id="32" name="Text 30"/>
          <p:cNvSpPr/>
          <p:nvPr/>
        </p:nvSpPr>
        <p:spPr>
          <a:xfrm>
            <a:off x="1285875" y="6960245"/>
            <a:ext cx="3576018"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F58"/>
                </a:solidFill>
                <a:latin typeface="Arial" pitchFamily="34" charset="0"/>
                <a:ea typeface="Arial" pitchFamily="34" charset="-122"/>
                <a:cs typeface="Arial" pitchFamily="34" charset="-120"/>
              </a:rPr>
              <a:t>If a holding falls 7 % from its peak, we sell it.</a:t>
            </a:r>
            <a:endParaRPr lang="en-US" sz="1500" dirty="0"/>
          </a:p>
        </p:txBody>
      </p:sp>
      <p:sp>
        <p:nvSpPr>
          <p:cNvPr id="33" name="Shape 31"/>
          <p:cNvSpPr/>
          <p:nvPr/>
        </p:nvSpPr>
        <p:spPr>
          <a:xfrm>
            <a:off x="5148263" y="5455295"/>
            <a:ext cx="3910013" cy="2257425"/>
          </a:xfrm>
          <a:prstGeom prst="rect">
            <a:avLst/>
          </a:prstGeom>
          <a:solidFill>
            <a:srgbClr val="FFFFFF"/>
          </a:solidFill>
          <a:ln w="9525">
            <a:solidFill>
              <a:srgbClr val="DCD4BF"/>
            </a:solidFill>
            <a:prstDash val="solid"/>
          </a:ln>
        </p:spPr>
      </p:sp>
      <p:sp>
        <p:nvSpPr>
          <p:cNvPr id="34" name="Text 32"/>
          <p:cNvSpPr/>
          <p:nvPr/>
        </p:nvSpPr>
        <p:spPr>
          <a:xfrm>
            <a:off x="5367338" y="5693420"/>
            <a:ext cx="3576018" cy="2571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7A8190"/>
                </a:solidFill>
                <a:latin typeface="Courier New" pitchFamily="34" charset="0"/>
                <a:ea typeface="Courier New" pitchFamily="34" charset="-122"/>
                <a:cs typeface="Courier New" pitchFamily="34" charset="-120"/>
              </a:rPr>
              <a:t>DIP_ADD_DRAWDOWN</a:t>
            </a:r>
            <a:endParaRPr lang="en-US" sz="1500" dirty="0"/>
          </a:p>
        </p:txBody>
      </p:sp>
      <p:sp>
        <p:nvSpPr>
          <p:cNvPr id="35" name="Text 33"/>
          <p:cNvSpPr/>
          <p:nvPr/>
        </p:nvSpPr>
        <p:spPr>
          <a:xfrm>
            <a:off x="5367338" y="5988695"/>
            <a:ext cx="3576018"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spc="-139" kern="0" dirty="0">
                <a:solidFill>
                  <a:srgbClr val="1F3A5F"/>
                </a:solidFill>
                <a:latin typeface="Georgia" pitchFamily="34" charset="0"/>
                <a:ea typeface="Georgia" pitchFamily="34" charset="-122"/>
                <a:cs typeface="Georgia" pitchFamily="34" charset="-120"/>
              </a:rPr>
              <a:t>25 %</a:t>
            </a:r>
            <a:endParaRPr lang="en-US" sz="4650" dirty="0"/>
          </a:p>
        </p:txBody>
      </p:sp>
      <p:sp>
        <p:nvSpPr>
          <p:cNvPr id="36" name="Text 34"/>
          <p:cNvSpPr/>
          <p:nvPr/>
        </p:nvSpPr>
        <p:spPr>
          <a:xfrm>
            <a:off x="5367338" y="6655445"/>
            <a:ext cx="3576018" cy="285750"/>
          </a:xfrm>
          <a:prstGeom prst="rect">
            <a:avLst/>
          </a:prstGeom>
          <a:noFill/>
          <a:ln/>
        </p:spPr>
        <p:txBody>
          <a:bodyPr wrap="square" lIns="25400" tIns="25400" rIns="25400" bIns="25400" rtlCol="0" anchor="t">
            <a:normAutofit/>
          </a:bodyPr>
          <a:lstStyle/>
          <a:p>
            <a:pPr algn="l" indent="0" marL="0">
              <a:buNone/>
            </a:pPr>
            <a:r>
              <a:rPr lang="en-US" sz="1650" dirty="0">
                <a:solidFill>
                  <a:srgbClr val="1A1C21"/>
                </a:solidFill>
                <a:latin typeface="Arial" pitchFamily="34" charset="0"/>
                <a:ea typeface="Arial" pitchFamily="34" charset="-122"/>
                <a:cs typeface="Arial" pitchFamily="34" charset="-120"/>
              </a:rPr>
              <a:t>dip add trigger</a:t>
            </a:r>
            <a:endParaRPr lang="en-US" sz="1650" dirty="0"/>
          </a:p>
        </p:txBody>
      </p:sp>
      <p:sp>
        <p:nvSpPr>
          <p:cNvPr id="37" name="Text 35"/>
          <p:cNvSpPr/>
          <p:nvPr/>
        </p:nvSpPr>
        <p:spPr>
          <a:xfrm>
            <a:off x="5367338" y="6960245"/>
            <a:ext cx="3576018"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F58"/>
                </a:solidFill>
                <a:latin typeface="Arial" pitchFamily="34" charset="0"/>
                <a:ea typeface="Arial" pitchFamily="34" charset="-122"/>
                <a:cs typeface="Arial" pitchFamily="34" charset="-120"/>
              </a:rPr>
              <a:t>Only add more if the thesis is still positive.</a:t>
            </a:r>
            <a:endParaRPr lang="en-US" sz="1500" dirty="0"/>
          </a:p>
        </p:txBody>
      </p:sp>
      <p:sp>
        <p:nvSpPr>
          <p:cNvPr id="38" name="Shape 36"/>
          <p:cNvSpPr/>
          <p:nvPr/>
        </p:nvSpPr>
        <p:spPr>
          <a:xfrm>
            <a:off x="9229725" y="5455295"/>
            <a:ext cx="3910013" cy="2257425"/>
          </a:xfrm>
          <a:prstGeom prst="rect">
            <a:avLst/>
          </a:prstGeom>
          <a:solidFill>
            <a:srgbClr val="FFFFFF"/>
          </a:solidFill>
          <a:ln w="9525">
            <a:solidFill>
              <a:srgbClr val="DCD4BF"/>
            </a:solidFill>
            <a:prstDash val="solid"/>
          </a:ln>
        </p:spPr>
      </p:sp>
      <p:sp>
        <p:nvSpPr>
          <p:cNvPr id="39" name="Text 37"/>
          <p:cNvSpPr/>
          <p:nvPr/>
        </p:nvSpPr>
        <p:spPr>
          <a:xfrm>
            <a:off x="9448800" y="5693420"/>
            <a:ext cx="3576018" cy="2571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7A8190"/>
                </a:solidFill>
                <a:latin typeface="Courier New" pitchFamily="34" charset="0"/>
                <a:ea typeface="Courier New" pitchFamily="34" charset="-122"/>
                <a:cs typeface="Courier New" pitchFamily="34" charset="-120"/>
              </a:rPr>
              <a:t>FIXED_INCOME_FLOOR</a:t>
            </a:r>
            <a:endParaRPr lang="en-US" sz="1500" dirty="0"/>
          </a:p>
        </p:txBody>
      </p:sp>
      <p:sp>
        <p:nvSpPr>
          <p:cNvPr id="40" name="Text 38"/>
          <p:cNvSpPr/>
          <p:nvPr/>
        </p:nvSpPr>
        <p:spPr>
          <a:xfrm>
            <a:off x="9448800" y="5988695"/>
            <a:ext cx="3576018"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spc="-139" kern="0" dirty="0">
                <a:solidFill>
                  <a:srgbClr val="1F3A5F"/>
                </a:solidFill>
                <a:latin typeface="Georgia" pitchFamily="34" charset="0"/>
                <a:ea typeface="Georgia" pitchFamily="34" charset="-122"/>
                <a:cs typeface="Georgia" pitchFamily="34" charset="-120"/>
              </a:rPr>
              <a:t>10 %</a:t>
            </a:r>
            <a:endParaRPr lang="en-US" sz="4650" dirty="0"/>
          </a:p>
        </p:txBody>
      </p:sp>
      <p:sp>
        <p:nvSpPr>
          <p:cNvPr id="41" name="Text 39"/>
          <p:cNvSpPr/>
          <p:nvPr/>
        </p:nvSpPr>
        <p:spPr>
          <a:xfrm>
            <a:off x="9448800" y="6655445"/>
            <a:ext cx="3576018" cy="285750"/>
          </a:xfrm>
          <a:prstGeom prst="rect">
            <a:avLst/>
          </a:prstGeom>
          <a:noFill/>
          <a:ln/>
        </p:spPr>
        <p:txBody>
          <a:bodyPr wrap="square" lIns="25400" tIns="25400" rIns="25400" bIns="25400" rtlCol="0" anchor="t">
            <a:normAutofit/>
          </a:bodyPr>
          <a:lstStyle/>
          <a:p>
            <a:pPr algn="l" indent="0" marL="0">
              <a:buNone/>
            </a:pPr>
            <a:r>
              <a:rPr lang="en-US" sz="1650" dirty="0">
                <a:solidFill>
                  <a:srgbClr val="1A1C21"/>
                </a:solidFill>
                <a:latin typeface="Arial" pitchFamily="34" charset="0"/>
                <a:ea typeface="Arial" pitchFamily="34" charset="-122"/>
                <a:cs typeface="Arial" pitchFamily="34" charset="-120"/>
              </a:rPr>
              <a:t>minimum bonds</a:t>
            </a:r>
            <a:endParaRPr lang="en-US" sz="1650" dirty="0"/>
          </a:p>
        </p:txBody>
      </p:sp>
      <p:sp>
        <p:nvSpPr>
          <p:cNvPr id="42" name="Text 40"/>
          <p:cNvSpPr/>
          <p:nvPr/>
        </p:nvSpPr>
        <p:spPr>
          <a:xfrm>
            <a:off x="9448800" y="6960245"/>
            <a:ext cx="357601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F58"/>
                </a:solidFill>
                <a:latin typeface="Arial" pitchFamily="34" charset="0"/>
                <a:ea typeface="Arial" pitchFamily="34" charset="-122"/>
                <a:cs typeface="Arial" pitchFamily="34" charset="-120"/>
              </a:rPr>
              <a:t>Boring, steady ballast.</a:t>
            </a:r>
            <a:endParaRPr lang="en-US" sz="1500" dirty="0"/>
          </a:p>
        </p:txBody>
      </p:sp>
      <p:sp>
        <p:nvSpPr>
          <p:cNvPr id="43" name="Shape 41"/>
          <p:cNvSpPr/>
          <p:nvPr/>
        </p:nvSpPr>
        <p:spPr>
          <a:xfrm>
            <a:off x="13311188" y="5455295"/>
            <a:ext cx="3910013" cy="2257425"/>
          </a:xfrm>
          <a:prstGeom prst="rect">
            <a:avLst/>
          </a:prstGeom>
          <a:solidFill>
            <a:srgbClr val="FFFFFF"/>
          </a:solidFill>
          <a:ln w="9525">
            <a:solidFill>
              <a:srgbClr val="DCD4BF"/>
            </a:solidFill>
            <a:prstDash val="solid"/>
          </a:ln>
        </p:spPr>
      </p:sp>
      <p:sp>
        <p:nvSpPr>
          <p:cNvPr id="44" name="Text 42"/>
          <p:cNvSpPr/>
          <p:nvPr/>
        </p:nvSpPr>
        <p:spPr>
          <a:xfrm>
            <a:off x="13530263" y="5693420"/>
            <a:ext cx="3576018" cy="2571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7A8190"/>
                </a:solidFill>
                <a:latin typeface="Courier New" pitchFamily="34" charset="0"/>
                <a:ea typeface="Courier New" pitchFamily="34" charset="-122"/>
                <a:cs typeface="Courier New" pitchFamily="34" charset="-120"/>
              </a:rPr>
              <a:t>MAX_POSITIONS</a:t>
            </a:r>
            <a:endParaRPr lang="en-US" sz="1500" dirty="0"/>
          </a:p>
        </p:txBody>
      </p:sp>
      <p:sp>
        <p:nvSpPr>
          <p:cNvPr id="45" name="Text 43"/>
          <p:cNvSpPr/>
          <p:nvPr/>
        </p:nvSpPr>
        <p:spPr>
          <a:xfrm>
            <a:off x="13530263" y="5988695"/>
            <a:ext cx="3576018"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spc="-139" kern="0" dirty="0">
                <a:solidFill>
                  <a:srgbClr val="1F3A5F"/>
                </a:solidFill>
                <a:latin typeface="Georgia" pitchFamily="34" charset="0"/>
                <a:ea typeface="Georgia" pitchFamily="34" charset="-122"/>
                <a:cs typeface="Georgia" pitchFamily="34" charset="-120"/>
              </a:rPr>
              <a:t>30</a:t>
            </a:r>
            <a:endParaRPr lang="en-US" sz="4650" dirty="0"/>
          </a:p>
        </p:txBody>
      </p:sp>
      <p:sp>
        <p:nvSpPr>
          <p:cNvPr id="46" name="Text 44"/>
          <p:cNvSpPr/>
          <p:nvPr/>
        </p:nvSpPr>
        <p:spPr>
          <a:xfrm>
            <a:off x="13530263" y="6655445"/>
            <a:ext cx="3576018" cy="285750"/>
          </a:xfrm>
          <a:prstGeom prst="rect">
            <a:avLst/>
          </a:prstGeom>
          <a:noFill/>
          <a:ln/>
        </p:spPr>
        <p:txBody>
          <a:bodyPr wrap="square" lIns="25400" tIns="25400" rIns="25400" bIns="25400" rtlCol="0" anchor="t">
            <a:normAutofit/>
          </a:bodyPr>
          <a:lstStyle/>
          <a:p>
            <a:pPr algn="l" indent="0" marL="0">
              <a:buNone/>
            </a:pPr>
            <a:r>
              <a:rPr lang="en-US" sz="1650" dirty="0">
                <a:solidFill>
                  <a:srgbClr val="1A1C21"/>
                </a:solidFill>
                <a:latin typeface="Arial" pitchFamily="34" charset="0"/>
                <a:ea typeface="Arial" pitchFamily="34" charset="-122"/>
                <a:cs typeface="Arial" pitchFamily="34" charset="-120"/>
              </a:rPr>
              <a:t>concurrent holdings</a:t>
            </a:r>
            <a:endParaRPr lang="en-US" sz="1650" dirty="0"/>
          </a:p>
        </p:txBody>
      </p:sp>
      <p:sp>
        <p:nvSpPr>
          <p:cNvPr id="47" name="Text 45"/>
          <p:cNvSpPr/>
          <p:nvPr/>
        </p:nvSpPr>
        <p:spPr>
          <a:xfrm>
            <a:off x="13530263" y="6960245"/>
            <a:ext cx="3576018"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F58"/>
                </a:solidFill>
                <a:latin typeface="Arial" pitchFamily="34" charset="0"/>
                <a:ea typeface="Arial" pitchFamily="34" charset="-122"/>
                <a:cs typeface="Arial" pitchFamily="34" charset="-120"/>
              </a:rPr>
              <a:t>More than 30 is too many to reason about.</a:t>
            </a:r>
            <a:endParaRPr lang="en-US" sz="1500" dirty="0"/>
          </a:p>
        </p:txBody>
      </p:sp>
      <p:sp>
        <p:nvSpPr>
          <p:cNvPr id="48" name="Text 46"/>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49" name="Text 47"/>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9587"/>
            <a:ext cx="266700" cy="19050"/>
          </a:xfrm>
          <a:prstGeom prst="rect">
            <a:avLst/>
          </a:prstGeom>
          <a:solidFill>
            <a:srgbClr val="1F3A5F"/>
          </a:solidFill>
          <a:ln/>
        </p:spPr>
      </p:sp>
      <p:sp>
        <p:nvSpPr>
          <p:cNvPr id="4" name="Text 2"/>
          <p:cNvSpPr/>
          <p:nvPr/>
        </p:nvSpPr>
        <p:spPr>
          <a:xfrm>
            <a:off x="1466850" y="400050"/>
            <a:ext cx="4462512"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15 · A TYPICAL 5‑MIN TICK</a:t>
            </a:r>
            <a:endParaRPr lang="en-US" sz="1800" dirty="0"/>
          </a:p>
        </p:txBody>
      </p:sp>
      <p:sp>
        <p:nvSpPr>
          <p:cNvPr id="5" name="Text 3"/>
          <p:cNvSpPr/>
          <p:nvPr/>
        </p:nvSpPr>
        <p:spPr>
          <a:xfrm>
            <a:off x="15309354" y="390525"/>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B · 15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One tick, second by second.</a:t>
            </a:r>
            <a:endParaRPr lang="en-US" sz="4800" dirty="0"/>
          </a:p>
        </p:txBody>
      </p:sp>
      <p:sp>
        <p:nvSpPr>
          <p:cNvPr id="7" name="Text 5"/>
          <p:cNvSpPr/>
          <p:nvPr/>
        </p:nvSpPr>
        <p:spPr>
          <a:xfrm>
            <a:off x="1066800" y="1662559"/>
            <a:ext cx="10791825" cy="849511"/>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APScheduler fires every 5 minutes between 09:30 and 16:00 ET. Each cycle takes well under a minute, leaving plenty of slack.</a:t>
            </a:r>
            <a:endParaRPr lang="en-US" sz="2250" dirty="0"/>
          </a:p>
        </p:txBody>
      </p:sp>
      <p:sp>
        <p:nvSpPr>
          <p:cNvPr id="8" name="Shape 6"/>
          <p:cNvSpPr/>
          <p:nvPr/>
        </p:nvSpPr>
        <p:spPr>
          <a:xfrm>
            <a:off x="2457450" y="2912120"/>
            <a:ext cx="19050" cy="5794474"/>
          </a:xfrm>
          <a:prstGeom prst="rect">
            <a:avLst/>
          </a:prstGeom>
          <a:solidFill>
            <a:srgbClr val="DCD4BF"/>
          </a:solidFill>
          <a:ln/>
        </p:spPr>
      </p:sp>
      <p:sp>
        <p:nvSpPr>
          <p:cNvPr id="9" name="Text 7"/>
          <p:cNvSpPr/>
          <p:nvPr/>
        </p:nvSpPr>
        <p:spPr>
          <a:xfrm>
            <a:off x="1066800" y="2931170"/>
            <a:ext cx="13335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T + 0s</a:t>
            </a:r>
            <a:endParaRPr lang="en-US" sz="1950" dirty="0"/>
          </a:p>
        </p:txBody>
      </p:sp>
      <p:sp>
        <p:nvSpPr>
          <p:cNvPr id="10" name="Shape 8"/>
          <p:cNvSpPr/>
          <p:nvPr/>
        </p:nvSpPr>
        <p:spPr>
          <a:xfrm>
            <a:off x="2571750" y="2969270"/>
            <a:ext cx="228600" cy="228600"/>
          </a:xfrm>
          <a:prstGeom prst="ellipse">
            <a:avLst/>
          </a:prstGeom>
          <a:solidFill>
            <a:srgbClr val="1F3A5F"/>
          </a:solidFill>
          <a:ln w="28575">
            <a:solidFill>
              <a:srgbClr val="F6F1E7"/>
            </a:solidFill>
            <a:prstDash val="solid"/>
          </a:ln>
          <a:effectLst>
            <a:outerShdw sx="100000" sy="100000" kx="0" ky="0" algn="bl" rotWithShape="0" blurRad="101600" dist="50800" dir="16200000">
              <a:srgbClr val="1F3A5F">
                <a:alpha val="100000"/>
              </a:srgbClr>
            </a:outerShdw>
          </a:effectLst>
        </p:spPr>
      </p:sp>
      <p:sp>
        <p:nvSpPr>
          <p:cNvPr id="11" name="Text 9"/>
          <p:cNvSpPr/>
          <p:nvPr/>
        </p:nvSpPr>
        <p:spPr>
          <a:xfrm>
            <a:off x="3048000" y="2874020"/>
            <a:ext cx="14598396"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Pull news</a:t>
            </a:r>
            <a:endParaRPr lang="en-US" sz="2700" dirty="0"/>
          </a:p>
        </p:txBody>
      </p:sp>
      <p:sp>
        <p:nvSpPr>
          <p:cNvPr id="12" name="Text 10"/>
          <p:cNvSpPr/>
          <p:nvPr/>
        </p:nvSpPr>
        <p:spPr>
          <a:xfrm>
            <a:off x="3048000" y="3283595"/>
            <a:ext cx="145983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4F58"/>
                </a:solidFill>
                <a:latin typeface="Arial" pitchFamily="34" charset="0"/>
                <a:ea typeface="Arial" pitchFamily="34" charset="-122"/>
                <a:cs typeface="Arial" pitchFamily="34" charset="-120"/>
              </a:rPr>
              <a:t>RSS scrape → VADER polarity → upsert new headlines to the news table.</a:t>
            </a:r>
            <a:endParaRPr lang="en-US" sz="1950" dirty="0"/>
          </a:p>
        </p:txBody>
      </p:sp>
      <p:sp>
        <p:nvSpPr>
          <p:cNvPr id="13" name="Text 11"/>
          <p:cNvSpPr/>
          <p:nvPr/>
        </p:nvSpPr>
        <p:spPr>
          <a:xfrm>
            <a:off x="1066800" y="3954066"/>
            <a:ext cx="13335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T + 20s</a:t>
            </a:r>
            <a:endParaRPr lang="en-US" sz="1950" dirty="0"/>
          </a:p>
        </p:txBody>
      </p:sp>
      <p:sp>
        <p:nvSpPr>
          <p:cNvPr id="14" name="Shape 12"/>
          <p:cNvSpPr/>
          <p:nvPr/>
        </p:nvSpPr>
        <p:spPr>
          <a:xfrm>
            <a:off x="2571750" y="3992166"/>
            <a:ext cx="228600" cy="228600"/>
          </a:xfrm>
          <a:prstGeom prst="ellipse">
            <a:avLst/>
          </a:prstGeom>
          <a:solidFill>
            <a:srgbClr val="1F3A5F"/>
          </a:solidFill>
          <a:ln w="28575">
            <a:solidFill>
              <a:srgbClr val="F6F1E7"/>
            </a:solidFill>
            <a:prstDash val="solid"/>
          </a:ln>
          <a:effectLst>
            <a:outerShdw sx="100000" sy="100000" kx="0" ky="0" algn="bl" rotWithShape="0" blurRad="101600" dist="50800" dir="16200000">
              <a:srgbClr val="1F3A5F">
                <a:alpha val="100000"/>
              </a:srgbClr>
            </a:outerShdw>
          </a:effectLst>
        </p:spPr>
      </p:sp>
      <p:sp>
        <p:nvSpPr>
          <p:cNvPr id="15" name="Text 13"/>
          <p:cNvSpPr/>
          <p:nvPr/>
        </p:nvSpPr>
        <p:spPr>
          <a:xfrm>
            <a:off x="3048000" y="3896916"/>
            <a:ext cx="14598396"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Refresh signals</a:t>
            </a:r>
            <a:endParaRPr lang="en-US" sz="2700" dirty="0"/>
          </a:p>
        </p:txBody>
      </p:sp>
      <p:sp>
        <p:nvSpPr>
          <p:cNvPr id="16" name="Text 14"/>
          <p:cNvSpPr/>
          <p:nvPr/>
        </p:nvSpPr>
        <p:spPr>
          <a:xfrm>
            <a:off x="3048000" y="4306491"/>
            <a:ext cx="145983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4F58"/>
                </a:solidFill>
                <a:latin typeface="Arial" pitchFamily="34" charset="0"/>
                <a:ea typeface="Arial" pitchFamily="34" charset="-122"/>
                <a:cs typeface="Arial" pitchFamily="34" charset="-120"/>
              </a:rPr>
              <a:t>Aggregate news + politician + 13F + momentum + dip into a per‑ticker score.</a:t>
            </a:r>
            <a:endParaRPr lang="en-US" sz="1950" dirty="0"/>
          </a:p>
        </p:txBody>
      </p:sp>
      <p:sp>
        <p:nvSpPr>
          <p:cNvPr id="17" name="Text 15"/>
          <p:cNvSpPr/>
          <p:nvPr/>
        </p:nvSpPr>
        <p:spPr>
          <a:xfrm>
            <a:off x="1066800" y="4976961"/>
            <a:ext cx="13335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T + 40s</a:t>
            </a:r>
            <a:endParaRPr lang="en-US" sz="1950" dirty="0"/>
          </a:p>
        </p:txBody>
      </p:sp>
      <p:sp>
        <p:nvSpPr>
          <p:cNvPr id="18" name="Shape 16"/>
          <p:cNvSpPr/>
          <p:nvPr/>
        </p:nvSpPr>
        <p:spPr>
          <a:xfrm>
            <a:off x="2571750" y="5015061"/>
            <a:ext cx="228600" cy="228600"/>
          </a:xfrm>
          <a:prstGeom prst="ellipse">
            <a:avLst/>
          </a:prstGeom>
          <a:solidFill>
            <a:srgbClr val="1F3A5F"/>
          </a:solidFill>
          <a:ln w="28575">
            <a:solidFill>
              <a:srgbClr val="F6F1E7"/>
            </a:solidFill>
            <a:prstDash val="solid"/>
          </a:ln>
          <a:effectLst>
            <a:outerShdw sx="100000" sy="100000" kx="0" ky="0" algn="bl" rotWithShape="0" blurRad="101600" dist="50800" dir="16200000">
              <a:srgbClr val="1F3A5F">
                <a:alpha val="100000"/>
              </a:srgbClr>
            </a:outerShdw>
          </a:effectLst>
        </p:spPr>
      </p:sp>
      <p:sp>
        <p:nvSpPr>
          <p:cNvPr id="19" name="Text 17"/>
          <p:cNvSpPr/>
          <p:nvPr/>
        </p:nvSpPr>
        <p:spPr>
          <a:xfrm>
            <a:off x="3048000" y="4919811"/>
            <a:ext cx="14598396"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Read account</a:t>
            </a:r>
            <a:endParaRPr lang="en-US" sz="2700" dirty="0"/>
          </a:p>
        </p:txBody>
      </p:sp>
      <p:sp>
        <p:nvSpPr>
          <p:cNvPr id="20" name="Text 18"/>
          <p:cNvSpPr/>
          <p:nvPr/>
        </p:nvSpPr>
        <p:spPr>
          <a:xfrm>
            <a:off x="3048000" y="5329386"/>
            <a:ext cx="145983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4F58"/>
                </a:solidFill>
                <a:latin typeface="Arial" pitchFamily="34" charset="0"/>
                <a:ea typeface="Arial" pitchFamily="34" charset="-122"/>
                <a:cs typeface="Arial" pitchFamily="34" charset="-120"/>
              </a:rPr>
              <a:t>Query Alpaca for equity, cash, buying power, and current positions.</a:t>
            </a:r>
            <a:endParaRPr lang="en-US" sz="1950" dirty="0"/>
          </a:p>
        </p:txBody>
      </p:sp>
      <p:sp>
        <p:nvSpPr>
          <p:cNvPr id="21" name="Text 19"/>
          <p:cNvSpPr/>
          <p:nvPr/>
        </p:nvSpPr>
        <p:spPr>
          <a:xfrm>
            <a:off x="1066800" y="5999857"/>
            <a:ext cx="13335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T + 50s</a:t>
            </a:r>
            <a:endParaRPr lang="en-US" sz="1950" dirty="0"/>
          </a:p>
        </p:txBody>
      </p:sp>
      <p:sp>
        <p:nvSpPr>
          <p:cNvPr id="22" name="Shape 20"/>
          <p:cNvSpPr/>
          <p:nvPr/>
        </p:nvSpPr>
        <p:spPr>
          <a:xfrm>
            <a:off x="2571750" y="6037957"/>
            <a:ext cx="228600" cy="228600"/>
          </a:xfrm>
          <a:prstGeom prst="ellipse">
            <a:avLst/>
          </a:prstGeom>
          <a:solidFill>
            <a:srgbClr val="1F3A5F"/>
          </a:solidFill>
          <a:ln w="28575">
            <a:solidFill>
              <a:srgbClr val="F6F1E7"/>
            </a:solidFill>
            <a:prstDash val="solid"/>
          </a:ln>
          <a:effectLst>
            <a:outerShdw sx="100000" sy="100000" kx="0" ky="0" algn="bl" rotWithShape="0" blurRad="101600" dist="50800" dir="16200000">
              <a:srgbClr val="1F3A5F">
                <a:alpha val="100000"/>
              </a:srgbClr>
            </a:outerShdw>
          </a:effectLst>
        </p:spPr>
      </p:sp>
      <p:sp>
        <p:nvSpPr>
          <p:cNvPr id="23" name="Text 21"/>
          <p:cNvSpPr/>
          <p:nvPr/>
        </p:nvSpPr>
        <p:spPr>
          <a:xfrm>
            <a:off x="3048000" y="5942707"/>
            <a:ext cx="14598396"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Plan orders</a:t>
            </a:r>
            <a:endParaRPr lang="en-US" sz="2700" dirty="0"/>
          </a:p>
        </p:txBody>
      </p:sp>
      <p:sp>
        <p:nvSpPr>
          <p:cNvPr id="24" name="Text 22"/>
          <p:cNvSpPr/>
          <p:nvPr/>
        </p:nvSpPr>
        <p:spPr>
          <a:xfrm>
            <a:off x="3048000" y="6352282"/>
            <a:ext cx="145983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4F58"/>
                </a:solidFill>
                <a:latin typeface="Arial" pitchFamily="34" charset="0"/>
                <a:ea typeface="Arial" pitchFamily="34" charset="-122"/>
                <a:cs typeface="Arial" pitchFamily="34" charset="-120"/>
              </a:rPr>
              <a:t>strategy.plan() emits PlannedOrder[] and writes Decision rows (even for "hold").</a:t>
            </a:r>
            <a:endParaRPr lang="en-US" sz="1950" dirty="0"/>
          </a:p>
        </p:txBody>
      </p:sp>
      <p:sp>
        <p:nvSpPr>
          <p:cNvPr id="25" name="Text 23"/>
          <p:cNvSpPr/>
          <p:nvPr/>
        </p:nvSpPr>
        <p:spPr>
          <a:xfrm>
            <a:off x="1066800" y="7022753"/>
            <a:ext cx="13335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T + 60s</a:t>
            </a:r>
            <a:endParaRPr lang="en-US" sz="1950" dirty="0"/>
          </a:p>
        </p:txBody>
      </p:sp>
      <p:sp>
        <p:nvSpPr>
          <p:cNvPr id="26" name="Shape 24"/>
          <p:cNvSpPr/>
          <p:nvPr/>
        </p:nvSpPr>
        <p:spPr>
          <a:xfrm>
            <a:off x="2571750" y="7060853"/>
            <a:ext cx="228600" cy="228600"/>
          </a:xfrm>
          <a:prstGeom prst="ellipse">
            <a:avLst/>
          </a:prstGeom>
          <a:solidFill>
            <a:srgbClr val="1F3A5F"/>
          </a:solidFill>
          <a:ln w="28575">
            <a:solidFill>
              <a:srgbClr val="F6F1E7"/>
            </a:solidFill>
            <a:prstDash val="solid"/>
          </a:ln>
          <a:effectLst>
            <a:outerShdw sx="100000" sy="100000" kx="0" ky="0" algn="bl" rotWithShape="0" blurRad="101600" dist="50800" dir="16200000">
              <a:srgbClr val="1F3A5F">
                <a:alpha val="100000"/>
              </a:srgbClr>
            </a:outerShdw>
          </a:effectLst>
        </p:spPr>
      </p:sp>
      <p:sp>
        <p:nvSpPr>
          <p:cNvPr id="27" name="Text 25"/>
          <p:cNvSpPr/>
          <p:nvPr/>
        </p:nvSpPr>
        <p:spPr>
          <a:xfrm>
            <a:off x="3048000" y="6965603"/>
            <a:ext cx="14598396"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Execute</a:t>
            </a:r>
            <a:endParaRPr lang="en-US" sz="2700" dirty="0"/>
          </a:p>
        </p:txBody>
      </p:sp>
      <p:sp>
        <p:nvSpPr>
          <p:cNvPr id="28" name="Text 26"/>
          <p:cNvSpPr/>
          <p:nvPr/>
        </p:nvSpPr>
        <p:spPr>
          <a:xfrm>
            <a:off x="3048000" y="7375178"/>
            <a:ext cx="145983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4F58"/>
                </a:solidFill>
                <a:latin typeface="Arial" pitchFamily="34" charset="0"/>
                <a:ea typeface="Arial" pitchFamily="34" charset="-122"/>
                <a:cs typeface="Arial" pitchFamily="34" charset="-120"/>
              </a:rPr>
              <a:t>alpaca-py submits market orders — or in DRY_RUN, we log what we would have done.</a:t>
            </a:r>
            <a:endParaRPr lang="en-US" sz="1950" dirty="0"/>
          </a:p>
        </p:txBody>
      </p:sp>
      <p:sp>
        <p:nvSpPr>
          <p:cNvPr id="29" name="Text 27"/>
          <p:cNvSpPr/>
          <p:nvPr/>
        </p:nvSpPr>
        <p:spPr>
          <a:xfrm>
            <a:off x="1066800" y="8045648"/>
            <a:ext cx="13335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T + 65s</a:t>
            </a:r>
            <a:endParaRPr lang="en-US" sz="1950" dirty="0"/>
          </a:p>
        </p:txBody>
      </p:sp>
      <p:sp>
        <p:nvSpPr>
          <p:cNvPr id="30" name="Shape 28"/>
          <p:cNvSpPr/>
          <p:nvPr/>
        </p:nvSpPr>
        <p:spPr>
          <a:xfrm>
            <a:off x="2571750" y="8083748"/>
            <a:ext cx="228600" cy="228600"/>
          </a:xfrm>
          <a:prstGeom prst="ellipse">
            <a:avLst/>
          </a:prstGeom>
          <a:solidFill>
            <a:srgbClr val="1F3A5F"/>
          </a:solidFill>
          <a:ln w="28575">
            <a:solidFill>
              <a:srgbClr val="F6F1E7"/>
            </a:solidFill>
            <a:prstDash val="solid"/>
          </a:ln>
          <a:effectLst>
            <a:outerShdw sx="100000" sy="100000" kx="0" ky="0" algn="bl" rotWithShape="0" blurRad="101600" dist="50800" dir="16200000">
              <a:srgbClr val="1F3A5F">
                <a:alpha val="100000"/>
              </a:srgbClr>
            </a:outerShdw>
          </a:effectLst>
        </p:spPr>
      </p:sp>
      <p:sp>
        <p:nvSpPr>
          <p:cNvPr id="31" name="Text 29"/>
          <p:cNvSpPr/>
          <p:nvPr/>
        </p:nvSpPr>
        <p:spPr>
          <a:xfrm>
            <a:off x="3048000" y="7988498"/>
            <a:ext cx="14598396" cy="428625"/>
          </a:xfrm>
          <a:prstGeom prst="rect">
            <a:avLst/>
          </a:prstGeom>
          <a:noFill/>
          <a:ln/>
        </p:spPr>
        <p:txBody>
          <a:bodyPr wrap="square" lIns="25400" tIns="25400" rIns="25400" bIns="25400" rtlCol="0" anchor="t">
            <a:normAutofit/>
          </a:bodyPr>
          <a:lstStyle/>
          <a:p>
            <a:pPr algn="l" indent="0" marL="0">
              <a:buNone/>
            </a:pPr>
            <a:r>
              <a:rPr lang="en-US" sz="2700" spc="-27" kern="0" dirty="0">
                <a:solidFill>
                  <a:srgbClr val="1A1C21"/>
                </a:solidFill>
                <a:latin typeface="Georgia" pitchFamily="34" charset="0"/>
                <a:ea typeface="Georgia" pitchFamily="34" charset="-122"/>
                <a:cs typeface="Georgia" pitchFamily="34" charset="-120"/>
              </a:rPr>
              <a:t>Persist</a:t>
            </a:r>
            <a:endParaRPr lang="en-US" sz="2700" dirty="0"/>
          </a:p>
        </p:txBody>
      </p:sp>
      <p:sp>
        <p:nvSpPr>
          <p:cNvPr id="32" name="Text 30"/>
          <p:cNvSpPr/>
          <p:nvPr/>
        </p:nvSpPr>
        <p:spPr>
          <a:xfrm>
            <a:off x="3048000" y="8398073"/>
            <a:ext cx="145983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4F58"/>
                </a:solidFill>
                <a:latin typeface="Arial" pitchFamily="34" charset="0"/>
                <a:ea typeface="Arial" pitchFamily="34" charset="-122"/>
                <a:cs typeface="Arial" pitchFamily="34" charset="-120"/>
              </a:rPr>
              <a:t>Positions + trades + decisions flush to SQLite so the dashboard can read them.</a:t>
            </a:r>
            <a:endParaRPr lang="en-US" sz="1950" dirty="0"/>
          </a:p>
        </p:txBody>
      </p:sp>
      <p:sp>
        <p:nvSpPr>
          <p:cNvPr id="33" name="Text 31"/>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4" name="Text 32"/>
          <p:cNvSpPr/>
          <p:nvPr/>
        </p:nvSpPr>
        <p:spPr>
          <a:xfrm>
            <a:off x="14344948" y="9744075"/>
            <a:ext cx="296254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B · HOW IT THINKS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758437"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16 · HOW IT WAS BUILT</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C · 16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Seven small, boring pieces.</a:t>
            </a:r>
            <a:endParaRPr lang="en-US" sz="4800" dirty="0"/>
          </a:p>
        </p:txBody>
      </p:sp>
      <p:sp>
        <p:nvSpPr>
          <p:cNvPr id="7" name="Shape 5"/>
          <p:cNvSpPr/>
          <p:nvPr/>
        </p:nvSpPr>
        <p:spPr>
          <a:xfrm>
            <a:off x="1066800" y="2005459"/>
            <a:ext cx="16154400" cy="9525"/>
          </a:xfrm>
          <a:prstGeom prst="rect">
            <a:avLst/>
          </a:prstGeom>
          <a:solidFill>
            <a:srgbClr val="DCD4BF"/>
          </a:solidFill>
          <a:ln/>
        </p:spPr>
      </p:sp>
      <p:sp>
        <p:nvSpPr>
          <p:cNvPr id="8" name="Shape 6"/>
          <p:cNvSpPr/>
          <p:nvPr/>
        </p:nvSpPr>
        <p:spPr>
          <a:xfrm>
            <a:off x="1066800" y="3129409"/>
            <a:ext cx="16154400" cy="9525"/>
          </a:xfrm>
          <a:prstGeom prst="rect">
            <a:avLst/>
          </a:prstGeom>
          <a:solidFill>
            <a:srgbClr val="DCD4BF"/>
          </a:solidFill>
          <a:ln/>
        </p:spPr>
      </p:sp>
      <p:sp>
        <p:nvSpPr>
          <p:cNvPr id="9" name="Text 7"/>
          <p:cNvSpPr/>
          <p:nvPr/>
        </p:nvSpPr>
        <p:spPr>
          <a:xfrm>
            <a:off x="1066800" y="2243584"/>
            <a:ext cx="3139440"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Bot (headless)</a:t>
            </a:r>
            <a:endParaRPr lang="en-US" sz="2550" dirty="0"/>
          </a:p>
        </p:txBody>
      </p:sp>
      <p:sp>
        <p:nvSpPr>
          <p:cNvPr id="10" name="Text 8"/>
          <p:cNvSpPr/>
          <p:nvPr/>
        </p:nvSpPr>
        <p:spPr>
          <a:xfrm>
            <a:off x="4495800" y="2329309"/>
            <a:ext cx="7613142"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Python 3.12 · APScheduler · SQLAlchemy · Pydantic · loguru</a:t>
            </a:r>
            <a:endParaRPr lang="en-US" sz="1950" dirty="0"/>
          </a:p>
        </p:txBody>
      </p:sp>
      <p:sp>
        <p:nvSpPr>
          <p:cNvPr id="11" name="Text 9"/>
          <p:cNvSpPr/>
          <p:nvPr/>
        </p:nvSpPr>
        <p:spPr>
          <a:xfrm>
            <a:off x="12268200" y="2310259"/>
            <a:ext cx="5101590"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The trader. Runs every 5 min, makes the decisions.</a:t>
            </a:r>
            <a:endParaRPr lang="en-US" sz="1950" dirty="0"/>
          </a:p>
        </p:txBody>
      </p:sp>
      <p:sp>
        <p:nvSpPr>
          <p:cNvPr id="12" name="Shape 10"/>
          <p:cNvSpPr/>
          <p:nvPr/>
        </p:nvSpPr>
        <p:spPr>
          <a:xfrm>
            <a:off x="1066800" y="4253359"/>
            <a:ext cx="16154400" cy="9525"/>
          </a:xfrm>
          <a:prstGeom prst="rect">
            <a:avLst/>
          </a:prstGeom>
          <a:solidFill>
            <a:srgbClr val="DCD4BF"/>
          </a:solidFill>
          <a:ln/>
        </p:spPr>
      </p:sp>
      <p:sp>
        <p:nvSpPr>
          <p:cNvPr id="13" name="Text 11"/>
          <p:cNvSpPr/>
          <p:nvPr/>
        </p:nvSpPr>
        <p:spPr>
          <a:xfrm>
            <a:off x="1066800" y="3367534"/>
            <a:ext cx="3139440"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Signals</a:t>
            </a:r>
            <a:endParaRPr lang="en-US" sz="2550" dirty="0"/>
          </a:p>
        </p:txBody>
      </p:sp>
      <p:sp>
        <p:nvSpPr>
          <p:cNvPr id="14" name="Text 12"/>
          <p:cNvSpPr/>
          <p:nvPr/>
        </p:nvSpPr>
        <p:spPr>
          <a:xfrm>
            <a:off x="4495800" y="3453259"/>
            <a:ext cx="7613142"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vaderSentiment · BeautifulSoup · feedparser · (optional) PyTorch + FinBERT</a:t>
            </a:r>
            <a:endParaRPr lang="en-US" sz="1950" dirty="0"/>
          </a:p>
        </p:txBody>
      </p:sp>
      <p:sp>
        <p:nvSpPr>
          <p:cNvPr id="15" name="Text 13"/>
          <p:cNvSpPr/>
          <p:nvPr/>
        </p:nvSpPr>
        <p:spPr>
          <a:xfrm>
            <a:off x="12268200" y="3434209"/>
            <a:ext cx="510159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Turn words and filings into numbers.</a:t>
            </a:r>
            <a:endParaRPr lang="en-US" sz="1950" dirty="0"/>
          </a:p>
        </p:txBody>
      </p:sp>
      <p:sp>
        <p:nvSpPr>
          <p:cNvPr id="16" name="Shape 14"/>
          <p:cNvSpPr/>
          <p:nvPr/>
        </p:nvSpPr>
        <p:spPr>
          <a:xfrm>
            <a:off x="1066800" y="5091559"/>
            <a:ext cx="16154400" cy="9525"/>
          </a:xfrm>
          <a:prstGeom prst="rect">
            <a:avLst/>
          </a:prstGeom>
          <a:solidFill>
            <a:srgbClr val="DCD4BF"/>
          </a:solidFill>
          <a:ln/>
        </p:spPr>
      </p:sp>
      <p:sp>
        <p:nvSpPr>
          <p:cNvPr id="17" name="Text 15"/>
          <p:cNvSpPr/>
          <p:nvPr/>
        </p:nvSpPr>
        <p:spPr>
          <a:xfrm>
            <a:off x="1066800" y="4491484"/>
            <a:ext cx="3139440"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Market data / orders</a:t>
            </a:r>
            <a:endParaRPr lang="en-US" sz="2550" dirty="0"/>
          </a:p>
        </p:txBody>
      </p:sp>
      <p:sp>
        <p:nvSpPr>
          <p:cNvPr id="18" name="Text 16"/>
          <p:cNvSpPr/>
          <p:nvPr/>
        </p:nvSpPr>
        <p:spPr>
          <a:xfrm>
            <a:off x="4495800" y="4577209"/>
            <a:ext cx="7613142"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alpaca-py (IEX feed, paper endpoint)</a:t>
            </a:r>
            <a:endParaRPr lang="en-US" sz="1950" dirty="0"/>
          </a:p>
        </p:txBody>
      </p:sp>
      <p:sp>
        <p:nvSpPr>
          <p:cNvPr id="19" name="Text 17"/>
          <p:cNvSpPr/>
          <p:nvPr/>
        </p:nvSpPr>
        <p:spPr>
          <a:xfrm>
            <a:off x="12268200" y="4558159"/>
            <a:ext cx="510159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The bridge to the outside world.</a:t>
            </a:r>
            <a:endParaRPr lang="en-US" sz="1950" dirty="0"/>
          </a:p>
        </p:txBody>
      </p:sp>
      <p:sp>
        <p:nvSpPr>
          <p:cNvPr id="20" name="Shape 18"/>
          <p:cNvSpPr/>
          <p:nvPr/>
        </p:nvSpPr>
        <p:spPr>
          <a:xfrm>
            <a:off x="1066800" y="5929759"/>
            <a:ext cx="16154400" cy="9525"/>
          </a:xfrm>
          <a:prstGeom prst="rect">
            <a:avLst/>
          </a:prstGeom>
          <a:solidFill>
            <a:srgbClr val="DCD4BF"/>
          </a:solidFill>
          <a:ln/>
        </p:spPr>
      </p:sp>
      <p:sp>
        <p:nvSpPr>
          <p:cNvPr id="21" name="Text 19"/>
          <p:cNvSpPr/>
          <p:nvPr/>
        </p:nvSpPr>
        <p:spPr>
          <a:xfrm>
            <a:off x="1066800" y="5329684"/>
            <a:ext cx="3139440"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Storage</a:t>
            </a:r>
            <a:endParaRPr lang="en-US" sz="2550" dirty="0"/>
          </a:p>
        </p:txBody>
      </p:sp>
      <p:sp>
        <p:nvSpPr>
          <p:cNvPr id="22" name="Text 20"/>
          <p:cNvSpPr/>
          <p:nvPr/>
        </p:nvSpPr>
        <p:spPr>
          <a:xfrm>
            <a:off x="4495800" y="5415409"/>
            <a:ext cx="7613142"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SQLite via SQLAlchemy — a single trading.db file</a:t>
            </a:r>
            <a:endParaRPr lang="en-US" sz="1950" dirty="0"/>
          </a:p>
        </p:txBody>
      </p:sp>
      <p:sp>
        <p:nvSpPr>
          <p:cNvPr id="23" name="Text 21"/>
          <p:cNvSpPr/>
          <p:nvPr/>
        </p:nvSpPr>
        <p:spPr>
          <a:xfrm>
            <a:off x="12268200" y="5386834"/>
            <a:ext cx="5101590" cy="34290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One file, zero server, trivially backup‑able.</a:t>
            </a:r>
            <a:endParaRPr lang="en-US" sz="1950" dirty="0"/>
          </a:p>
        </p:txBody>
      </p:sp>
      <p:sp>
        <p:nvSpPr>
          <p:cNvPr id="24" name="Shape 22"/>
          <p:cNvSpPr/>
          <p:nvPr/>
        </p:nvSpPr>
        <p:spPr>
          <a:xfrm>
            <a:off x="1066800" y="7053709"/>
            <a:ext cx="16154400" cy="9525"/>
          </a:xfrm>
          <a:prstGeom prst="rect">
            <a:avLst/>
          </a:prstGeom>
          <a:solidFill>
            <a:srgbClr val="DCD4BF"/>
          </a:solidFill>
          <a:ln/>
        </p:spPr>
      </p:sp>
      <p:sp>
        <p:nvSpPr>
          <p:cNvPr id="25" name="Text 23"/>
          <p:cNvSpPr/>
          <p:nvPr/>
        </p:nvSpPr>
        <p:spPr>
          <a:xfrm>
            <a:off x="1066800" y="6167884"/>
            <a:ext cx="3139440"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Read API</a:t>
            </a:r>
            <a:endParaRPr lang="en-US" sz="2550" dirty="0"/>
          </a:p>
        </p:txBody>
      </p:sp>
      <p:sp>
        <p:nvSpPr>
          <p:cNvPr id="26" name="Text 24"/>
          <p:cNvSpPr/>
          <p:nvPr/>
        </p:nvSpPr>
        <p:spPr>
          <a:xfrm>
            <a:off x="4495800" y="6253609"/>
            <a:ext cx="7613142"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FastAPI · uvicorn</a:t>
            </a:r>
            <a:endParaRPr lang="en-US" sz="1950" dirty="0"/>
          </a:p>
        </p:txBody>
      </p:sp>
      <p:sp>
        <p:nvSpPr>
          <p:cNvPr id="27" name="Text 25"/>
          <p:cNvSpPr/>
          <p:nvPr/>
        </p:nvSpPr>
        <p:spPr>
          <a:xfrm>
            <a:off x="12268200" y="6234559"/>
            <a:ext cx="5101590"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Exposes what the bot did, without exposing keys.</a:t>
            </a:r>
            <a:endParaRPr lang="en-US" sz="1950" dirty="0"/>
          </a:p>
        </p:txBody>
      </p:sp>
      <p:sp>
        <p:nvSpPr>
          <p:cNvPr id="28" name="Shape 26"/>
          <p:cNvSpPr/>
          <p:nvPr/>
        </p:nvSpPr>
        <p:spPr>
          <a:xfrm>
            <a:off x="1066800" y="8177659"/>
            <a:ext cx="16154400" cy="9525"/>
          </a:xfrm>
          <a:prstGeom prst="rect">
            <a:avLst/>
          </a:prstGeom>
          <a:solidFill>
            <a:srgbClr val="DCD4BF"/>
          </a:solidFill>
          <a:ln/>
        </p:spPr>
      </p:sp>
      <p:sp>
        <p:nvSpPr>
          <p:cNvPr id="29" name="Text 27"/>
          <p:cNvSpPr/>
          <p:nvPr/>
        </p:nvSpPr>
        <p:spPr>
          <a:xfrm>
            <a:off x="1066800" y="7291834"/>
            <a:ext cx="3139440"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Dashboard</a:t>
            </a:r>
            <a:endParaRPr lang="en-US" sz="2550" dirty="0"/>
          </a:p>
        </p:txBody>
      </p:sp>
      <p:sp>
        <p:nvSpPr>
          <p:cNvPr id="30" name="Text 28"/>
          <p:cNvSpPr/>
          <p:nvPr/>
        </p:nvSpPr>
        <p:spPr>
          <a:xfrm>
            <a:off x="4495800" y="7358509"/>
            <a:ext cx="7613142" cy="6286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Next.js 16 · TypeScript · Tailwind (hand‑built components)</a:t>
            </a:r>
            <a:endParaRPr lang="en-US" sz="1950" dirty="0"/>
          </a:p>
        </p:txBody>
      </p:sp>
      <p:sp>
        <p:nvSpPr>
          <p:cNvPr id="31" name="Text 29"/>
          <p:cNvSpPr/>
          <p:nvPr/>
        </p:nvSpPr>
        <p:spPr>
          <a:xfrm>
            <a:off x="12268200" y="7348984"/>
            <a:ext cx="5101590" cy="34290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The human‑facing window into the bot.</a:t>
            </a:r>
            <a:endParaRPr lang="en-US" sz="1950" dirty="0"/>
          </a:p>
        </p:txBody>
      </p:sp>
      <p:sp>
        <p:nvSpPr>
          <p:cNvPr id="32" name="Shape 30"/>
          <p:cNvSpPr/>
          <p:nvPr/>
        </p:nvSpPr>
        <p:spPr>
          <a:xfrm>
            <a:off x="1066800" y="9301609"/>
            <a:ext cx="16154400" cy="9525"/>
          </a:xfrm>
          <a:prstGeom prst="rect">
            <a:avLst/>
          </a:prstGeom>
          <a:solidFill>
            <a:srgbClr val="DCD4BF"/>
          </a:solidFill>
          <a:ln/>
        </p:spPr>
      </p:sp>
      <p:sp>
        <p:nvSpPr>
          <p:cNvPr id="33" name="Text 31"/>
          <p:cNvSpPr/>
          <p:nvPr/>
        </p:nvSpPr>
        <p:spPr>
          <a:xfrm>
            <a:off x="1066800" y="8415784"/>
            <a:ext cx="3139440"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Scheduling</a:t>
            </a:r>
            <a:endParaRPr lang="en-US" sz="2550" dirty="0"/>
          </a:p>
        </p:txBody>
      </p:sp>
      <p:sp>
        <p:nvSpPr>
          <p:cNvPr id="34" name="Text 32"/>
          <p:cNvSpPr/>
          <p:nvPr/>
        </p:nvSpPr>
        <p:spPr>
          <a:xfrm>
            <a:off x="4495800" y="8501509"/>
            <a:ext cx="7613142"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Windows Task Scheduler (scripts/register_task.bat)</a:t>
            </a:r>
            <a:endParaRPr lang="en-US" sz="1950" dirty="0"/>
          </a:p>
        </p:txBody>
      </p:sp>
      <p:sp>
        <p:nvSpPr>
          <p:cNvPr id="35" name="Text 33"/>
          <p:cNvSpPr/>
          <p:nvPr/>
        </p:nvSpPr>
        <p:spPr>
          <a:xfrm>
            <a:off x="12268200" y="8482459"/>
            <a:ext cx="5101590"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Starts the bot at 09:25 on weekdays; NYSE calendar gates the rest.</a:t>
            </a:r>
            <a:endParaRPr lang="en-US" sz="1950" dirty="0"/>
          </a:p>
        </p:txBody>
      </p:sp>
      <p:sp>
        <p:nvSpPr>
          <p:cNvPr id="36" name="Text 34"/>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7" name="Text 35"/>
          <p:cNvSpPr/>
          <p:nvPr/>
        </p:nvSpPr>
        <p:spPr>
          <a:xfrm>
            <a:off x="13837444" y="9744075"/>
            <a:ext cx="3485269"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C · HOW IT WAS BUILT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8D9"/>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2684620"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17 · DATA MODEL</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C · 17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Five tables, one SQLite file.</a:t>
            </a:r>
            <a:endParaRPr lang="en-US" sz="4800" dirty="0"/>
          </a:p>
        </p:txBody>
      </p:sp>
      <p:sp>
        <p:nvSpPr>
          <p:cNvPr id="7" name="Text 5"/>
          <p:cNvSpPr/>
          <p:nvPr/>
        </p:nvSpPr>
        <p:spPr>
          <a:xfrm>
            <a:off x="1066800" y="1719709"/>
            <a:ext cx="10791825" cy="849511"/>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No ORM cleverness, no migrations yet. The whole schema fits on one slide on purpose.</a:t>
            </a:r>
            <a:endParaRPr lang="en-US" sz="2250" dirty="0"/>
          </a:p>
        </p:txBody>
      </p:sp>
      <p:sp>
        <p:nvSpPr>
          <p:cNvPr id="8" name="Shape 6"/>
          <p:cNvSpPr/>
          <p:nvPr/>
        </p:nvSpPr>
        <p:spPr>
          <a:xfrm>
            <a:off x="1066800" y="2912120"/>
            <a:ext cx="16154400" cy="1123950"/>
          </a:xfrm>
          <a:prstGeom prst="rect">
            <a:avLst/>
          </a:prstGeom>
          <a:solidFill>
            <a:srgbClr val="FFFFFF"/>
          </a:solidFill>
          <a:ln w="9525">
            <a:solidFill>
              <a:srgbClr val="DCD4BF"/>
            </a:solidFill>
            <a:prstDash val="solid"/>
          </a:ln>
        </p:spPr>
      </p:sp>
      <p:sp>
        <p:nvSpPr>
          <p:cNvPr id="9" name="Text 7"/>
          <p:cNvSpPr/>
          <p:nvPr/>
        </p:nvSpPr>
        <p:spPr>
          <a:xfrm>
            <a:off x="1362075" y="3150245"/>
            <a:ext cx="255270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F3A5F"/>
                </a:solidFill>
                <a:latin typeface="Courier New" pitchFamily="34" charset="0"/>
                <a:ea typeface="Courier New" pitchFamily="34" charset="-122"/>
                <a:cs typeface="Courier New" pitchFamily="34" charset="-120"/>
              </a:rPr>
              <a:t>positions</a:t>
            </a:r>
            <a:endParaRPr lang="en-US" sz="2700" dirty="0"/>
          </a:p>
        </p:txBody>
      </p:sp>
      <p:sp>
        <p:nvSpPr>
          <p:cNvPr id="10" name="Text 8"/>
          <p:cNvSpPr/>
          <p:nvPr/>
        </p:nvSpPr>
        <p:spPr>
          <a:xfrm>
            <a:off x="4143375" y="3226445"/>
            <a:ext cx="9123998"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Courier New" pitchFamily="34" charset="0"/>
                <a:ea typeface="Courier New" pitchFamily="34" charset="-122"/>
                <a:cs typeface="Courier New" pitchFamily="34" charset="-120"/>
              </a:rPr>
              <a:t>ticker · qty · avg_cost · market_price · market_value · peak_price</a:t>
            </a:r>
            <a:endParaRPr lang="en-US" sz="1950" dirty="0"/>
          </a:p>
        </p:txBody>
      </p:sp>
      <p:sp>
        <p:nvSpPr>
          <p:cNvPr id="11" name="Text 9"/>
          <p:cNvSpPr/>
          <p:nvPr/>
        </p:nvSpPr>
        <p:spPr>
          <a:xfrm>
            <a:off x="13306425" y="3207395"/>
            <a:ext cx="3728085"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Current book. Mutated after every fill.</a:t>
            </a:r>
            <a:endParaRPr lang="en-US" sz="1950" dirty="0"/>
          </a:p>
        </p:txBody>
      </p:sp>
      <p:sp>
        <p:nvSpPr>
          <p:cNvPr id="12" name="Shape 10"/>
          <p:cNvSpPr/>
          <p:nvPr/>
        </p:nvSpPr>
        <p:spPr>
          <a:xfrm>
            <a:off x="1066800" y="4188470"/>
            <a:ext cx="16154400" cy="1123950"/>
          </a:xfrm>
          <a:prstGeom prst="rect">
            <a:avLst/>
          </a:prstGeom>
          <a:solidFill>
            <a:srgbClr val="FFFFFF"/>
          </a:solidFill>
          <a:ln w="9525">
            <a:solidFill>
              <a:srgbClr val="DCD4BF"/>
            </a:solidFill>
            <a:prstDash val="solid"/>
          </a:ln>
        </p:spPr>
      </p:sp>
      <p:sp>
        <p:nvSpPr>
          <p:cNvPr id="13" name="Text 11"/>
          <p:cNvSpPr/>
          <p:nvPr/>
        </p:nvSpPr>
        <p:spPr>
          <a:xfrm>
            <a:off x="1362075" y="4426595"/>
            <a:ext cx="255270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F3A5F"/>
                </a:solidFill>
                <a:latin typeface="Courier New" pitchFamily="34" charset="0"/>
                <a:ea typeface="Courier New" pitchFamily="34" charset="-122"/>
                <a:cs typeface="Courier New" pitchFamily="34" charset="-120"/>
              </a:rPr>
              <a:t>trades</a:t>
            </a:r>
            <a:endParaRPr lang="en-US" sz="2700" dirty="0"/>
          </a:p>
        </p:txBody>
      </p:sp>
      <p:sp>
        <p:nvSpPr>
          <p:cNvPr id="14" name="Text 12"/>
          <p:cNvSpPr/>
          <p:nvPr/>
        </p:nvSpPr>
        <p:spPr>
          <a:xfrm>
            <a:off x="4143375" y="4502795"/>
            <a:ext cx="9123998"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Courier New" pitchFamily="34" charset="0"/>
                <a:ea typeface="Courier New" pitchFamily="34" charset="-122"/>
                <a:cs typeface="Courier New" pitchFamily="34" charset="-120"/>
              </a:rPr>
              <a:t>id · ts · ticker · side · qty · price · reason</a:t>
            </a:r>
            <a:endParaRPr lang="en-US" sz="1950" dirty="0"/>
          </a:p>
        </p:txBody>
      </p:sp>
      <p:sp>
        <p:nvSpPr>
          <p:cNvPr id="15" name="Text 13"/>
          <p:cNvSpPr/>
          <p:nvPr/>
        </p:nvSpPr>
        <p:spPr>
          <a:xfrm>
            <a:off x="13306425" y="4483745"/>
            <a:ext cx="3728085"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Immutable history of everything the bot did.</a:t>
            </a:r>
            <a:endParaRPr lang="en-US" sz="1950" dirty="0"/>
          </a:p>
        </p:txBody>
      </p:sp>
      <p:sp>
        <p:nvSpPr>
          <p:cNvPr id="16" name="Shape 14"/>
          <p:cNvSpPr/>
          <p:nvPr/>
        </p:nvSpPr>
        <p:spPr>
          <a:xfrm>
            <a:off x="1066800" y="5464820"/>
            <a:ext cx="16154400" cy="1419225"/>
          </a:xfrm>
          <a:prstGeom prst="rect">
            <a:avLst/>
          </a:prstGeom>
          <a:solidFill>
            <a:srgbClr val="FFFFFF"/>
          </a:solidFill>
          <a:ln w="9525">
            <a:solidFill>
              <a:srgbClr val="DCD4BF"/>
            </a:solidFill>
            <a:prstDash val="solid"/>
          </a:ln>
        </p:spPr>
      </p:sp>
      <p:sp>
        <p:nvSpPr>
          <p:cNvPr id="17" name="Text 15"/>
          <p:cNvSpPr/>
          <p:nvPr/>
        </p:nvSpPr>
        <p:spPr>
          <a:xfrm>
            <a:off x="1362075" y="5702945"/>
            <a:ext cx="255270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F3A5F"/>
                </a:solidFill>
                <a:latin typeface="Courier New" pitchFamily="34" charset="0"/>
                <a:ea typeface="Courier New" pitchFamily="34" charset="-122"/>
                <a:cs typeface="Courier New" pitchFamily="34" charset="-120"/>
              </a:rPr>
              <a:t>decisions</a:t>
            </a:r>
            <a:endParaRPr lang="en-US" sz="2700" dirty="0"/>
          </a:p>
        </p:txBody>
      </p:sp>
      <p:sp>
        <p:nvSpPr>
          <p:cNvPr id="18" name="Text 16"/>
          <p:cNvSpPr/>
          <p:nvPr/>
        </p:nvSpPr>
        <p:spPr>
          <a:xfrm>
            <a:off x="4143375" y="5779145"/>
            <a:ext cx="9123998"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Courier New" pitchFamily="34" charset="0"/>
                <a:ea typeface="Courier New" pitchFamily="34" charset="-122"/>
                <a:cs typeface="Courier New" pitchFamily="34" charset="-120"/>
              </a:rPr>
              <a:t>id · ts · ticker · action · composite_score · score_breakdown (json) · reason</a:t>
            </a:r>
            <a:endParaRPr lang="en-US" sz="1950" dirty="0"/>
          </a:p>
        </p:txBody>
      </p:sp>
      <p:sp>
        <p:nvSpPr>
          <p:cNvPr id="19" name="Text 17"/>
          <p:cNvSpPr/>
          <p:nvPr/>
        </p:nvSpPr>
        <p:spPr>
          <a:xfrm>
            <a:off x="13306425" y="5760095"/>
            <a:ext cx="3728085" cy="923925"/>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One row per ticker per tick, including hold decisions — the "why".</a:t>
            </a:r>
            <a:endParaRPr lang="en-US" sz="1950" dirty="0"/>
          </a:p>
        </p:txBody>
      </p:sp>
      <p:sp>
        <p:nvSpPr>
          <p:cNvPr id="20" name="Shape 18"/>
          <p:cNvSpPr/>
          <p:nvPr/>
        </p:nvSpPr>
        <p:spPr>
          <a:xfrm>
            <a:off x="1066800" y="7036445"/>
            <a:ext cx="16154400" cy="1123950"/>
          </a:xfrm>
          <a:prstGeom prst="rect">
            <a:avLst/>
          </a:prstGeom>
          <a:solidFill>
            <a:srgbClr val="FFFFFF"/>
          </a:solidFill>
          <a:ln w="9525">
            <a:solidFill>
              <a:srgbClr val="DCD4BF"/>
            </a:solidFill>
            <a:prstDash val="solid"/>
          </a:ln>
        </p:spPr>
      </p:sp>
      <p:sp>
        <p:nvSpPr>
          <p:cNvPr id="21" name="Text 19"/>
          <p:cNvSpPr/>
          <p:nvPr/>
        </p:nvSpPr>
        <p:spPr>
          <a:xfrm>
            <a:off x="1362075" y="7274570"/>
            <a:ext cx="255270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F3A5F"/>
                </a:solidFill>
                <a:latin typeface="Courier New" pitchFamily="34" charset="0"/>
                <a:ea typeface="Courier New" pitchFamily="34" charset="-122"/>
                <a:cs typeface="Courier New" pitchFamily="34" charset="-120"/>
              </a:rPr>
              <a:t>news</a:t>
            </a:r>
            <a:endParaRPr lang="en-US" sz="2700" dirty="0"/>
          </a:p>
        </p:txBody>
      </p:sp>
      <p:sp>
        <p:nvSpPr>
          <p:cNvPr id="22" name="Text 20"/>
          <p:cNvSpPr/>
          <p:nvPr/>
        </p:nvSpPr>
        <p:spPr>
          <a:xfrm>
            <a:off x="4143375" y="7350770"/>
            <a:ext cx="9123998"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Courier New" pitchFamily="34" charset="0"/>
                <a:ea typeface="Courier New" pitchFamily="34" charset="-122"/>
                <a:cs typeface="Courier New" pitchFamily="34" charset="-120"/>
              </a:rPr>
              <a:t>id · ts · source · headline · url · tickers · vader · finbert_label</a:t>
            </a:r>
            <a:endParaRPr lang="en-US" sz="1950" dirty="0"/>
          </a:p>
        </p:txBody>
      </p:sp>
      <p:sp>
        <p:nvSpPr>
          <p:cNvPr id="23" name="Text 21"/>
          <p:cNvSpPr/>
          <p:nvPr/>
        </p:nvSpPr>
        <p:spPr>
          <a:xfrm>
            <a:off x="13306425" y="7331720"/>
            <a:ext cx="3728085"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Raw headlines with sentiment scores. Deduped by URL.</a:t>
            </a:r>
            <a:endParaRPr lang="en-US" sz="1950" dirty="0"/>
          </a:p>
        </p:txBody>
      </p:sp>
      <p:sp>
        <p:nvSpPr>
          <p:cNvPr id="24" name="Shape 22"/>
          <p:cNvSpPr/>
          <p:nvPr/>
        </p:nvSpPr>
        <p:spPr>
          <a:xfrm>
            <a:off x="1066800" y="8312795"/>
            <a:ext cx="16154400" cy="1123950"/>
          </a:xfrm>
          <a:prstGeom prst="rect">
            <a:avLst/>
          </a:prstGeom>
          <a:solidFill>
            <a:srgbClr val="FFFFFF"/>
          </a:solidFill>
          <a:ln w="9525">
            <a:solidFill>
              <a:srgbClr val="DCD4BF"/>
            </a:solidFill>
            <a:prstDash val="solid"/>
          </a:ln>
        </p:spPr>
      </p:sp>
      <p:sp>
        <p:nvSpPr>
          <p:cNvPr id="25" name="Text 23"/>
          <p:cNvSpPr/>
          <p:nvPr/>
        </p:nvSpPr>
        <p:spPr>
          <a:xfrm>
            <a:off x="1362075" y="8550920"/>
            <a:ext cx="255270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F3A5F"/>
                </a:solidFill>
                <a:latin typeface="Courier New" pitchFamily="34" charset="0"/>
                <a:ea typeface="Courier New" pitchFamily="34" charset="-122"/>
                <a:cs typeface="Courier New" pitchFamily="34" charset="-120"/>
              </a:rPr>
              <a:t>signals</a:t>
            </a:r>
            <a:endParaRPr lang="en-US" sz="2700" dirty="0"/>
          </a:p>
        </p:txBody>
      </p:sp>
      <p:sp>
        <p:nvSpPr>
          <p:cNvPr id="26" name="Text 24"/>
          <p:cNvSpPr/>
          <p:nvPr/>
        </p:nvSpPr>
        <p:spPr>
          <a:xfrm>
            <a:off x="4143375" y="8627120"/>
            <a:ext cx="9123998"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A1C21"/>
                </a:solidFill>
                <a:latin typeface="Courier New" pitchFamily="34" charset="0"/>
                <a:ea typeface="Courier New" pitchFamily="34" charset="-122"/>
                <a:cs typeface="Courier New" pitchFamily="34" charset="-120"/>
              </a:rPr>
              <a:t>id · ts · ticker · kind · value · components (json)</a:t>
            </a:r>
            <a:endParaRPr lang="en-US" sz="1950" dirty="0"/>
          </a:p>
        </p:txBody>
      </p:sp>
      <p:sp>
        <p:nvSpPr>
          <p:cNvPr id="27" name="Text 25"/>
          <p:cNvSpPr/>
          <p:nvPr/>
        </p:nvSpPr>
        <p:spPr>
          <a:xfrm>
            <a:off x="13306425" y="8598545"/>
            <a:ext cx="3728085" cy="638175"/>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Point‑in‑time signal values for replay and debugging.</a:t>
            </a:r>
            <a:endParaRPr lang="en-US" sz="1950" dirty="0"/>
          </a:p>
        </p:txBody>
      </p:sp>
      <p:sp>
        <p:nvSpPr>
          <p:cNvPr id="28" name="Text 26"/>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29" name="Text 27"/>
          <p:cNvSpPr/>
          <p:nvPr/>
        </p:nvSpPr>
        <p:spPr>
          <a:xfrm>
            <a:off x="13837444" y="9744075"/>
            <a:ext cx="3485269"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C · HOW IT WAS BUILT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221605"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18 · THE DASHBOARD</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C · 18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A read‑only window into the bot's reasoning.</a:t>
            </a:r>
            <a:endParaRPr lang="en-US" sz="4800" dirty="0"/>
          </a:p>
        </p:txBody>
      </p:sp>
      <p:sp>
        <p:nvSpPr>
          <p:cNvPr id="7" name="Text 5"/>
          <p:cNvSpPr/>
          <p:nvPr/>
        </p:nvSpPr>
        <p:spPr>
          <a:xfrm>
            <a:off x="1066800" y="1700659"/>
            <a:ext cx="10791825" cy="849511"/>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Runs locally at :3000. Never touches Alpaca directly — it asks FastAPI, which asks SQLite.</a:t>
            </a:r>
            <a:endParaRPr lang="en-US" sz="2250" dirty="0"/>
          </a:p>
        </p:txBody>
      </p:sp>
      <p:sp>
        <p:nvSpPr>
          <p:cNvPr id="8" name="Shape 6"/>
          <p:cNvSpPr/>
          <p:nvPr/>
        </p:nvSpPr>
        <p:spPr>
          <a:xfrm>
            <a:off x="1066800" y="2893070"/>
            <a:ext cx="8314581" cy="5286375"/>
          </a:xfrm>
          <a:prstGeom prst="rect">
            <a:avLst/>
          </a:prstGeom>
          <a:solidFill>
            <a:srgbClr val="FFFFFF"/>
          </a:solidFill>
          <a:ln w="9525">
            <a:solidFill>
              <a:srgbClr val="DCD4BF"/>
            </a:solidFill>
            <a:prstDash val="solid"/>
          </a:ln>
        </p:spPr>
      </p:sp>
      <p:sp>
        <p:nvSpPr>
          <p:cNvPr id="9" name="Shape 7"/>
          <p:cNvSpPr/>
          <p:nvPr/>
        </p:nvSpPr>
        <p:spPr>
          <a:xfrm>
            <a:off x="1076325" y="2902595"/>
            <a:ext cx="8295531" cy="533400"/>
          </a:xfrm>
          <a:prstGeom prst="rect">
            <a:avLst/>
          </a:prstGeom>
          <a:solidFill>
            <a:srgbClr val="FBF7EC"/>
          </a:solidFill>
          <a:ln/>
        </p:spPr>
      </p:sp>
      <p:sp>
        <p:nvSpPr>
          <p:cNvPr id="10" name="Shape 8"/>
          <p:cNvSpPr/>
          <p:nvPr/>
        </p:nvSpPr>
        <p:spPr>
          <a:xfrm>
            <a:off x="1076325" y="3426470"/>
            <a:ext cx="8295531" cy="9525"/>
          </a:xfrm>
          <a:prstGeom prst="rect">
            <a:avLst/>
          </a:prstGeom>
          <a:solidFill>
            <a:srgbClr val="DCD4BF"/>
          </a:solidFill>
          <a:ln/>
        </p:spPr>
      </p:sp>
      <p:sp>
        <p:nvSpPr>
          <p:cNvPr id="11" name="Shape 9"/>
          <p:cNvSpPr/>
          <p:nvPr/>
        </p:nvSpPr>
        <p:spPr>
          <a:xfrm>
            <a:off x="1247775" y="3107382"/>
            <a:ext cx="114300" cy="114300"/>
          </a:xfrm>
          <a:prstGeom prst="ellipse">
            <a:avLst/>
          </a:prstGeom>
          <a:solidFill>
            <a:srgbClr val="E07A6A"/>
          </a:solidFill>
          <a:ln/>
        </p:spPr>
      </p:sp>
      <p:sp>
        <p:nvSpPr>
          <p:cNvPr id="12" name="Shape 10"/>
          <p:cNvSpPr/>
          <p:nvPr/>
        </p:nvSpPr>
        <p:spPr>
          <a:xfrm>
            <a:off x="1457325" y="3107382"/>
            <a:ext cx="114300" cy="114300"/>
          </a:xfrm>
          <a:prstGeom prst="ellipse">
            <a:avLst/>
          </a:prstGeom>
          <a:solidFill>
            <a:srgbClr val="E0B86A"/>
          </a:solidFill>
          <a:ln/>
        </p:spPr>
      </p:sp>
      <p:sp>
        <p:nvSpPr>
          <p:cNvPr id="13" name="Shape 11"/>
          <p:cNvSpPr/>
          <p:nvPr/>
        </p:nvSpPr>
        <p:spPr>
          <a:xfrm>
            <a:off x="1666875" y="3107382"/>
            <a:ext cx="114300" cy="114300"/>
          </a:xfrm>
          <a:prstGeom prst="ellipse">
            <a:avLst/>
          </a:prstGeom>
          <a:solidFill>
            <a:srgbClr val="8FB06A"/>
          </a:solidFill>
          <a:ln/>
        </p:spPr>
      </p:sp>
      <p:sp>
        <p:nvSpPr>
          <p:cNvPr id="14" name="Text 12"/>
          <p:cNvSpPr/>
          <p:nvPr/>
        </p:nvSpPr>
        <p:spPr>
          <a:xfrm>
            <a:off x="2028825" y="3035945"/>
            <a:ext cx="367381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localhost:3000 / positions</a:t>
            </a:r>
            <a:endParaRPr lang="en-US" sz="1800" dirty="0"/>
          </a:p>
        </p:txBody>
      </p:sp>
      <p:sp>
        <p:nvSpPr>
          <p:cNvPr id="15" name="Text 13"/>
          <p:cNvSpPr/>
          <p:nvPr/>
        </p:nvSpPr>
        <p:spPr>
          <a:xfrm>
            <a:off x="1419225" y="3740795"/>
            <a:ext cx="1482923" cy="447675"/>
          </a:xfrm>
          <a:prstGeom prst="rect">
            <a:avLst/>
          </a:prstGeom>
          <a:noFill/>
          <a:ln/>
        </p:spPr>
        <p:txBody>
          <a:bodyPr wrap="square" lIns="25400" tIns="25400" rIns="25400" bIns="25400" rtlCol="0" anchor="t">
            <a:normAutofit/>
          </a:bodyPr>
          <a:lstStyle/>
          <a:p>
            <a:pPr algn="l" indent="0" marL="0">
              <a:buNone/>
            </a:pPr>
            <a:r>
              <a:rPr lang="en-US" sz="2850" dirty="0">
                <a:solidFill>
                  <a:srgbClr val="1A1C21"/>
                </a:solidFill>
                <a:latin typeface="Georgia" pitchFamily="34" charset="0"/>
                <a:ea typeface="Georgia" pitchFamily="34" charset="-122"/>
                <a:cs typeface="Georgia" pitchFamily="34" charset="-120"/>
              </a:rPr>
              <a:t>Portfolio</a:t>
            </a:r>
            <a:endParaRPr lang="en-US" sz="2850" dirty="0"/>
          </a:p>
        </p:txBody>
      </p:sp>
      <p:sp>
        <p:nvSpPr>
          <p:cNvPr id="16" name="Text 14"/>
          <p:cNvSpPr/>
          <p:nvPr/>
        </p:nvSpPr>
        <p:spPr>
          <a:xfrm>
            <a:off x="6559600" y="3883670"/>
            <a:ext cx="254555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A8190"/>
                </a:solidFill>
                <a:latin typeface="Courier New" pitchFamily="34" charset="0"/>
                <a:ea typeface="Courier New" pitchFamily="34" charset="-122"/>
                <a:cs typeface="Courier New" pitchFamily="34" charset="-120"/>
              </a:rPr>
              <a:t>next cycle · 02:41</a:t>
            </a:r>
            <a:endParaRPr lang="en-US" sz="1800" dirty="0"/>
          </a:p>
        </p:txBody>
      </p:sp>
      <p:sp>
        <p:nvSpPr>
          <p:cNvPr id="17" name="Text 15"/>
          <p:cNvSpPr/>
          <p:nvPr/>
        </p:nvSpPr>
        <p:spPr>
          <a:xfrm>
            <a:off x="1419225" y="4207520"/>
            <a:ext cx="7838023" cy="819150"/>
          </a:xfrm>
          <a:prstGeom prst="rect">
            <a:avLst/>
          </a:prstGeom>
          <a:noFill/>
          <a:ln/>
        </p:spPr>
        <p:txBody>
          <a:bodyPr wrap="square" lIns="25400" tIns="25400" rIns="25400" bIns="25400" rtlCol="0" anchor="t">
            <a:normAutofit/>
          </a:bodyPr>
          <a:lstStyle/>
          <a:p>
            <a:pPr algn="l" indent="0" marL="0">
              <a:buNone/>
            </a:pPr>
            <a:r>
              <a:rPr lang="en-US" sz="5400" spc="-162" kern="0" dirty="0">
                <a:solidFill>
                  <a:srgbClr val="1F3A5F"/>
                </a:solidFill>
                <a:latin typeface="Georgia" pitchFamily="34" charset="0"/>
                <a:ea typeface="Georgia" pitchFamily="34" charset="-122"/>
                <a:cs typeface="Georgia" pitchFamily="34" charset="-120"/>
              </a:rPr>
              <a:t>$104,217.83</a:t>
            </a:r>
            <a:endParaRPr lang="en-US" sz="5400" dirty="0"/>
          </a:p>
        </p:txBody>
      </p:sp>
      <p:sp>
        <p:nvSpPr>
          <p:cNvPr id="18" name="Text 16"/>
          <p:cNvSpPr/>
          <p:nvPr/>
        </p:nvSpPr>
        <p:spPr>
          <a:xfrm>
            <a:off x="1419225" y="5007620"/>
            <a:ext cx="7838023" cy="323850"/>
          </a:xfrm>
          <a:prstGeom prst="rect">
            <a:avLst/>
          </a:prstGeom>
          <a:noFill/>
          <a:ln/>
        </p:spPr>
        <p:txBody>
          <a:bodyPr wrap="square" lIns="25400" tIns="25400" rIns="25400" bIns="25400" rtlCol="0" anchor="t">
            <a:normAutofit/>
          </a:bodyPr>
          <a:lstStyle/>
          <a:p>
            <a:pPr algn="l" indent="0" marL="0">
              <a:buNone/>
            </a:pPr>
            <a:r>
              <a:rPr lang="en-US" sz="1950" dirty="0">
                <a:solidFill>
                  <a:srgbClr val="4A6B3A"/>
                </a:solidFill>
                <a:latin typeface="Courier New" pitchFamily="34" charset="0"/>
                <a:ea typeface="Courier New" pitchFamily="34" charset="-122"/>
                <a:cs typeface="Courier New" pitchFamily="34" charset="-120"/>
              </a:rPr>
              <a:t>+ $4,217.83 · + 4.22 %</a:t>
            </a:r>
            <a:endParaRPr lang="en-US" sz="1950" dirty="0"/>
          </a:p>
        </p:txBody>
      </p:sp>
      <p:sp>
        <p:nvSpPr>
          <p:cNvPr id="19" name="Shape 17"/>
          <p:cNvSpPr/>
          <p:nvPr/>
        </p:nvSpPr>
        <p:spPr>
          <a:xfrm>
            <a:off x="1419225" y="5521970"/>
            <a:ext cx="2447627" cy="1143000"/>
          </a:xfrm>
          <a:prstGeom prst="rect">
            <a:avLst/>
          </a:prstGeom>
          <a:solidFill>
            <a:srgbClr val="FBF7EC"/>
          </a:solidFill>
          <a:ln w="9525">
            <a:solidFill>
              <a:srgbClr val="DCD4BF"/>
            </a:solidFill>
            <a:prstDash val="solid"/>
          </a:ln>
        </p:spPr>
      </p:sp>
      <p:sp>
        <p:nvSpPr>
          <p:cNvPr id="20" name="Text 18"/>
          <p:cNvSpPr/>
          <p:nvPr/>
        </p:nvSpPr>
        <p:spPr>
          <a:xfrm>
            <a:off x="1581150" y="5664845"/>
            <a:ext cx="2199977" cy="2571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7A8190"/>
                </a:solidFill>
                <a:latin typeface="Courier New" pitchFamily="34" charset="0"/>
                <a:ea typeface="Courier New" pitchFamily="34" charset="-122"/>
                <a:cs typeface="Courier New" pitchFamily="34" charset="-120"/>
              </a:rPr>
              <a:t>POSITION</a:t>
            </a:r>
            <a:endParaRPr lang="en-US" sz="1500" dirty="0"/>
          </a:p>
        </p:txBody>
      </p:sp>
      <p:sp>
        <p:nvSpPr>
          <p:cNvPr id="21" name="Text 19"/>
          <p:cNvSpPr/>
          <p:nvPr/>
        </p:nvSpPr>
        <p:spPr>
          <a:xfrm>
            <a:off x="1581150" y="5902970"/>
            <a:ext cx="2199977" cy="381000"/>
          </a:xfrm>
          <a:prstGeom prst="rect">
            <a:avLst/>
          </a:prstGeom>
          <a:noFill/>
          <a:ln/>
        </p:spPr>
        <p:txBody>
          <a:bodyPr wrap="square" lIns="25400" tIns="25400" rIns="25400" bIns="25400" rtlCol="0" anchor="t">
            <a:normAutofit/>
          </a:bodyPr>
          <a:lstStyle/>
          <a:p>
            <a:pPr algn="l" indent="0" marL="0">
              <a:buNone/>
            </a:pPr>
            <a:r>
              <a:rPr lang="en-US" sz="2400" dirty="0">
                <a:solidFill>
                  <a:srgbClr val="1A1C21"/>
                </a:solidFill>
                <a:latin typeface="Georgia" pitchFamily="34" charset="0"/>
                <a:ea typeface="Georgia" pitchFamily="34" charset="-122"/>
                <a:cs typeface="Georgia" pitchFamily="34" charset="-120"/>
              </a:rPr>
              <a:t>NVDA</a:t>
            </a:r>
            <a:endParaRPr lang="en-US" sz="2400" dirty="0"/>
          </a:p>
        </p:txBody>
      </p:sp>
      <p:sp>
        <p:nvSpPr>
          <p:cNvPr id="22" name="Text 20"/>
          <p:cNvSpPr/>
          <p:nvPr/>
        </p:nvSpPr>
        <p:spPr>
          <a:xfrm>
            <a:off x="1581150" y="6264920"/>
            <a:ext cx="2199977" cy="295275"/>
          </a:xfrm>
          <a:prstGeom prst="rect">
            <a:avLst/>
          </a:prstGeom>
          <a:noFill/>
          <a:ln/>
        </p:spPr>
        <p:txBody>
          <a:bodyPr wrap="square" lIns="25400" tIns="25400" rIns="25400" bIns="25400" rtlCol="0" anchor="t">
            <a:normAutofit/>
          </a:bodyPr>
          <a:lstStyle/>
          <a:p>
            <a:pPr algn="l" indent="0" marL="0">
              <a:buNone/>
            </a:pPr>
            <a:r>
              <a:rPr lang="en-US" sz="1800" dirty="0">
                <a:solidFill>
                  <a:srgbClr val="4A6B3A"/>
                </a:solidFill>
                <a:latin typeface="Courier New" pitchFamily="34" charset="0"/>
                <a:ea typeface="Courier New" pitchFamily="34" charset="-122"/>
                <a:cs typeface="Courier New" pitchFamily="34" charset="-120"/>
              </a:rPr>
              <a:t>+2.1 %</a:t>
            </a:r>
            <a:endParaRPr lang="en-US" sz="1800" dirty="0"/>
          </a:p>
        </p:txBody>
      </p:sp>
      <p:sp>
        <p:nvSpPr>
          <p:cNvPr id="23" name="Shape 21"/>
          <p:cNvSpPr/>
          <p:nvPr/>
        </p:nvSpPr>
        <p:spPr>
          <a:xfrm>
            <a:off x="4000202" y="5521970"/>
            <a:ext cx="2447627" cy="1143000"/>
          </a:xfrm>
          <a:prstGeom prst="rect">
            <a:avLst/>
          </a:prstGeom>
          <a:solidFill>
            <a:srgbClr val="FBF7EC"/>
          </a:solidFill>
          <a:ln w="9525">
            <a:solidFill>
              <a:srgbClr val="DCD4BF"/>
            </a:solidFill>
            <a:prstDash val="solid"/>
          </a:ln>
        </p:spPr>
      </p:sp>
      <p:sp>
        <p:nvSpPr>
          <p:cNvPr id="24" name="Text 22"/>
          <p:cNvSpPr/>
          <p:nvPr/>
        </p:nvSpPr>
        <p:spPr>
          <a:xfrm>
            <a:off x="4162127" y="5664845"/>
            <a:ext cx="2199977" cy="2571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7A8190"/>
                </a:solidFill>
                <a:latin typeface="Courier New" pitchFamily="34" charset="0"/>
                <a:ea typeface="Courier New" pitchFamily="34" charset="-122"/>
                <a:cs typeface="Courier New" pitchFamily="34" charset="-120"/>
              </a:rPr>
              <a:t>POSITION</a:t>
            </a:r>
            <a:endParaRPr lang="en-US" sz="1500" dirty="0"/>
          </a:p>
        </p:txBody>
      </p:sp>
      <p:sp>
        <p:nvSpPr>
          <p:cNvPr id="25" name="Text 23"/>
          <p:cNvSpPr/>
          <p:nvPr/>
        </p:nvSpPr>
        <p:spPr>
          <a:xfrm>
            <a:off x="4162127" y="5902970"/>
            <a:ext cx="2199977" cy="381000"/>
          </a:xfrm>
          <a:prstGeom prst="rect">
            <a:avLst/>
          </a:prstGeom>
          <a:noFill/>
          <a:ln/>
        </p:spPr>
        <p:txBody>
          <a:bodyPr wrap="square" lIns="25400" tIns="25400" rIns="25400" bIns="25400" rtlCol="0" anchor="t">
            <a:normAutofit/>
          </a:bodyPr>
          <a:lstStyle/>
          <a:p>
            <a:pPr algn="l" indent="0" marL="0">
              <a:buNone/>
            </a:pPr>
            <a:r>
              <a:rPr lang="en-US" sz="2400" dirty="0">
                <a:solidFill>
                  <a:srgbClr val="1A1C21"/>
                </a:solidFill>
                <a:latin typeface="Georgia" pitchFamily="34" charset="0"/>
                <a:ea typeface="Georgia" pitchFamily="34" charset="-122"/>
                <a:cs typeface="Georgia" pitchFamily="34" charset="-120"/>
              </a:rPr>
              <a:t>UNH</a:t>
            </a:r>
            <a:endParaRPr lang="en-US" sz="2400" dirty="0"/>
          </a:p>
        </p:txBody>
      </p:sp>
      <p:sp>
        <p:nvSpPr>
          <p:cNvPr id="26" name="Text 24"/>
          <p:cNvSpPr/>
          <p:nvPr/>
        </p:nvSpPr>
        <p:spPr>
          <a:xfrm>
            <a:off x="4162127" y="6264920"/>
            <a:ext cx="2199977"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E3B2A"/>
                </a:solidFill>
                <a:latin typeface="Courier New" pitchFamily="34" charset="0"/>
                <a:ea typeface="Courier New" pitchFamily="34" charset="-122"/>
                <a:cs typeface="Courier New" pitchFamily="34" charset="-120"/>
              </a:rPr>
              <a:t>−0.8 %</a:t>
            </a:r>
            <a:endParaRPr lang="en-US" sz="1800" dirty="0"/>
          </a:p>
        </p:txBody>
      </p:sp>
      <p:sp>
        <p:nvSpPr>
          <p:cNvPr id="27" name="Shape 25"/>
          <p:cNvSpPr/>
          <p:nvPr/>
        </p:nvSpPr>
        <p:spPr>
          <a:xfrm>
            <a:off x="6581180" y="5521970"/>
            <a:ext cx="2447776" cy="1143000"/>
          </a:xfrm>
          <a:prstGeom prst="rect">
            <a:avLst/>
          </a:prstGeom>
          <a:solidFill>
            <a:srgbClr val="FBF7EC"/>
          </a:solidFill>
          <a:ln w="9525">
            <a:solidFill>
              <a:srgbClr val="DCD4BF"/>
            </a:solidFill>
            <a:prstDash val="solid"/>
          </a:ln>
        </p:spPr>
      </p:sp>
      <p:sp>
        <p:nvSpPr>
          <p:cNvPr id="28" name="Text 26"/>
          <p:cNvSpPr/>
          <p:nvPr/>
        </p:nvSpPr>
        <p:spPr>
          <a:xfrm>
            <a:off x="6743105" y="5664845"/>
            <a:ext cx="2200126" cy="2571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7A8190"/>
                </a:solidFill>
                <a:latin typeface="Courier New" pitchFamily="34" charset="0"/>
                <a:ea typeface="Courier New" pitchFamily="34" charset="-122"/>
                <a:cs typeface="Courier New" pitchFamily="34" charset="-120"/>
              </a:rPr>
              <a:t>POSITION</a:t>
            </a:r>
            <a:endParaRPr lang="en-US" sz="1500" dirty="0"/>
          </a:p>
        </p:txBody>
      </p:sp>
      <p:sp>
        <p:nvSpPr>
          <p:cNvPr id="29" name="Text 27"/>
          <p:cNvSpPr/>
          <p:nvPr/>
        </p:nvSpPr>
        <p:spPr>
          <a:xfrm>
            <a:off x="6743105" y="5902970"/>
            <a:ext cx="2200126" cy="381000"/>
          </a:xfrm>
          <a:prstGeom prst="rect">
            <a:avLst/>
          </a:prstGeom>
          <a:noFill/>
          <a:ln/>
        </p:spPr>
        <p:txBody>
          <a:bodyPr wrap="square" lIns="25400" tIns="25400" rIns="25400" bIns="25400" rtlCol="0" anchor="t">
            <a:normAutofit/>
          </a:bodyPr>
          <a:lstStyle/>
          <a:p>
            <a:pPr algn="l" indent="0" marL="0">
              <a:buNone/>
            </a:pPr>
            <a:r>
              <a:rPr lang="en-US" sz="2400" dirty="0">
                <a:solidFill>
                  <a:srgbClr val="1A1C21"/>
                </a:solidFill>
                <a:latin typeface="Georgia" pitchFamily="34" charset="0"/>
                <a:ea typeface="Georgia" pitchFamily="34" charset="-122"/>
                <a:cs typeface="Georgia" pitchFamily="34" charset="-120"/>
              </a:rPr>
              <a:t>AGG</a:t>
            </a:r>
            <a:endParaRPr lang="en-US" sz="2400" dirty="0"/>
          </a:p>
        </p:txBody>
      </p:sp>
      <p:sp>
        <p:nvSpPr>
          <p:cNvPr id="30" name="Text 28"/>
          <p:cNvSpPr/>
          <p:nvPr/>
        </p:nvSpPr>
        <p:spPr>
          <a:xfrm>
            <a:off x="6743105" y="6264920"/>
            <a:ext cx="220012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4A6B3A"/>
                </a:solidFill>
                <a:latin typeface="Courier New" pitchFamily="34" charset="0"/>
                <a:ea typeface="Courier New" pitchFamily="34" charset="-122"/>
                <a:cs typeface="Courier New" pitchFamily="34" charset="-120"/>
              </a:rPr>
              <a:t>+0.3 %</a:t>
            </a:r>
            <a:endParaRPr lang="en-US" sz="1800" dirty="0"/>
          </a:p>
        </p:txBody>
      </p:sp>
      <p:sp>
        <p:nvSpPr>
          <p:cNvPr id="31" name="Shape 29"/>
          <p:cNvSpPr/>
          <p:nvPr/>
        </p:nvSpPr>
        <p:spPr>
          <a:xfrm>
            <a:off x="1419225" y="6855470"/>
            <a:ext cx="7609731" cy="971550"/>
          </a:xfrm>
          <a:prstGeom prst="rect">
            <a:avLst/>
          </a:prstGeom>
          <a:solidFill>
            <a:srgbClr val="FBF7EC"/>
          </a:solidFill>
          <a:ln w="9525">
            <a:solidFill>
              <a:srgbClr val="DCD4BF"/>
            </a:solidFill>
            <a:prstDash val="solid"/>
          </a:ln>
        </p:spPr>
      </p:sp>
      <p:sp>
        <p:nvSpPr>
          <p:cNvPr id="32" name="Text 30"/>
          <p:cNvSpPr/>
          <p:nvPr/>
        </p:nvSpPr>
        <p:spPr>
          <a:xfrm>
            <a:off x="1600200" y="7017395"/>
            <a:ext cx="7476073" cy="68580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3A5F"/>
                </a:solidFill>
                <a:latin typeface="Courier New" pitchFamily="34" charset="0"/>
                <a:ea typeface="Courier New" pitchFamily="34" charset="-122"/>
                <a:cs typeface="Courier New" pitchFamily="34" charset="-120"/>
              </a:rPr>
              <a:t>buy NVDA </a:t>
            </a:r>
            <a:pPr algn="l" indent="0" marL="0">
              <a:lnSpc>
                <a:spcPct val="150000"/>
              </a:lnSpc>
              <a:buNone/>
            </a:pPr>
            <a:r>
              <a:rPr lang="en-US" sz="1650" dirty="0">
                <a:solidFill>
                  <a:srgbClr val="4A4F58"/>
                </a:solidFill>
                <a:highlight>
                  <a:srgbClr val="FBF7EC"/>
                </a:highlight>
                <a:latin typeface="Courier New" pitchFamily="34" charset="0"/>
                <a:ea typeface="Courier New" pitchFamily="34" charset="-122"/>
                <a:cs typeface="Courier New" pitchFamily="34" charset="-120"/>
              </a:rPr>
              <a:t>· news avg_vader +0.32 over 9 headlines (+1.8σ); 20d return +12.4 % vs SPY +3.1 % | composite=+1.42</a:t>
            </a:r>
            <a:endParaRPr lang="en-US" sz="1650" dirty="0"/>
          </a:p>
        </p:txBody>
      </p:sp>
      <p:sp>
        <p:nvSpPr>
          <p:cNvPr id="33" name="Text 31"/>
          <p:cNvSpPr/>
          <p:nvPr/>
        </p:nvSpPr>
        <p:spPr>
          <a:xfrm>
            <a:off x="9990981" y="2893070"/>
            <a:ext cx="7447126"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1F3A5F"/>
                </a:solidFill>
                <a:latin typeface="Courier New" pitchFamily="34" charset="0"/>
                <a:ea typeface="Courier New" pitchFamily="34" charset="-122"/>
                <a:cs typeface="Courier New" pitchFamily="34" charset="-120"/>
              </a:rPr>
              <a:t>PAGES</a:t>
            </a:r>
            <a:endParaRPr lang="en-US" sz="1800" dirty="0"/>
          </a:p>
        </p:txBody>
      </p:sp>
      <p:sp>
        <p:nvSpPr>
          <p:cNvPr id="34" name="Shape 32"/>
          <p:cNvSpPr/>
          <p:nvPr/>
        </p:nvSpPr>
        <p:spPr>
          <a:xfrm>
            <a:off x="9990981" y="4302770"/>
            <a:ext cx="7230219" cy="9525"/>
          </a:xfrm>
          <a:prstGeom prst="rect">
            <a:avLst/>
          </a:prstGeom>
          <a:solidFill>
            <a:srgbClr val="DCD4BF"/>
          </a:solidFill>
          <a:ln/>
        </p:spPr>
      </p:sp>
      <p:sp>
        <p:nvSpPr>
          <p:cNvPr id="35" name="Text 33"/>
          <p:cNvSpPr/>
          <p:nvPr/>
        </p:nvSpPr>
        <p:spPr>
          <a:xfrm>
            <a:off x="9990981" y="3550295"/>
            <a:ext cx="16002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a:t>
            </a:r>
            <a:endParaRPr lang="en-US" sz="1950" dirty="0"/>
          </a:p>
        </p:txBody>
      </p:sp>
      <p:sp>
        <p:nvSpPr>
          <p:cNvPr id="36" name="Text 34"/>
          <p:cNvSpPr/>
          <p:nvPr/>
        </p:nvSpPr>
        <p:spPr>
          <a:xfrm>
            <a:off x="11686431" y="3493145"/>
            <a:ext cx="2171700" cy="371475"/>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Georgia" pitchFamily="34" charset="0"/>
                <a:ea typeface="Georgia" pitchFamily="34" charset="-122"/>
                <a:cs typeface="Georgia" pitchFamily="34" charset="-120"/>
              </a:rPr>
              <a:t>Overview</a:t>
            </a:r>
            <a:endParaRPr lang="en-US" sz="2250" dirty="0"/>
          </a:p>
        </p:txBody>
      </p:sp>
      <p:sp>
        <p:nvSpPr>
          <p:cNvPr id="37" name="Text 35"/>
          <p:cNvSpPr/>
          <p:nvPr/>
        </p:nvSpPr>
        <p:spPr>
          <a:xfrm>
            <a:off x="13953381" y="3531245"/>
            <a:ext cx="3365854" cy="638175"/>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Portfolio value, bot status, next‑tick countdown.</a:t>
            </a:r>
            <a:endParaRPr lang="en-US" sz="1950" dirty="0"/>
          </a:p>
        </p:txBody>
      </p:sp>
      <p:sp>
        <p:nvSpPr>
          <p:cNvPr id="38" name="Shape 36"/>
          <p:cNvSpPr/>
          <p:nvPr/>
        </p:nvSpPr>
        <p:spPr>
          <a:xfrm>
            <a:off x="9990981" y="5283845"/>
            <a:ext cx="7230219" cy="9525"/>
          </a:xfrm>
          <a:prstGeom prst="rect">
            <a:avLst/>
          </a:prstGeom>
          <a:solidFill>
            <a:srgbClr val="DCD4BF"/>
          </a:solidFill>
          <a:ln/>
        </p:spPr>
      </p:sp>
      <p:sp>
        <p:nvSpPr>
          <p:cNvPr id="39" name="Text 37"/>
          <p:cNvSpPr/>
          <p:nvPr/>
        </p:nvSpPr>
        <p:spPr>
          <a:xfrm>
            <a:off x="9990981" y="4540895"/>
            <a:ext cx="16002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/positions</a:t>
            </a:r>
            <a:endParaRPr lang="en-US" sz="1950" dirty="0"/>
          </a:p>
        </p:txBody>
      </p:sp>
      <p:sp>
        <p:nvSpPr>
          <p:cNvPr id="40" name="Text 38"/>
          <p:cNvSpPr/>
          <p:nvPr/>
        </p:nvSpPr>
        <p:spPr>
          <a:xfrm>
            <a:off x="11686431" y="4483745"/>
            <a:ext cx="2171700" cy="371475"/>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Georgia" pitchFamily="34" charset="0"/>
                <a:ea typeface="Georgia" pitchFamily="34" charset="-122"/>
                <a:cs typeface="Georgia" pitchFamily="34" charset="-120"/>
              </a:rPr>
              <a:t>Positions</a:t>
            </a:r>
            <a:endParaRPr lang="en-US" sz="2250" dirty="0"/>
          </a:p>
        </p:txBody>
      </p:sp>
      <p:sp>
        <p:nvSpPr>
          <p:cNvPr id="41" name="Text 39"/>
          <p:cNvSpPr/>
          <p:nvPr/>
        </p:nvSpPr>
        <p:spPr>
          <a:xfrm>
            <a:off x="13953381" y="4521845"/>
            <a:ext cx="3365854"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Weights, P&amp;L, a sector donut.</a:t>
            </a:r>
            <a:endParaRPr lang="en-US" sz="1950" dirty="0"/>
          </a:p>
        </p:txBody>
      </p:sp>
      <p:sp>
        <p:nvSpPr>
          <p:cNvPr id="42" name="Shape 40"/>
          <p:cNvSpPr/>
          <p:nvPr/>
        </p:nvSpPr>
        <p:spPr>
          <a:xfrm>
            <a:off x="9990981" y="6274445"/>
            <a:ext cx="7230219" cy="9525"/>
          </a:xfrm>
          <a:prstGeom prst="rect">
            <a:avLst/>
          </a:prstGeom>
          <a:solidFill>
            <a:srgbClr val="DCD4BF"/>
          </a:solidFill>
          <a:ln/>
        </p:spPr>
      </p:sp>
      <p:sp>
        <p:nvSpPr>
          <p:cNvPr id="43" name="Text 41"/>
          <p:cNvSpPr/>
          <p:nvPr/>
        </p:nvSpPr>
        <p:spPr>
          <a:xfrm>
            <a:off x="9990981" y="5521970"/>
            <a:ext cx="16002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/trades</a:t>
            </a:r>
            <a:endParaRPr lang="en-US" sz="1950" dirty="0"/>
          </a:p>
        </p:txBody>
      </p:sp>
      <p:sp>
        <p:nvSpPr>
          <p:cNvPr id="44" name="Text 42"/>
          <p:cNvSpPr/>
          <p:nvPr/>
        </p:nvSpPr>
        <p:spPr>
          <a:xfrm>
            <a:off x="11686431" y="5464820"/>
            <a:ext cx="2171700" cy="371475"/>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Georgia" pitchFamily="34" charset="0"/>
                <a:ea typeface="Georgia" pitchFamily="34" charset="-122"/>
                <a:cs typeface="Georgia" pitchFamily="34" charset="-120"/>
              </a:rPr>
              <a:t>Trade journal</a:t>
            </a:r>
            <a:endParaRPr lang="en-US" sz="2250" dirty="0"/>
          </a:p>
        </p:txBody>
      </p:sp>
      <p:sp>
        <p:nvSpPr>
          <p:cNvPr id="45" name="Text 43"/>
          <p:cNvSpPr/>
          <p:nvPr/>
        </p:nvSpPr>
        <p:spPr>
          <a:xfrm>
            <a:off x="13953381" y="5502920"/>
            <a:ext cx="3365854" cy="638175"/>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Every order with the why‑string attached.</a:t>
            </a:r>
            <a:endParaRPr lang="en-US" sz="1950" dirty="0"/>
          </a:p>
        </p:txBody>
      </p:sp>
      <p:sp>
        <p:nvSpPr>
          <p:cNvPr id="46" name="Shape 44"/>
          <p:cNvSpPr/>
          <p:nvPr/>
        </p:nvSpPr>
        <p:spPr>
          <a:xfrm>
            <a:off x="9990981" y="7255520"/>
            <a:ext cx="7230219" cy="9525"/>
          </a:xfrm>
          <a:prstGeom prst="rect">
            <a:avLst/>
          </a:prstGeom>
          <a:solidFill>
            <a:srgbClr val="DCD4BF"/>
          </a:solidFill>
          <a:ln/>
        </p:spPr>
      </p:sp>
      <p:sp>
        <p:nvSpPr>
          <p:cNvPr id="47" name="Text 45"/>
          <p:cNvSpPr/>
          <p:nvPr/>
        </p:nvSpPr>
        <p:spPr>
          <a:xfrm>
            <a:off x="9990981" y="6512570"/>
            <a:ext cx="16002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/news</a:t>
            </a:r>
            <a:endParaRPr lang="en-US" sz="1950" dirty="0"/>
          </a:p>
        </p:txBody>
      </p:sp>
      <p:sp>
        <p:nvSpPr>
          <p:cNvPr id="48" name="Text 46"/>
          <p:cNvSpPr/>
          <p:nvPr/>
        </p:nvSpPr>
        <p:spPr>
          <a:xfrm>
            <a:off x="11686431" y="6455420"/>
            <a:ext cx="2171700" cy="371475"/>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Georgia" pitchFamily="34" charset="0"/>
                <a:ea typeface="Georgia" pitchFamily="34" charset="-122"/>
                <a:cs typeface="Georgia" pitchFamily="34" charset="-120"/>
              </a:rPr>
              <a:t>News</a:t>
            </a:r>
            <a:endParaRPr lang="en-US" sz="2250" dirty="0"/>
          </a:p>
        </p:txBody>
      </p:sp>
      <p:sp>
        <p:nvSpPr>
          <p:cNvPr id="49" name="Text 47"/>
          <p:cNvSpPr/>
          <p:nvPr/>
        </p:nvSpPr>
        <p:spPr>
          <a:xfrm>
            <a:off x="13953381" y="6493520"/>
            <a:ext cx="3365854"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Scored headlines grouped by ticker.</a:t>
            </a:r>
            <a:endParaRPr lang="en-US" sz="1950" dirty="0"/>
          </a:p>
        </p:txBody>
      </p:sp>
      <p:sp>
        <p:nvSpPr>
          <p:cNvPr id="50" name="Shape 48"/>
          <p:cNvSpPr/>
          <p:nvPr/>
        </p:nvSpPr>
        <p:spPr>
          <a:xfrm>
            <a:off x="9990981" y="8236595"/>
            <a:ext cx="7230219" cy="9525"/>
          </a:xfrm>
          <a:prstGeom prst="rect">
            <a:avLst/>
          </a:prstGeom>
          <a:solidFill>
            <a:srgbClr val="DCD4BF"/>
          </a:solidFill>
          <a:ln/>
        </p:spPr>
      </p:sp>
      <p:sp>
        <p:nvSpPr>
          <p:cNvPr id="51" name="Text 49"/>
          <p:cNvSpPr/>
          <p:nvPr/>
        </p:nvSpPr>
        <p:spPr>
          <a:xfrm>
            <a:off x="9990981" y="7493645"/>
            <a:ext cx="16002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/signals</a:t>
            </a:r>
            <a:endParaRPr lang="en-US" sz="1950" dirty="0"/>
          </a:p>
        </p:txBody>
      </p:sp>
      <p:sp>
        <p:nvSpPr>
          <p:cNvPr id="52" name="Text 50"/>
          <p:cNvSpPr/>
          <p:nvPr/>
        </p:nvSpPr>
        <p:spPr>
          <a:xfrm>
            <a:off x="11686431" y="7436495"/>
            <a:ext cx="2171700" cy="371475"/>
          </a:xfrm>
          <a:prstGeom prst="rect">
            <a:avLst/>
          </a:prstGeom>
          <a:noFill/>
          <a:ln/>
        </p:spPr>
        <p:txBody>
          <a:bodyPr wrap="square" lIns="25400" tIns="25400" rIns="25400" bIns="25400" rtlCol="0" anchor="t">
            <a:normAutofit/>
          </a:bodyPr>
          <a:lstStyle/>
          <a:p>
            <a:pPr algn="l" indent="0" marL="0">
              <a:buNone/>
            </a:pPr>
            <a:r>
              <a:rPr lang="en-US" sz="2250" dirty="0">
                <a:solidFill>
                  <a:srgbClr val="1A1C21"/>
                </a:solidFill>
                <a:latin typeface="Georgia" pitchFamily="34" charset="0"/>
                <a:ea typeface="Georgia" pitchFamily="34" charset="-122"/>
                <a:cs typeface="Georgia" pitchFamily="34" charset="-120"/>
              </a:rPr>
              <a:t>Signals</a:t>
            </a:r>
            <a:endParaRPr lang="en-US" sz="2250" dirty="0"/>
          </a:p>
        </p:txBody>
      </p:sp>
      <p:sp>
        <p:nvSpPr>
          <p:cNvPr id="53" name="Text 51"/>
          <p:cNvSpPr/>
          <p:nvPr/>
        </p:nvSpPr>
        <p:spPr>
          <a:xfrm>
            <a:off x="13953381" y="7474595"/>
            <a:ext cx="3365854" cy="628650"/>
          </a:xfrm>
          <a:prstGeom prst="rect">
            <a:avLst/>
          </a:prstGeom>
          <a:noFill/>
          <a:ln/>
        </p:spPr>
        <p:txBody>
          <a:bodyPr wrap="square" lIns="25400" tIns="25400" rIns="25400" bIns="25400" rtlCol="0" anchor="t">
            <a:normAutofit/>
          </a:bodyPr>
          <a:lstStyle/>
          <a:p>
            <a:pPr algn="l" indent="0" marL="0">
              <a:buNone/>
            </a:pPr>
            <a:r>
              <a:rPr lang="en-US" sz="1950" dirty="0">
                <a:solidFill>
                  <a:srgbClr val="4A4F58"/>
                </a:solidFill>
                <a:latin typeface="Arial" pitchFamily="34" charset="0"/>
                <a:ea typeface="Arial" pitchFamily="34" charset="-122"/>
                <a:cs typeface="Arial" pitchFamily="34" charset="-120"/>
              </a:rPr>
              <a:t>Politician and 13F activity driving the score.</a:t>
            </a:r>
            <a:endParaRPr lang="en-US" sz="1950" dirty="0"/>
          </a:p>
        </p:txBody>
      </p:sp>
      <p:sp>
        <p:nvSpPr>
          <p:cNvPr id="54" name="Text 52"/>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55" name="Text 53"/>
          <p:cNvSpPr/>
          <p:nvPr/>
        </p:nvSpPr>
        <p:spPr>
          <a:xfrm>
            <a:off x="13837444" y="9744075"/>
            <a:ext cx="3485269"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C · HOW IT WAS BUILT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5190193"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19 · WHAT IT DOESN'T DO (YET)</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D · 19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Six honest limits.</a:t>
            </a:r>
            <a:endParaRPr lang="en-US" sz="4800" dirty="0"/>
          </a:p>
        </p:txBody>
      </p:sp>
      <p:sp>
        <p:nvSpPr>
          <p:cNvPr id="7" name="Shape 5"/>
          <p:cNvSpPr/>
          <p:nvPr/>
        </p:nvSpPr>
        <p:spPr>
          <a:xfrm>
            <a:off x="1066800" y="2005459"/>
            <a:ext cx="7972425" cy="2064841"/>
          </a:xfrm>
          <a:prstGeom prst="rect">
            <a:avLst/>
          </a:prstGeom>
          <a:solidFill>
            <a:srgbClr val="FFFFFF"/>
          </a:solidFill>
          <a:ln w="9525">
            <a:solidFill>
              <a:srgbClr val="DCD4BF"/>
            </a:solidFill>
            <a:prstDash val="solid"/>
          </a:ln>
        </p:spPr>
      </p:sp>
      <p:sp>
        <p:nvSpPr>
          <p:cNvPr id="8" name="Text 6"/>
          <p:cNvSpPr/>
          <p:nvPr/>
        </p:nvSpPr>
        <p:spPr>
          <a:xfrm>
            <a:off x="1343025" y="2243584"/>
            <a:ext cx="421184"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i="1" dirty="0">
                <a:solidFill>
                  <a:srgbClr val="B8862C"/>
                </a:solidFill>
                <a:latin typeface="Georgia" pitchFamily="34" charset="0"/>
                <a:ea typeface="Georgia" pitchFamily="34" charset="-122"/>
                <a:cs typeface="Georgia" pitchFamily="34" charset="-120"/>
              </a:rPr>
              <a:t>01</a:t>
            </a:r>
            <a:endParaRPr lang="en-US" sz="2550" dirty="0"/>
          </a:p>
        </p:txBody>
      </p:sp>
      <p:sp>
        <p:nvSpPr>
          <p:cNvPr id="9" name="Text 7"/>
          <p:cNvSpPr/>
          <p:nvPr/>
        </p:nvSpPr>
        <p:spPr>
          <a:xfrm>
            <a:off x="1840409" y="2243584"/>
            <a:ext cx="1868537"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A1C21"/>
                </a:solidFill>
                <a:latin typeface="Georgia" pitchFamily="34" charset="0"/>
                <a:ea typeface="Georgia" pitchFamily="34" charset="-122"/>
                <a:cs typeface="Georgia" pitchFamily="34" charset="-120"/>
              </a:rPr>
              <a:t>IEX feed only</a:t>
            </a:r>
            <a:endParaRPr lang="en-US" sz="2400" dirty="0"/>
          </a:p>
        </p:txBody>
      </p:sp>
      <p:sp>
        <p:nvSpPr>
          <p:cNvPr id="10" name="Text 8"/>
          <p:cNvSpPr/>
          <p:nvPr/>
        </p:nvSpPr>
        <p:spPr>
          <a:xfrm>
            <a:off x="1343025" y="2681734"/>
            <a:ext cx="764257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4A4F58"/>
                </a:solidFill>
                <a:latin typeface="Arial" pitchFamily="34" charset="0"/>
                <a:ea typeface="Arial" pitchFamily="34" charset="-122"/>
                <a:cs typeface="Arial" pitchFamily="34" charset="-120"/>
              </a:rPr>
              <a:t>We're on Alpaca's free tier, which sees about 3 % of total market volume. Thinly traded small‑caps can have gaps in their price history.</a:t>
            </a:r>
            <a:endParaRPr lang="en-US" sz="1650" dirty="0"/>
          </a:p>
        </p:txBody>
      </p:sp>
      <p:sp>
        <p:nvSpPr>
          <p:cNvPr id="11" name="Text 9"/>
          <p:cNvSpPr/>
          <p:nvPr/>
        </p:nvSpPr>
        <p:spPr>
          <a:xfrm>
            <a:off x="1343025" y="3384500"/>
            <a:ext cx="7642574" cy="485775"/>
          </a:xfrm>
          <a:prstGeom prst="rect">
            <a:avLst/>
          </a:prstGeom>
          <a:noFill/>
          <a:ln/>
        </p:spPr>
        <p:txBody>
          <a:bodyPr wrap="square" lIns="25400" tIns="25400" rIns="25400" bIns="25400" rtlCol="0" anchor="t">
            <a:normAutofit/>
          </a:bodyPr>
          <a:lstStyle/>
          <a:p>
            <a:pPr algn="l" indent="0" marL="0">
              <a:buNone/>
            </a:pPr>
            <a:r>
              <a:rPr lang="en-US" sz="1500" spc="60" kern="0" dirty="0">
                <a:solidFill>
                  <a:srgbClr val="1F3A5F"/>
                </a:solidFill>
                <a:latin typeface="Courier New" pitchFamily="34" charset="0"/>
                <a:ea typeface="Courier New" pitchFamily="34" charset="-122"/>
                <a:cs typeface="Courier New" pitchFamily="34" charset="-120"/>
              </a:rPr>
              <a:t>→ Affects momentum + dip signals most; core large‑caps are fine.</a:t>
            </a:r>
            <a:endParaRPr lang="en-US" sz="1500" dirty="0"/>
          </a:p>
        </p:txBody>
      </p:sp>
      <p:sp>
        <p:nvSpPr>
          <p:cNvPr id="12" name="Shape 10"/>
          <p:cNvSpPr/>
          <p:nvPr/>
        </p:nvSpPr>
        <p:spPr>
          <a:xfrm>
            <a:off x="9248775" y="2005459"/>
            <a:ext cx="7972425" cy="2064841"/>
          </a:xfrm>
          <a:prstGeom prst="rect">
            <a:avLst/>
          </a:prstGeom>
          <a:solidFill>
            <a:srgbClr val="FFFFFF"/>
          </a:solidFill>
          <a:ln w="9525">
            <a:solidFill>
              <a:srgbClr val="DCD4BF"/>
            </a:solidFill>
            <a:prstDash val="solid"/>
          </a:ln>
        </p:spPr>
      </p:sp>
      <p:sp>
        <p:nvSpPr>
          <p:cNvPr id="13" name="Text 11"/>
          <p:cNvSpPr/>
          <p:nvPr/>
        </p:nvSpPr>
        <p:spPr>
          <a:xfrm>
            <a:off x="9525000" y="2243584"/>
            <a:ext cx="467618"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i="1" dirty="0">
                <a:solidFill>
                  <a:srgbClr val="B8862C"/>
                </a:solidFill>
                <a:latin typeface="Georgia" pitchFamily="34" charset="0"/>
                <a:ea typeface="Georgia" pitchFamily="34" charset="-122"/>
                <a:cs typeface="Georgia" pitchFamily="34" charset="-120"/>
              </a:rPr>
              <a:t>02</a:t>
            </a:r>
            <a:endParaRPr lang="en-US" sz="2550" dirty="0"/>
          </a:p>
        </p:txBody>
      </p:sp>
      <p:sp>
        <p:nvSpPr>
          <p:cNvPr id="14" name="Text 12"/>
          <p:cNvSpPr/>
          <p:nvPr/>
        </p:nvSpPr>
        <p:spPr>
          <a:xfrm>
            <a:off x="10068818" y="2243584"/>
            <a:ext cx="3074904"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A1C21"/>
                </a:solidFill>
                <a:latin typeface="Georgia" pitchFamily="34" charset="0"/>
                <a:ea typeface="Georgia" pitchFamily="34" charset="-122"/>
                <a:cs typeface="Georgia" pitchFamily="34" charset="-120"/>
              </a:rPr>
              <a:t>Disclosure data is slow</a:t>
            </a:r>
            <a:endParaRPr lang="en-US" sz="2400" dirty="0"/>
          </a:p>
        </p:txBody>
      </p:sp>
      <p:sp>
        <p:nvSpPr>
          <p:cNvPr id="15" name="Text 13"/>
          <p:cNvSpPr/>
          <p:nvPr/>
        </p:nvSpPr>
        <p:spPr>
          <a:xfrm>
            <a:off x="9525000" y="2681734"/>
            <a:ext cx="764257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4A4F58"/>
                </a:solidFill>
                <a:latin typeface="Arial" pitchFamily="34" charset="0"/>
                <a:ea typeface="Arial" pitchFamily="34" charset="-122"/>
                <a:cs typeface="Arial" pitchFamily="34" charset="-120"/>
              </a:rPr>
              <a:t>Members of Congress get 45 days to report trades. Hedge funds get 45 days to report holdings. By the time we see either, everyone else has too.</a:t>
            </a:r>
            <a:endParaRPr lang="en-US" sz="1650" dirty="0"/>
          </a:p>
        </p:txBody>
      </p:sp>
      <p:sp>
        <p:nvSpPr>
          <p:cNvPr id="16" name="Text 14"/>
          <p:cNvSpPr/>
          <p:nvPr/>
        </p:nvSpPr>
        <p:spPr>
          <a:xfrm>
            <a:off x="9525000" y="3384500"/>
            <a:ext cx="7642574" cy="485775"/>
          </a:xfrm>
          <a:prstGeom prst="rect">
            <a:avLst/>
          </a:prstGeom>
          <a:noFill/>
          <a:ln/>
        </p:spPr>
        <p:txBody>
          <a:bodyPr wrap="square" lIns="25400" tIns="25400" rIns="25400" bIns="25400" rtlCol="0" anchor="t">
            <a:normAutofit/>
          </a:bodyPr>
          <a:lstStyle/>
          <a:p>
            <a:pPr algn="l" indent="0" marL="0">
              <a:buNone/>
            </a:pPr>
            <a:r>
              <a:rPr lang="en-US" sz="1500" spc="60" kern="0" dirty="0">
                <a:solidFill>
                  <a:srgbClr val="1F3A5F"/>
                </a:solidFill>
                <a:latin typeface="Courier New" pitchFamily="34" charset="0"/>
                <a:ea typeface="Courier New" pitchFamily="34" charset="-122"/>
                <a:cs typeface="Courier New" pitchFamily="34" charset="-120"/>
              </a:rPr>
              <a:t>→ This is an information‑arbitrage signal, not day‑trading alpha.</a:t>
            </a:r>
            <a:endParaRPr lang="en-US" sz="1500" dirty="0"/>
          </a:p>
        </p:txBody>
      </p:sp>
      <p:sp>
        <p:nvSpPr>
          <p:cNvPr id="17" name="Shape 15"/>
          <p:cNvSpPr/>
          <p:nvPr/>
        </p:nvSpPr>
        <p:spPr>
          <a:xfrm>
            <a:off x="1066800" y="4279850"/>
            <a:ext cx="7972425" cy="2055316"/>
          </a:xfrm>
          <a:prstGeom prst="rect">
            <a:avLst/>
          </a:prstGeom>
          <a:solidFill>
            <a:srgbClr val="FFFFFF"/>
          </a:solidFill>
          <a:ln w="9525">
            <a:solidFill>
              <a:srgbClr val="DCD4BF"/>
            </a:solidFill>
            <a:prstDash val="solid"/>
          </a:ln>
        </p:spPr>
      </p:sp>
      <p:sp>
        <p:nvSpPr>
          <p:cNvPr id="18" name="Text 16"/>
          <p:cNvSpPr/>
          <p:nvPr/>
        </p:nvSpPr>
        <p:spPr>
          <a:xfrm>
            <a:off x="1343025" y="4517975"/>
            <a:ext cx="456605"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i="1" dirty="0">
                <a:solidFill>
                  <a:srgbClr val="B8862C"/>
                </a:solidFill>
                <a:latin typeface="Georgia" pitchFamily="34" charset="0"/>
                <a:ea typeface="Georgia" pitchFamily="34" charset="-122"/>
                <a:cs typeface="Georgia" pitchFamily="34" charset="-120"/>
              </a:rPr>
              <a:t>03</a:t>
            </a:r>
            <a:endParaRPr lang="en-US" sz="2550" dirty="0"/>
          </a:p>
        </p:txBody>
      </p:sp>
      <p:sp>
        <p:nvSpPr>
          <p:cNvPr id="19" name="Text 17"/>
          <p:cNvSpPr/>
          <p:nvPr/>
        </p:nvSpPr>
        <p:spPr>
          <a:xfrm>
            <a:off x="1875830" y="4517975"/>
            <a:ext cx="4414684"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A1C21"/>
                </a:solidFill>
                <a:latin typeface="Georgia" pitchFamily="34" charset="0"/>
                <a:ea typeface="Georgia" pitchFamily="34" charset="-122"/>
                <a:cs typeface="Georgia" pitchFamily="34" charset="-120"/>
              </a:rPr>
              <a:t>Headlines only, no article bodies</a:t>
            </a:r>
            <a:endParaRPr lang="en-US" sz="2400" dirty="0"/>
          </a:p>
        </p:txBody>
      </p:sp>
      <p:sp>
        <p:nvSpPr>
          <p:cNvPr id="20" name="Text 18"/>
          <p:cNvSpPr/>
          <p:nvPr/>
        </p:nvSpPr>
        <p:spPr>
          <a:xfrm>
            <a:off x="1343025" y="4956125"/>
            <a:ext cx="764257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4A4F58"/>
                </a:solidFill>
                <a:latin typeface="Arial" pitchFamily="34" charset="0"/>
                <a:ea typeface="Arial" pitchFamily="34" charset="-122"/>
                <a:cs typeface="Arial" pitchFamily="34" charset="-120"/>
              </a:rPr>
              <a:t>We only read RSS, not the articles behind them. A careful headline can miss crucial context in paragraph four.</a:t>
            </a:r>
            <a:endParaRPr lang="en-US" sz="1650" dirty="0"/>
          </a:p>
        </p:txBody>
      </p:sp>
      <p:sp>
        <p:nvSpPr>
          <p:cNvPr id="21" name="Text 19"/>
          <p:cNvSpPr/>
          <p:nvPr/>
        </p:nvSpPr>
        <p:spPr>
          <a:xfrm>
            <a:off x="1343025" y="5658892"/>
            <a:ext cx="7642574" cy="476250"/>
          </a:xfrm>
          <a:prstGeom prst="rect">
            <a:avLst/>
          </a:prstGeom>
          <a:noFill/>
          <a:ln/>
        </p:spPr>
        <p:txBody>
          <a:bodyPr wrap="square" lIns="25400" tIns="25400" rIns="25400" bIns="25400" rtlCol="0" anchor="t">
            <a:normAutofit/>
          </a:bodyPr>
          <a:lstStyle/>
          <a:p>
            <a:pPr algn="l" indent="0" marL="0">
              <a:buNone/>
            </a:pPr>
            <a:r>
              <a:rPr lang="en-US" sz="1500" spc="60" kern="0" dirty="0">
                <a:solidFill>
                  <a:srgbClr val="1F3A5F"/>
                </a:solidFill>
                <a:latin typeface="Courier New" pitchFamily="34" charset="0"/>
                <a:ea typeface="Courier New" pitchFamily="34" charset="-122"/>
                <a:cs typeface="Courier New" pitchFamily="34" charset="-120"/>
              </a:rPr>
              <a:t>→ Unavoidable without paid licenses; VADER on headlines still has signal.</a:t>
            </a:r>
            <a:endParaRPr lang="en-US" sz="1500" dirty="0"/>
          </a:p>
        </p:txBody>
      </p:sp>
      <p:sp>
        <p:nvSpPr>
          <p:cNvPr id="22" name="Shape 20"/>
          <p:cNvSpPr/>
          <p:nvPr/>
        </p:nvSpPr>
        <p:spPr>
          <a:xfrm>
            <a:off x="9248775" y="4279850"/>
            <a:ext cx="7972425" cy="2055316"/>
          </a:xfrm>
          <a:prstGeom prst="rect">
            <a:avLst/>
          </a:prstGeom>
          <a:solidFill>
            <a:srgbClr val="FFFFFF"/>
          </a:solidFill>
          <a:ln w="9525">
            <a:solidFill>
              <a:srgbClr val="DCD4BF"/>
            </a:solidFill>
            <a:prstDash val="solid"/>
          </a:ln>
        </p:spPr>
      </p:sp>
      <p:sp>
        <p:nvSpPr>
          <p:cNvPr id="23" name="Text 21"/>
          <p:cNvSpPr/>
          <p:nvPr/>
        </p:nvSpPr>
        <p:spPr>
          <a:xfrm>
            <a:off x="9525000" y="4517975"/>
            <a:ext cx="467618"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i="1" dirty="0">
                <a:solidFill>
                  <a:srgbClr val="B8862C"/>
                </a:solidFill>
                <a:latin typeface="Georgia" pitchFamily="34" charset="0"/>
                <a:ea typeface="Georgia" pitchFamily="34" charset="-122"/>
                <a:cs typeface="Georgia" pitchFamily="34" charset="-120"/>
              </a:rPr>
              <a:t>04</a:t>
            </a:r>
            <a:endParaRPr lang="en-US" sz="2550" dirty="0"/>
          </a:p>
        </p:txBody>
      </p:sp>
      <p:sp>
        <p:nvSpPr>
          <p:cNvPr id="24" name="Text 22"/>
          <p:cNvSpPr/>
          <p:nvPr/>
        </p:nvSpPr>
        <p:spPr>
          <a:xfrm>
            <a:off x="10068818" y="4517975"/>
            <a:ext cx="3647913"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A1C21"/>
                </a:solidFill>
                <a:latin typeface="Georgia" pitchFamily="34" charset="0"/>
                <a:ea typeface="Georgia" pitchFamily="34" charset="-122"/>
                <a:cs typeface="Georgia" pitchFamily="34" charset="-120"/>
              </a:rPr>
              <a:t>No backtest, no attribution</a:t>
            </a:r>
            <a:endParaRPr lang="en-US" sz="2400" dirty="0"/>
          </a:p>
        </p:txBody>
      </p:sp>
      <p:sp>
        <p:nvSpPr>
          <p:cNvPr id="25" name="Text 23"/>
          <p:cNvSpPr/>
          <p:nvPr/>
        </p:nvSpPr>
        <p:spPr>
          <a:xfrm>
            <a:off x="9525000" y="4956125"/>
            <a:ext cx="764257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4A4F58"/>
                </a:solidFill>
                <a:latin typeface="Arial" pitchFamily="34" charset="0"/>
                <a:ea typeface="Arial" pitchFamily="34" charset="-122"/>
                <a:cs typeface="Arial" pitchFamily="34" charset="-120"/>
              </a:rPr>
              <a:t>We've never replayed history through the strategy. We can't say which signal is pulling its weight or whether the weights are correct.</a:t>
            </a:r>
            <a:endParaRPr lang="en-US" sz="1650" dirty="0"/>
          </a:p>
        </p:txBody>
      </p:sp>
      <p:sp>
        <p:nvSpPr>
          <p:cNvPr id="26" name="Text 24"/>
          <p:cNvSpPr/>
          <p:nvPr/>
        </p:nvSpPr>
        <p:spPr>
          <a:xfrm>
            <a:off x="9525000" y="5658892"/>
            <a:ext cx="7642574" cy="257175"/>
          </a:xfrm>
          <a:prstGeom prst="rect">
            <a:avLst/>
          </a:prstGeom>
          <a:noFill/>
          <a:ln/>
        </p:spPr>
        <p:txBody>
          <a:bodyPr wrap="square" lIns="25400" tIns="25400" rIns="25400" bIns="25400" rtlCol="0" anchor="t">
            <a:normAutofit/>
          </a:bodyPr>
          <a:lstStyle/>
          <a:p>
            <a:pPr algn="l" indent="0" marL="0">
              <a:buNone/>
            </a:pPr>
            <a:r>
              <a:rPr lang="en-US" sz="1500" spc="60" kern="0" dirty="0">
                <a:solidFill>
                  <a:srgbClr val="1F3A5F"/>
                </a:solidFill>
                <a:latin typeface="Courier New" pitchFamily="34" charset="0"/>
                <a:ea typeface="Courier New" pitchFamily="34" charset="-122"/>
                <a:cs typeface="Courier New" pitchFamily="34" charset="-120"/>
              </a:rPr>
              <a:t>→ This is the single most important gap. See roadmap.</a:t>
            </a:r>
            <a:endParaRPr lang="en-US" sz="1500" dirty="0"/>
          </a:p>
        </p:txBody>
      </p:sp>
      <p:sp>
        <p:nvSpPr>
          <p:cNvPr id="27" name="Shape 25"/>
          <p:cNvSpPr/>
          <p:nvPr/>
        </p:nvSpPr>
        <p:spPr>
          <a:xfrm>
            <a:off x="1066800" y="6544717"/>
            <a:ext cx="7972425" cy="2064841"/>
          </a:xfrm>
          <a:prstGeom prst="rect">
            <a:avLst/>
          </a:prstGeom>
          <a:solidFill>
            <a:srgbClr val="FFFFFF"/>
          </a:solidFill>
          <a:ln w="9525">
            <a:solidFill>
              <a:srgbClr val="DCD4BF"/>
            </a:solidFill>
            <a:prstDash val="solid"/>
          </a:ln>
        </p:spPr>
      </p:sp>
      <p:sp>
        <p:nvSpPr>
          <p:cNvPr id="28" name="Text 26"/>
          <p:cNvSpPr/>
          <p:nvPr/>
        </p:nvSpPr>
        <p:spPr>
          <a:xfrm>
            <a:off x="1343025" y="6782842"/>
            <a:ext cx="462855"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i="1" dirty="0">
                <a:solidFill>
                  <a:srgbClr val="B8862C"/>
                </a:solidFill>
                <a:latin typeface="Georgia" pitchFamily="34" charset="0"/>
                <a:ea typeface="Georgia" pitchFamily="34" charset="-122"/>
                <a:cs typeface="Georgia" pitchFamily="34" charset="-120"/>
              </a:rPr>
              <a:t>05</a:t>
            </a:r>
            <a:endParaRPr lang="en-US" sz="2550" dirty="0"/>
          </a:p>
        </p:txBody>
      </p:sp>
      <p:sp>
        <p:nvSpPr>
          <p:cNvPr id="29" name="Text 27"/>
          <p:cNvSpPr/>
          <p:nvPr/>
        </p:nvSpPr>
        <p:spPr>
          <a:xfrm>
            <a:off x="1882080" y="6782842"/>
            <a:ext cx="5244766" cy="390525"/>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A1C21"/>
                </a:solidFill>
                <a:latin typeface="Georgia" pitchFamily="34" charset="0"/>
                <a:ea typeface="Georgia" pitchFamily="34" charset="-122"/>
                <a:cs typeface="Georgia" pitchFamily="34" charset="-120"/>
              </a:rPr>
              <a:t>Only the trailing stop watches mid‑tick</a:t>
            </a:r>
            <a:endParaRPr lang="en-US" sz="2400" dirty="0"/>
          </a:p>
        </p:txBody>
      </p:sp>
      <p:sp>
        <p:nvSpPr>
          <p:cNvPr id="30" name="Text 28"/>
          <p:cNvSpPr/>
          <p:nvPr/>
        </p:nvSpPr>
        <p:spPr>
          <a:xfrm>
            <a:off x="1343025" y="7230517"/>
            <a:ext cx="764257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4A4F58"/>
                </a:solidFill>
                <a:latin typeface="Arial" pitchFamily="34" charset="0"/>
                <a:ea typeface="Arial" pitchFamily="34" charset="-122"/>
                <a:cs typeface="Arial" pitchFamily="34" charset="-120"/>
              </a:rPr>
              <a:t>Between 5‑minute ticks, a catastrophic news event could move a position 15 % before we notice.</a:t>
            </a:r>
            <a:endParaRPr lang="en-US" sz="1650" dirty="0"/>
          </a:p>
        </p:txBody>
      </p:sp>
      <p:sp>
        <p:nvSpPr>
          <p:cNvPr id="31" name="Text 29"/>
          <p:cNvSpPr/>
          <p:nvPr/>
        </p:nvSpPr>
        <p:spPr>
          <a:xfrm>
            <a:off x="1343025" y="7933283"/>
            <a:ext cx="7642574" cy="476250"/>
          </a:xfrm>
          <a:prstGeom prst="rect">
            <a:avLst/>
          </a:prstGeom>
          <a:noFill/>
          <a:ln/>
        </p:spPr>
        <p:txBody>
          <a:bodyPr wrap="square" lIns="25400" tIns="25400" rIns="25400" bIns="25400" rtlCol="0" anchor="t">
            <a:normAutofit/>
          </a:bodyPr>
          <a:lstStyle/>
          <a:p>
            <a:pPr algn="l" indent="0" marL="0">
              <a:buNone/>
            </a:pPr>
            <a:r>
              <a:rPr lang="en-US" sz="1500" spc="60" kern="0" dirty="0">
                <a:solidFill>
                  <a:srgbClr val="1F3A5F"/>
                </a:solidFill>
                <a:latin typeface="Courier New" pitchFamily="34" charset="0"/>
                <a:ea typeface="Courier New" pitchFamily="34" charset="-122"/>
                <a:cs typeface="Courier New" pitchFamily="34" charset="-120"/>
              </a:rPr>
              <a:t>→ Mitigated by max position size (5 %); still a real exposure.</a:t>
            </a:r>
            <a:endParaRPr lang="en-US" sz="1500" dirty="0"/>
          </a:p>
        </p:txBody>
      </p:sp>
      <p:sp>
        <p:nvSpPr>
          <p:cNvPr id="32" name="Shape 30"/>
          <p:cNvSpPr/>
          <p:nvPr/>
        </p:nvSpPr>
        <p:spPr>
          <a:xfrm>
            <a:off x="9248775" y="6544717"/>
            <a:ext cx="7972425" cy="2064841"/>
          </a:xfrm>
          <a:prstGeom prst="rect">
            <a:avLst/>
          </a:prstGeom>
          <a:solidFill>
            <a:srgbClr val="FFFFFF"/>
          </a:solidFill>
          <a:ln w="9525">
            <a:solidFill>
              <a:srgbClr val="DCD4BF"/>
            </a:solidFill>
            <a:prstDash val="solid"/>
          </a:ln>
        </p:spPr>
      </p:sp>
      <p:sp>
        <p:nvSpPr>
          <p:cNvPr id="33" name="Text 31"/>
          <p:cNvSpPr/>
          <p:nvPr/>
        </p:nvSpPr>
        <p:spPr>
          <a:xfrm>
            <a:off x="9525000" y="6782842"/>
            <a:ext cx="475357"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i="1" dirty="0">
                <a:solidFill>
                  <a:srgbClr val="B8862C"/>
                </a:solidFill>
                <a:latin typeface="Georgia" pitchFamily="34" charset="0"/>
                <a:ea typeface="Georgia" pitchFamily="34" charset="-122"/>
                <a:cs typeface="Georgia" pitchFamily="34" charset="-120"/>
              </a:rPr>
              <a:t>06</a:t>
            </a:r>
            <a:endParaRPr lang="en-US" sz="2550" dirty="0"/>
          </a:p>
        </p:txBody>
      </p:sp>
      <p:sp>
        <p:nvSpPr>
          <p:cNvPr id="34" name="Text 32"/>
          <p:cNvSpPr/>
          <p:nvPr/>
        </p:nvSpPr>
        <p:spPr>
          <a:xfrm>
            <a:off x="10076557" y="6782842"/>
            <a:ext cx="3446333"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A1C21"/>
                </a:solidFill>
                <a:latin typeface="Georgia" pitchFamily="34" charset="0"/>
                <a:ea typeface="Georgia" pitchFamily="34" charset="-122"/>
                <a:cs typeface="Georgia" pitchFamily="34" charset="-120"/>
              </a:rPr>
              <a:t>Single process, single box</a:t>
            </a:r>
            <a:endParaRPr lang="en-US" sz="2400" dirty="0"/>
          </a:p>
        </p:txBody>
      </p:sp>
      <p:sp>
        <p:nvSpPr>
          <p:cNvPr id="35" name="Text 33"/>
          <p:cNvSpPr/>
          <p:nvPr/>
        </p:nvSpPr>
        <p:spPr>
          <a:xfrm>
            <a:off x="9525000" y="7220992"/>
            <a:ext cx="764257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4A4F58"/>
                </a:solidFill>
                <a:latin typeface="Arial" pitchFamily="34" charset="0"/>
                <a:ea typeface="Arial" pitchFamily="34" charset="-122"/>
                <a:cs typeface="Arial" pitchFamily="34" charset="-120"/>
              </a:rPr>
              <a:t>One Python process on one Windows machine. No failover, no alerting, no model versioning, no disaster recovery.</a:t>
            </a:r>
            <a:endParaRPr lang="en-US" sz="1650" dirty="0"/>
          </a:p>
        </p:txBody>
      </p:sp>
      <p:sp>
        <p:nvSpPr>
          <p:cNvPr id="36" name="Text 34"/>
          <p:cNvSpPr/>
          <p:nvPr/>
        </p:nvSpPr>
        <p:spPr>
          <a:xfrm>
            <a:off x="9525000" y="7923758"/>
            <a:ext cx="7642574" cy="476250"/>
          </a:xfrm>
          <a:prstGeom prst="rect">
            <a:avLst/>
          </a:prstGeom>
          <a:noFill/>
          <a:ln/>
        </p:spPr>
        <p:txBody>
          <a:bodyPr wrap="square" lIns="25400" tIns="25400" rIns="25400" bIns="25400" rtlCol="0" anchor="t">
            <a:normAutofit/>
          </a:bodyPr>
          <a:lstStyle/>
          <a:p>
            <a:pPr algn="l" indent="0" marL="0">
              <a:buNone/>
            </a:pPr>
            <a:r>
              <a:rPr lang="en-US" sz="1500" spc="60" kern="0" dirty="0">
                <a:solidFill>
                  <a:srgbClr val="1F3A5F"/>
                </a:solidFill>
                <a:latin typeface="Courier New" pitchFamily="34" charset="0"/>
                <a:ea typeface="Courier New" pitchFamily="34" charset="-122"/>
                <a:cs typeface="Courier New" pitchFamily="34" charset="-120"/>
              </a:rPr>
              <a:t>→ Fine for a paper experiment; unacceptable if real money ever gets near it.</a:t>
            </a:r>
            <a:endParaRPr lang="en-US" sz="1500" dirty="0"/>
          </a:p>
        </p:txBody>
      </p:sp>
      <p:sp>
        <p:nvSpPr>
          <p:cNvPr id="37" name="Text 35"/>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8" name="Text 36"/>
          <p:cNvSpPr/>
          <p:nvPr/>
        </p:nvSpPr>
        <p:spPr>
          <a:xfrm>
            <a:off x="13837444" y="9744075"/>
            <a:ext cx="3485269"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D · LIMITS &amp; ROADMAP</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8D9"/>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3400498"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20 · ROADMAP · NEXT</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D · 20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What to build next.</a:t>
            </a:r>
            <a:endParaRPr lang="en-US" sz="4800" dirty="0"/>
          </a:p>
        </p:txBody>
      </p:sp>
      <p:sp>
        <p:nvSpPr>
          <p:cNvPr id="7" name="Text 5"/>
          <p:cNvSpPr/>
          <p:nvPr/>
        </p:nvSpPr>
        <p:spPr>
          <a:xfrm>
            <a:off x="1066800" y="1700659"/>
            <a:ext cx="10791825"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Cheap, high‑leverage things to ship before touching the model.</a:t>
            </a:r>
            <a:endParaRPr lang="en-US" sz="2250" dirty="0"/>
          </a:p>
        </p:txBody>
      </p:sp>
      <p:sp>
        <p:nvSpPr>
          <p:cNvPr id="8" name="Shape 6"/>
          <p:cNvSpPr/>
          <p:nvPr/>
        </p:nvSpPr>
        <p:spPr>
          <a:xfrm>
            <a:off x="1066800" y="2487364"/>
            <a:ext cx="16154400" cy="9525"/>
          </a:xfrm>
          <a:prstGeom prst="rect">
            <a:avLst/>
          </a:prstGeom>
          <a:solidFill>
            <a:srgbClr val="DCD4BF"/>
          </a:solidFill>
          <a:ln/>
        </p:spPr>
      </p:sp>
      <p:sp>
        <p:nvSpPr>
          <p:cNvPr id="9" name="Shape 7"/>
          <p:cNvSpPr/>
          <p:nvPr/>
        </p:nvSpPr>
        <p:spPr>
          <a:xfrm>
            <a:off x="1066800" y="3639889"/>
            <a:ext cx="16154400" cy="9525"/>
          </a:xfrm>
          <a:prstGeom prst="rect">
            <a:avLst/>
          </a:prstGeom>
          <a:solidFill>
            <a:srgbClr val="DCD4BF"/>
          </a:solidFill>
          <a:ln/>
        </p:spPr>
      </p:sp>
      <p:sp>
        <p:nvSpPr>
          <p:cNvPr id="10" name="Text 8"/>
          <p:cNvSpPr/>
          <p:nvPr/>
        </p:nvSpPr>
        <p:spPr>
          <a:xfrm>
            <a:off x="1066800" y="2744539"/>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01</a:t>
            </a:r>
            <a:endParaRPr lang="en-US" sz="1950" dirty="0"/>
          </a:p>
        </p:txBody>
      </p:sp>
      <p:sp>
        <p:nvSpPr>
          <p:cNvPr id="11" name="Text 9"/>
          <p:cNvSpPr/>
          <p:nvPr/>
        </p:nvSpPr>
        <p:spPr>
          <a:xfrm>
            <a:off x="1943100" y="2706439"/>
            <a:ext cx="3728085" cy="76200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Bundle a backtest harness</a:t>
            </a:r>
            <a:endParaRPr lang="en-US" sz="2550" dirty="0"/>
          </a:p>
        </p:txBody>
      </p:sp>
      <p:sp>
        <p:nvSpPr>
          <p:cNvPr id="12" name="Text 10"/>
          <p:cNvSpPr/>
          <p:nvPr/>
        </p:nvSpPr>
        <p:spPr>
          <a:xfrm>
            <a:off x="5829300" y="2706439"/>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Replay ~2 years of news + bars through strategy.plan(). Report Sharpe, max drawdown, turnover. Without this, every other change is a guess.</a:t>
            </a:r>
            <a:endParaRPr lang="en-US" sz="1950" dirty="0"/>
          </a:p>
        </p:txBody>
      </p:sp>
      <p:sp>
        <p:nvSpPr>
          <p:cNvPr id="13" name="Text 11"/>
          <p:cNvSpPr/>
          <p:nvPr/>
        </p:nvSpPr>
        <p:spPr>
          <a:xfrm>
            <a:off x="15621000" y="2763589"/>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B8862C"/>
                </a:solidFill>
                <a:latin typeface="Courier New" pitchFamily="34" charset="0"/>
                <a:ea typeface="Courier New" pitchFamily="34" charset="-122"/>
                <a:cs typeface="Courier New" pitchFamily="34" charset="-120"/>
              </a:rPr>
              <a:t>MED EFFORT</a:t>
            </a:r>
            <a:endParaRPr lang="en-US" sz="1650" dirty="0"/>
          </a:p>
        </p:txBody>
      </p:sp>
      <p:sp>
        <p:nvSpPr>
          <p:cNvPr id="14" name="Shape 12"/>
          <p:cNvSpPr/>
          <p:nvPr/>
        </p:nvSpPr>
        <p:spPr>
          <a:xfrm>
            <a:off x="1066800" y="4786461"/>
            <a:ext cx="16154400" cy="9525"/>
          </a:xfrm>
          <a:prstGeom prst="rect">
            <a:avLst/>
          </a:prstGeom>
          <a:solidFill>
            <a:srgbClr val="DCD4BF"/>
          </a:solidFill>
          <a:ln/>
        </p:spPr>
      </p:sp>
      <p:sp>
        <p:nvSpPr>
          <p:cNvPr id="15" name="Text 13"/>
          <p:cNvSpPr/>
          <p:nvPr/>
        </p:nvSpPr>
        <p:spPr>
          <a:xfrm>
            <a:off x="1066800" y="3897064"/>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02</a:t>
            </a:r>
            <a:endParaRPr lang="en-US" sz="1950" dirty="0"/>
          </a:p>
        </p:txBody>
      </p:sp>
      <p:sp>
        <p:nvSpPr>
          <p:cNvPr id="16" name="Text 14"/>
          <p:cNvSpPr/>
          <p:nvPr/>
        </p:nvSpPr>
        <p:spPr>
          <a:xfrm>
            <a:off x="1943100" y="3858964"/>
            <a:ext cx="3728085" cy="409575"/>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Per‑signal kill switches</a:t>
            </a:r>
            <a:endParaRPr lang="en-US" sz="2550" dirty="0"/>
          </a:p>
        </p:txBody>
      </p:sp>
      <p:sp>
        <p:nvSpPr>
          <p:cNvPr id="17" name="Text 15"/>
          <p:cNvSpPr/>
          <p:nvPr/>
        </p:nvSpPr>
        <p:spPr>
          <a:xfrm>
            <a:off x="5829300" y="3858964"/>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A config flag to disable any one of the four signals at runtime, so we can A/B which signal is actually helping.</a:t>
            </a:r>
            <a:endParaRPr lang="en-US" sz="1950" dirty="0"/>
          </a:p>
        </p:txBody>
      </p:sp>
      <p:sp>
        <p:nvSpPr>
          <p:cNvPr id="18" name="Text 16"/>
          <p:cNvSpPr/>
          <p:nvPr/>
        </p:nvSpPr>
        <p:spPr>
          <a:xfrm>
            <a:off x="15621000" y="3916114"/>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4A6B3A"/>
                </a:solidFill>
                <a:latin typeface="Courier New" pitchFamily="34" charset="0"/>
                <a:ea typeface="Courier New" pitchFamily="34" charset="-122"/>
                <a:cs typeface="Courier New" pitchFamily="34" charset="-120"/>
              </a:rPr>
              <a:t>LOW EFFORT</a:t>
            </a:r>
            <a:endParaRPr lang="en-US" sz="1650" dirty="0"/>
          </a:p>
        </p:txBody>
      </p:sp>
      <p:sp>
        <p:nvSpPr>
          <p:cNvPr id="19" name="Shape 17"/>
          <p:cNvSpPr/>
          <p:nvPr/>
        </p:nvSpPr>
        <p:spPr>
          <a:xfrm>
            <a:off x="1066800" y="5933033"/>
            <a:ext cx="16154400" cy="9525"/>
          </a:xfrm>
          <a:prstGeom prst="rect">
            <a:avLst/>
          </a:prstGeom>
          <a:solidFill>
            <a:srgbClr val="DCD4BF"/>
          </a:solidFill>
          <a:ln/>
        </p:spPr>
      </p:sp>
      <p:sp>
        <p:nvSpPr>
          <p:cNvPr id="20" name="Text 18"/>
          <p:cNvSpPr/>
          <p:nvPr/>
        </p:nvSpPr>
        <p:spPr>
          <a:xfrm>
            <a:off x="1066800" y="5043636"/>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03</a:t>
            </a:r>
            <a:endParaRPr lang="en-US" sz="1950" dirty="0"/>
          </a:p>
        </p:txBody>
      </p:sp>
      <p:sp>
        <p:nvSpPr>
          <p:cNvPr id="21" name="Text 19"/>
          <p:cNvSpPr/>
          <p:nvPr/>
        </p:nvSpPr>
        <p:spPr>
          <a:xfrm>
            <a:off x="1943100" y="5005536"/>
            <a:ext cx="3728085"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Alerting</a:t>
            </a:r>
            <a:endParaRPr lang="en-US" sz="2550" dirty="0"/>
          </a:p>
        </p:txBody>
      </p:sp>
      <p:sp>
        <p:nvSpPr>
          <p:cNvPr id="22" name="Text 20"/>
          <p:cNvSpPr/>
          <p:nvPr/>
        </p:nvSpPr>
        <p:spPr>
          <a:xfrm>
            <a:off x="5829300" y="5005536"/>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Webhook or email on stop‑outs, stale RSS feeds, API auth failures, or unusually large planned orders.</a:t>
            </a:r>
            <a:endParaRPr lang="en-US" sz="1950" dirty="0"/>
          </a:p>
        </p:txBody>
      </p:sp>
      <p:sp>
        <p:nvSpPr>
          <p:cNvPr id="23" name="Text 21"/>
          <p:cNvSpPr/>
          <p:nvPr/>
        </p:nvSpPr>
        <p:spPr>
          <a:xfrm>
            <a:off x="15621000" y="5062686"/>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4A6B3A"/>
                </a:solidFill>
                <a:latin typeface="Courier New" pitchFamily="34" charset="0"/>
                <a:ea typeface="Courier New" pitchFamily="34" charset="-122"/>
                <a:cs typeface="Courier New" pitchFamily="34" charset="-120"/>
              </a:rPr>
              <a:t>LOW EFFORT</a:t>
            </a:r>
            <a:endParaRPr lang="en-US" sz="1650" dirty="0"/>
          </a:p>
        </p:txBody>
      </p:sp>
      <p:sp>
        <p:nvSpPr>
          <p:cNvPr id="24" name="Shape 22"/>
          <p:cNvSpPr/>
          <p:nvPr/>
        </p:nvSpPr>
        <p:spPr>
          <a:xfrm>
            <a:off x="1066800" y="7079605"/>
            <a:ext cx="16154400" cy="9525"/>
          </a:xfrm>
          <a:prstGeom prst="rect">
            <a:avLst/>
          </a:prstGeom>
          <a:solidFill>
            <a:srgbClr val="DCD4BF"/>
          </a:solidFill>
          <a:ln/>
        </p:spPr>
      </p:sp>
      <p:sp>
        <p:nvSpPr>
          <p:cNvPr id="25" name="Text 23"/>
          <p:cNvSpPr/>
          <p:nvPr/>
        </p:nvSpPr>
        <p:spPr>
          <a:xfrm>
            <a:off x="1066800" y="6190208"/>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04</a:t>
            </a:r>
            <a:endParaRPr lang="en-US" sz="1950" dirty="0"/>
          </a:p>
        </p:txBody>
      </p:sp>
      <p:sp>
        <p:nvSpPr>
          <p:cNvPr id="26" name="Text 24"/>
          <p:cNvSpPr/>
          <p:nvPr/>
        </p:nvSpPr>
        <p:spPr>
          <a:xfrm>
            <a:off x="1943100" y="6152108"/>
            <a:ext cx="3728085"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Nightly equity snapshots</a:t>
            </a:r>
            <a:endParaRPr lang="en-US" sz="2550" dirty="0"/>
          </a:p>
        </p:txBody>
      </p:sp>
      <p:sp>
        <p:nvSpPr>
          <p:cNvPr id="27" name="Text 25"/>
          <p:cNvSpPr/>
          <p:nvPr/>
        </p:nvSpPr>
        <p:spPr>
          <a:xfrm>
            <a:off x="5829300" y="6152108"/>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Freeze equity + weights at 16:05 ET every day so the dashboard can plot a real history curve instead of the current only‑now view.</a:t>
            </a:r>
            <a:endParaRPr lang="en-US" sz="1950" dirty="0"/>
          </a:p>
        </p:txBody>
      </p:sp>
      <p:sp>
        <p:nvSpPr>
          <p:cNvPr id="28" name="Text 26"/>
          <p:cNvSpPr/>
          <p:nvPr/>
        </p:nvSpPr>
        <p:spPr>
          <a:xfrm>
            <a:off x="15621000" y="6209258"/>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4A6B3A"/>
                </a:solidFill>
                <a:latin typeface="Courier New" pitchFamily="34" charset="0"/>
                <a:ea typeface="Courier New" pitchFamily="34" charset="-122"/>
                <a:cs typeface="Courier New" pitchFamily="34" charset="-120"/>
              </a:rPr>
              <a:t>LOW EFFORT</a:t>
            </a:r>
            <a:endParaRPr lang="en-US" sz="1650" dirty="0"/>
          </a:p>
        </p:txBody>
      </p:sp>
      <p:sp>
        <p:nvSpPr>
          <p:cNvPr id="29" name="Shape 27"/>
          <p:cNvSpPr/>
          <p:nvPr/>
        </p:nvSpPr>
        <p:spPr>
          <a:xfrm>
            <a:off x="1066800" y="8226177"/>
            <a:ext cx="16154400" cy="9525"/>
          </a:xfrm>
          <a:prstGeom prst="rect">
            <a:avLst/>
          </a:prstGeom>
          <a:solidFill>
            <a:srgbClr val="DCD4BF"/>
          </a:solidFill>
          <a:ln/>
        </p:spPr>
      </p:sp>
      <p:sp>
        <p:nvSpPr>
          <p:cNvPr id="30" name="Text 28"/>
          <p:cNvSpPr/>
          <p:nvPr/>
        </p:nvSpPr>
        <p:spPr>
          <a:xfrm>
            <a:off x="1066800" y="7336780"/>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05</a:t>
            </a:r>
            <a:endParaRPr lang="en-US" sz="1950" dirty="0"/>
          </a:p>
        </p:txBody>
      </p:sp>
      <p:sp>
        <p:nvSpPr>
          <p:cNvPr id="31" name="Text 29"/>
          <p:cNvSpPr/>
          <p:nvPr/>
        </p:nvSpPr>
        <p:spPr>
          <a:xfrm>
            <a:off x="1943100" y="7298680"/>
            <a:ext cx="3728085" cy="409575"/>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Dry‑run → live toggle UI</a:t>
            </a:r>
            <a:endParaRPr lang="en-US" sz="2550" dirty="0"/>
          </a:p>
        </p:txBody>
      </p:sp>
      <p:sp>
        <p:nvSpPr>
          <p:cNvPr id="32" name="Text 30"/>
          <p:cNvSpPr/>
          <p:nvPr/>
        </p:nvSpPr>
        <p:spPr>
          <a:xfrm>
            <a:off x="5829300" y="7298680"/>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A confirm‑phrase gate in the dashboard to flip DRY_RUN off, with a visible banner when live.</a:t>
            </a:r>
            <a:endParaRPr lang="en-US" sz="1950" dirty="0"/>
          </a:p>
        </p:txBody>
      </p:sp>
      <p:sp>
        <p:nvSpPr>
          <p:cNvPr id="33" name="Text 31"/>
          <p:cNvSpPr/>
          <p:nvPr/>
        </p:nvSpPr>
        <p:spPr>
          <a:xfrm>
            <a:off x="15621000" y="7355830"/>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4A6B3A"/>
                </a:solidFill>
                <a:latin typeface="Courier New" pitchFamily="34" charset="0"/>
                <a:ea typeface="Courier New" pitchFamily="34" charset="-122"/>
                <a:cs typeface="Courier New" pitchFamily="34" charset="-120"/>
              </a:rPr>
              <a:t>LOW EFFORT</a:t>
            </a:r>
            <a:endParaRPr lang="en-US" sz="1650" dirty="0"/>
          </a:p>
        </p:txBody>
      </p:sp>
      <p:sp>
        <p:nvSpPr>
          <p:cNvPr id="34" name="Text 32"/>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5" name="Text 33"/>
          <p:cNvSpPr/>
          <p:nvPr/>
        </p:nvSpPr>
        <p:spPr>
          <a:xfrm>
            <a:off x="13837444" y="9744075"/>
            <a:ext cx="3485269"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D · LIMITS &amp; ROADMAP</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5369240"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21 · ROADMAP · IN THE MID TERM</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D · 21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What to build in the mid term.</a:t>
            </a:r>
            <a:endParaRPr lang="en-US" sz="4800" dirty="0"/>
          </a:p>
        </p:txBody>
      </p:sp>
      <p:sp>
        <p:nvSpPr>
          <p:cNvPr id="7" name="Text 5"/>
          <p:cNvSpPr/>
          <p:nvPr/>
        </p:nvSpPr>
        <p:spPr>
          <a:xfrm>
            <a:off x="1066800" y="1700659"/>
            <a:ext cx="10791825"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Touch the model itself, once the backtester exists to measure changes.</a:t>
            </a:r>
            <a:endParaRPr lang="en-US" sz="2250" dirty="0"/>
          </a:p>
        </p:txBody>
      </p:sp>
      <p:sp>
        <p:nvSpPr>
          <p:cNvPr id="8" name="Shape 6"/>
          <p:cNvSpPr/>
          <p:nvPr/>
        </p:nvSpPr>
        <p:spPr>
          <a:xfrm>
            <a:off x="1066800" y="2487364"/>
            <a:ext cx="16154400" cy="9525"/>
          </a:xfrm>
          <a:prstGeom prst="rect">
            <a:avLst/>
          </a:prstGeom>
          <a:solidFill>
            <a:srgbClr val="DCD4BF"/>
          </a:solidFill>
          <a:ln/>
        </p:spPr>
      </p:sp>
      <p:sp>
        <p:nvSpPr>
          <p:cNvPr id="9" name="Shape 7"/>
          <p:cNvSpPr/>
          <p:nvPr/>
        </p:nvSpPr>
        <p:spPr>
          <a:xfrm>
            <a:off x="1066800" y="3639889"/>
            <a:ext cx="16154400" cy="9525"/>
          </a:xfrm>
          <a:prstGeom prst="rect">
            <a:avLst/>
          </a:prstGeom>
          <a:solidFill>
            <a:srgbClr val="DCD4BF"/>
          </a:solidFill>
          <a:ln/>
        </p:spPr>
      </p:sp>
      <p:sp>
        <p:nvSpPr>
          <p:cNvPr id="10" name="Text 8"/>
          <p:cNvSpPr/>
          <p:nvPr/>
        </p:nvSpPr>
        <p:spPr>
          <a:xfrm>
            <a:off x="1066800" y="2744539"/>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01</a:t>
            </a:r>
            <a:endParaRPr lang="en-US" sz="1950" dirty="0"/>
          </a:p>
        </p:txBody>
      </p:sp>
      <p:sp>
        <p:nvSpPr>
          <p:cNvPr id="11" name="Text 9"/>
          <p:cNvSpPr/>
          <p:nvPr/>
        </p:nvSpPr>
        <p:spPr>
          <a:xfrm>
            <a:off x="1943100" y="2706439"/>
            <a:ext cx="3728085" cy="76200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Replace VADER with FinBERT by default</a:t>
            </a:r>
            <a:endParaRPr lang="en-US" sz="2550" dirty="0"/>
          </a:p>
        </p:txBody>
      </p:sp>
      <p:sp>
        <p:nvSpPr>
          <p:cNvPr id="12" name="Text 10"/>
          <p:cNvSpPr/>
          <p:nvPr/>
        </p:nvSpPr>
        <p:spPr>
          <a:xfrm>
            <a:off x="5829300" y="2706439"/>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VADER is general‑domain; FinBERT is finance‑tuned. Move VADER to the fast‑path fallback.</a:t>
            </a:r>
            <a:endParaRPr lang="en-US" sz="1950" dirty="0"/>
          </a:p>
        </p:txBody>
      </p:sp>
      <p:sp>
        <p:nvSpPr>
          <p:cNvPr id="13" name="Text 11"/>
          <p:cNvSpPr/>
          <p:nvPr/>
        </p:nvSpPr>
        <p:spPr>
          <a:xfrm>
            <a:off x="15621000" y="2763589"/>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B8862C"/>
                </a:solidFill>
                <a:latin typeface="Courier New" pitchFamily="34" charset="0"/>
                <a:ea typeface="Courier New" pitchFamily="34" charset="-122"/>
                <a:cs typeface="Courier New" pitchFamily="34" charset="-120"/>
              </a:rPr>
              <a:t>MED EFFORT</a:t>
            </a:r>
            <a:endParaRPr lang="en-US" sz="1650" dirty="0"/>
          </a:p>
        </p:txBody>
      </p:sp>
      <p:sp>
        <p:nvSpPr>
          <p:cNvPr id="14" name="Shape 12"/>
          <p:cNvSpPr/>
          <p:nvPr/>
        </p:nvSpPr>
        <p:spPr>
          <a:xfrm>
            <a:off x="1066800" y="4786461"/>
            <a:ext cx="16154400" cy="9525"/>
          </a:xfrm>
          <a:prstGeom prst="rect">
            <a:avLst/>
          </a:prstGeom>
          <a:solidFill>
            <a:srgbClr val="DCD4BF"/>
          </a:solidFill>
          <a:ln/>
        </p:spPr>
      </p:sp>
      <p:sp>
        <p:nvSpPr>
          <p:cNvPr id="15" name="Text 13"/>
          <p:cNvSpPr/>
          <p:nvPr/>
        </p:nvSpPr>
        <p:spPr>
          <a:xfrm>
            <a:off x="1066800" y="3897064"/>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02</a:t>
            </a:r>
            <a:endParaRPr lang="en-US" sz="1950" dirty="0"/>
          </a:p>
        </p:txBody>
      </p:sp>
      <p:sp>
        <p:nvSpPr>
          <p:cNvPr id="16" name="Text 14"/>
          <p:cNvSpPr/>
          <p:nvPr/>
        </p:nvSpPr>
        <p:spPr>
          <a:xfrm>
            <a:off x="1943100" y="3858964"/>
            <a:ext cx="3728085"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Learned signal weights</a:t>
            </a:r>
            <a:endParaRPr lang="en-US" sz="2550" dirty="0"/>
          </a:p>
        </p:txBody>
      </p:sp>
      <p:sp>
        <p:nvSpPr>
          <p:cNvPr id="17" name="Text 15"/>
          <p:cNvSpPr/>
          <p:nvPr/>
        </p:nvSpPr>
        <p:spPr>
          <a:xfrm>
            <a:off x="5829300" y="3858964"/>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Grid‑search or Bayesian‑optimize the five weights against the backtester. No more hand‑tuned numbers.</a:t>
            </a:r>
            <a:endParaRPr lang="en-US" sz="1950" dirty="0"/>
          </a:p>
        </p:txBody>
      </p:sp>
      <p:sp>
        <p:nvSpPr>
          <p:cNvPr id="18" name="Text 16"/>
          <p:cNvSpPr/>
          <p:nvPr/>
        </p:nvSpPr>
        <p:spPr>
          <a:xfrm>
            <a:off x="15621000" y="3916114"/>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B8862C"/>
                </a:solidFill>
                <a:latin typeface="Courier New" pitchFamily="34" charset="0"/>
                <a:ea typeface="Courier New" pitchFamily="34" charset="-122"/>
                <a:cs typeface="Courier New" pitchFamily="34" charset="-120"/>
              </a:rPr>
              <a:t>MED EFFORT</a:t>
            </a:r>
            <a:endParaRPr lang="en-US" sz="1650" dirty="0"/>
          </a:p>
        </p:txBody>
      </p:sp>
      <p:sp>
        <p:nvSpPr>
          <p:cNvPr id="19" name="Shape 17"/>
          <p:cNvSpPr/>
          <p:nvPr/>
        </p:nvSpPr>
        <p:spPr>
          <a:xfrm>
            <a:off x="1066800" y="5933033"/>
            <a:ext cx="16154400" cy="9525"/>
          </a:xfrm>
          <a:prstGeom prst="rect">
            <a:avLst/>
          </a:prstGeom>
          <a:solidFill>
            <a:srgbClr val="DCD4BF"/>
          </a:solidFill>
          <a:ln/>
        </p:spPr>
      </p:sp>
      <p:sp>
        <p:nvSpPr>
          <p:cNvPr id="20" name="Text 18"/>
          <p:cNvSpPr/>
          <p:nvPr/>
        </p:nvSpPr>
        <p:spPr>
          <a:xfrm>
            <a:off x="1066800" y="5043636"/>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03</a:t>
            </a:r>
            <a:endParaRPr lang="en-US" sz="1950" dirty="0"/>
          </a:p>
        </p:txBody>
      </p:sp>
      <p:sp>
        <p:nvSpPr>
          <p:cNvPr id="21" name="Text 19"/>
          <p:cNvSpPr/>
          <p:nvPr/>
        </p:nvSpPr>
        <p:spPr>
          <a:xfrm>
            <a:off x="1943100" y="5005536"/>
            <a:ext cx="3728085"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Broaden the universe</a:t>
            </a:r>
            <a:endParaRPr lang="en-US" sz="2550" dirty="0"/>
          </a:p>
        </p:txBody>
      </p:sp>
      <p:sp>
        <p:nvSpPr>
          <p:cNvPr id="22" name="Text 20"/>
          <p:cNvSpPr/>
          <p:nvPr/>
        </p:nvSpPr>
        <p:spPr>
          <a:xfrm>
            <a:off x="5829300" y="5005536"/>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Lift the 83‑ticker cap; admit S&amp;P 1500 + liquid ETFs, gated by a liquidity filter so IEX sparseness stays tolerable.</a:t>
            </a:r>
            <a:endParaRPr lang="en-US" sz="1950" dirty="0"/>
          </a:p>
        </p:txBody>
      </p:sp>
      <p:sp>
        <p:nvSpPr>
          <p:cNvPr id="23" name="Text 21"/>
          <p:cNvSpPr/>
          <p:nvPr/>
        </p:nvSpPr>
        <p:spPr>
          <a:xfrm>
            <a:off x="15621000" y="5062686"/>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B8862C"/>
                </a:solidFill>
                <a:latin typeface="Courier New" pitchFamily="34" charset="0"/>
                <a:ea typeface="Courier New" pitchFamily="34" charset="-122"/>
                <a:cs typeface="Courier New" pitchFamily="34" charset="-120"/>
              </a:rPr>
              <a:t>MED EFFORT</a:t>
            </a:r>
            <a:endParaRPr lang="en-US" sz="1650" dirty="0"/>
          </a:p>
        </p:txBody>
      </p:sp>
      <p:sp>
        <p:nvSpPr>
          <p:cNvPr id="24" name="Shape 22"/>
          <p:cNvSpPr/>
          <p:nvPr/>
        </p:nvSpPr>
        <p:spPr>
          <a:xfrm>
            <a:off x="1066800" y="7085558"/>
            <a:ext cx="16154400" cy="9525"/>
          </a:xfrm>
          <a:prstGeom prst="rect">
            <a:avLst/>
          </a:prstGeom>
          <a:solidFill>
            <a:srgbClr val="DCD4BF"/>
          </a:solidFill>
          <a:ln/>
        </p:spPr>
      </p:sp>
      <p:sp>
        <p:nvSpPr>
          <p:cNvPr id="25" name="Text 23"/>
          <p:cNvSpPr/>
          <p:nvPr/>
        </p:nvSpPr>
        <p:spPr>
          <a:xfrm>
            <a:off x="1066800" y="6190208"/>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04</a:t>
            </a:r>
            <a:endParaRPr lang="en-US" sz="1950" dirty="0"/>
          </a:p>
        </p:txBody>
      </p:sp>
      <p:sp>
        <p:nvSpPr>
          <p:cNvPr id="26" name="Text 24"/>
          <p:cNvSpPr/>
          <p:nvPr/>
        </p:nvSpPr>
        <p:spPr>
          <a:xfrm>
            <a:off x="1943100" y="6152108"/>
            <a:ext cx="3728085" cy="76200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Intraday catastrophe exits</a:t>
            </a:r>
            <a:endParaRPr lang="en-US" sz="2550" dirty="0"/>
          </a:p>
        </p:txBody>
      </p:sp>
      <p:sp>
        <p:nvSpPr>
          <p:cNvPr id="27" name="Text 25"/>
          <p:cNvSpPr/>
          <p:nvPr/>
        </p:nvSpPr>
        <p:spPr>
          <a:xfrm>
            <a:off x="5829300" y="6152108"/>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Sub‑tick stop on detected catastrophic news (CEO resigns, fraud, etc.) rather than waiting for the 5‑min cycle.</a:t>
            </a:r>
            <a:endParaRPr lang="en-US" sz="1950" dirty="0"/>
          </a:p>
        </p:txBody>
      </p:sp>
      <p:sp>
        <p:nvSpPr>
          <p:cNvPr id="28" name="Text 26"/>
          <p:cNvSpPr/>
          <p:nvPr/>
        </p:nvSpPr>
        <p:spPr>
          <a:xfrm>
            <a:off x="15621000" y="6209258"/>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B8862C"/>
                </a:solidFill>
                <a:latin typeface="Courier New" pitchFamily="34" charset="0"/>
                <a:ea typeface="Courier New" pitchFamily="34" charset="-122"/>
                <a:cs typeface="Courier New" pitchFamily="34" charset="-120"/>
              </a:rPr>
              <a:t>MED EFFORT</a:t>
            </a:r>
            <a:endParaRPr lang="en-US" sz="1650" dirty="0"/>
          </a:p>
        </p:txBody>
      </p:sp>
      <p:sp>
        <p:nvSpPr>
          <p:cNvPr id="29" name="Shape 27"/>
          <p:cNvSpPr/>
          <p:nvPr/>
        </p:nvSpPr>
        <p:spPr>
          <a:xfrm>
            <a:off x="1066800" y="8232130"/>
            <a:ext cx="16154400" cy="9525"/>
          </a:xfrm>
          <a:prstGeom prst="rect">
            <a:avLst/>
          </a:prstGeom>
          <a:solidFill>
            <a:srgbClr val="DCD4BF"/>
          </a:solidFill>
          <a:ln/>
        </p:spPr>
      </p:sp>
      <p:sp>
        <p:nvSpPr>
          <p:cNvPr id="30" name="Text 28"/>
          <p:cNvSpPr/>
          <p:nvPr/>
        </p:nvSpPr>
        <p:spPr>
          <a:xfrm>
            <a:off x="1066800" y="7342733"/>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05</a:t>
            </a:r>
            <a:endParaRPr lang="en-US" sz="1950" dirty="0"/>
          </a:p>
        </p:txBody>
      </p:sp>
      <p:sp>
        <p:nvSpPr>
          <p:cNvPr id="31" name="Text 29"/>
          <p:cNvSpPr/>
          <p:nvPr/>
        </p:nvSpPr>
        <p:spPr>
          <a:xfrm>
            <a:off x="1943100" y="7304633"/>
            <a:ext cx="3728085" cy="40005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LLM reasoning layer</a:t>
            </a:r>
            <a:endParaRPr lang="en-US" sz="2550" dirty="0"/>
          </a:p>
        </p:txBody>
      </p:sp>
      <p:sp>
        <p:nvSpPr>
          <p:cNvPr id="32" name="Text 30"/>
          <p:cNvSpPr/>
          <p:nvPr/>
        </p:nvSpPr>
        <p:spPr>
          <a:xfrm>
            <a:off x="5829300" y="7304633"/>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Summarize the reason string + recent headlines into a plain‑English thesis per holding, shown on the dashboard.</a:t>
            </a:r>
            <a:endParaRPr lang="en-US" sz="1950" dirty="0"/>
          </a:p>
        </p:txBody>
      </p:sp>
      <p:sp>
        <p:nvSpPr>
          <p:cNvPr id="33" name="Text 31"/>
          <p:cNvSpPr/>
          <p:nvPr/>
        </p:nvSpPr>
        <p:spPr>
          <a:xfrm>
            <a:off x="15621000" y="7361783"/>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B8862C"/>
                </a:solidFill>
                <a:latin typeface="Courier New" pitchFamily="34" charset="0"/>
                <a:ea typeface="Courier New" pitchFamily="34" charset="-122"/>
                <a:cs typeface="Courier New" pitchFamily="34" charset="-120"/>
              </a:rPr>
              <a:t>MED EFFORT</a:t>
            </a:r>
            <a:endParaRPr lang="en-US" sz="1650" dirty="0"/>
          </a:p>
        </p:txBody>
      </p:sp>
      <p:sp>
        <p:nvSpPr>
          <p:cNvPr id="34" name="Text 32"/>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5" name="Text 33"/>
          <p:cNvSpPr/>
          <p:nvPr/>
        </p:nvSpPr>
        <p:spPr>
          <a:xfrm>
            <a:off x="13837444" y="9744075"/>
            <a:ext cx="3485269"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D · LIMITS &amp; ROADMAP</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8D9"/>
          </a:solidFill>
          <a:ln/>
        </p:spPr>
      </p:sp>
      <p:sp>
        <p:nvSpPr>
          <p:cNvPr id="3" name="Shape 1"/>
          <p:cNvSpPr/>
          <p:nvPr/>
        </p:nvSpPr>
        <p:spPr>
          <a:xfrm>
            <a:off x="1066800" y="500063"/>
            <a:ext cx="266700" cy="19050"/>
          </a:xfrm>
          <a:prstGeom prst="rect">
            <a:avLst/>
          </a:prstGeom>
          <a:solidFill>
            <a:srgbClr val="1F3A5F"/>
          </a:solidFill>
          <a:ln/>
        </p:spPr>
      </p:sp>
      <p:sp>
        <p:nvSpPr>
          <p:cNvPr id="4" name="Text 2"/>
          <p:cNvSpPr/>
          <p:nvPr/>
        </p:nvSpPr>
        <p:spPr>
          <a:xfrm>
            <a:off x="1466850" y="381000"/>
            <a:ext cx="5548132"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22 · ROADMAP · IN THE LONG TERM</a:t>
            </a:r>
            <a:endParaRPr lang="en-US" sz="1800" dirty="0"/>
          </a:p>
        </p:txBody>
      </p:sp>
      <p:sp>
        <p:nvSpPr>
          <p:cNvPr id="5" name="Text 3"/>
          <p:cNvSpPr/>
          <p:nvPr/>
        </p:nvSpPr>
        <p:spPr>
          <a:xfrm>
            <a:off x="15309354" y="38100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D · 22 / 23</a:t>
            </a:r>
            <a:endParaRPr lang="en-US" sz="1800" dirty="0"/>
          </a:p>
        </p:txBody>
      </p:sp>
      <p:sp>
        <p:nvSpPr>
          <p:cNvPr id="6" name="Text 4"/>
          <p:cNvSpPr/>
          <p:nvPr/>
        </p:nvSpPr>
        <p:spPr>
          <a:xfrm>
            <a:off x="1066800" y="914400"/>
            <a:ext cx="16639032"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spc="-86" kern="0" dirty="0">
                <a:solidFill>
                  <a:srgbClr val="1A1C21"/>
                </a:solidFill>
                <a:latin typeface="Georgia" pitchFamily="34" charset="0"/>
                <a:ea typeface="Georgia" pitchFamily="34" charset="-122"/>
                <a:cs typeface="Georgia" pitchFamily="34" charset="-120"/>
              </a:rPr>
              <a:t>What to build in the long term.</a:t>
            </a:r>
            <a:endParaRPr lang="en-US" sz="4800" dirty="0"/>
          </a:p>
        </p:txBody>
      </p:sp>
      <p:sp>
        <p:nvSpPr>
          <p:cNvPr id="7" name="Text 5"/>
          <p:cNvSpPr/>
          <p:nvPr/>
        </p:nvSpPr>
        <p:spPr>
          <a:xfrm>
            <a:off x="1066800" y="1700659"/>
            <a:ext cx="10791825"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Bigger structural changes, and the path to real money.</a:t>
            </a:r>
            <a:endParaRPr lang="en-US" sz="2250" dirty="0"/>
          </a:p>
        </p:txBody>
      </p:sp>
      <p:sp>
        <p:nvSpPr>
          <p:cNvPr id="8" name="Shape 6"/>
          <p:cNvSpPr/>
          <p:nvPr/>
        </p:nvSpPr>
        <p:spPr>
          <a:xfrm>
            <a:off x="1066800" y="2487364"/>
            <a:ext cx="16154400" cy="9525"/>
          </a:xfrm>
          <a:prstGeom prst="rect">
            <a:avLst/>
          </a:prstGeom>
          <a:solidFill>
            <a:srgbClr val="DCD4BF"/>
          </a:solidFill>
          <a:ln/>
        </p:spPr>
      </p:sp>
      <p:sp>
        <p:nvSpPr>
          <p:cNvPr id="9" name="Shape 7"/>
          <p:cNvSpPr/>
          <p:nvPr/>
        </p:nvSpPr>
        <p:spPr>
          <a:xfrm>
            <a:off x="1066800" y="3639889"/>
            <a:ext cx="16154400" cy="9525"/>
          </a:xfrm>
          <a:prstGeom prst="rect">
            <a:avLst/>
          </a:prstGeom>
          <a:solidFill>
            <a:srgbClr val="DCD4BF"/>
          </a:solidFill>
          <a:ln/>
        </p:spPr>
      </p:sp>
      <p:sp>
        <p:nvSpPr>
          <p:cNvPr id="10" name="Text 8"/>
          <p:cNvSpPr/>
          <p:nvPr/>
        </p:nvSpPr>
        <p:spPr>
          <a:xfrm>
            <a:off x="1066800" y="2744539"/>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01</a:t>
            </a:r>
            <a:endParaRPr lang="en-US" sz="1950" dirty="0"/>
          </a:p>
        </p:txBody>
      </p:sp>
      <p:sp>
        <p:nvSpPr>
          <p:cNvPr id="11" name="Text 9"/>
          <p:cNvSpPr/>
          <p:nvPr/>
        </p:nvSpPr>
        <p:spPr>
          <a:xfrm>
            <a:off x="1943100" y="2706439"/>
            <a:ext cx="3728085" cy="76200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Earnings &amp; filings ingestion</a:t>
            </a:r>
            <a:endParaRPr lang="en-US" sz="2550" dirty="0"/>
          </a:p>
        </p:txBody>
      </p:sp>
      <p:sp>
        <p:nvSpPr>
          <p:cNvPr id="12" name="Text 10"/>
          <p:cNvSpPr/>
          <p:nvPr/>
        </p:nvSpPr>
        <p:spPr>
          <a:xfrm>
            <a:off x="5829300" y="2706439"/>
            <a:ext cx="9889236" cy="397073"/>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10‑K / 10‑Q / 8‑K parsing → guidance deltas as a 6th signal.</a:t>
            </a:r>
            <a:endParaRPr lang="en-US" sz="1950" dirty="0"/>
          </a:p>
        </p:txBody>
      </p:sp>
      <p:sp>
        <p:nvSpPr>
          <p:cNvPr id="13" name="Text 11"/>
          <p:cNvSpPr/>
          <p:nvPr/>
        </p:nvSpPr>
        <p:spPr>
          <a:xfrm>
            <a:off x="15621000" y="2763589"/>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9E3B2A"/>
                </a:solidFill>
                <a:latin typeface="Courier New" pitchFamily="34" charset="0"/>
                <a:ea typeface="Courier New" pitchFamily="34" charset="-122"/>
                <a:cs typeface="Courier New" pitchFamily="34" charset="-120"/>
              </a:rPr>
              <a:t>HIGH EFFORT</a:t>
            </a:r>
            <a:endParaRPr lang="en-US" sz="1650" dirty="0"/>
          </a:p>
        </p:txBody>
      </p:sp>
      <p:sp>
        <p:nvSpPr>
          <p:cNvPr id="14" name="Shape 12"/>
          <p:cNvSpPr/>
          <p:nvPr/>
        </p:nvSpPr>
        <p:spPr>
          <a:xfrm>
            <a:off x="1066800" y="4801939"/>
            <a:ext cx="16154400" cy="9525"/>
          </a:xfrm>
          <a:prstGeom prst="rect">
            <a:avLst/>
          </a:prstGeom>
          <a:solidFill>
            <a:srgbClr val="DCD4BF"/>
          </a:solidFill>
          <a:ln/>
        </p:spPr>
      </p:sp>
      <p:sp>
        <p:nvSpPr>
          <p:cNvPr id="15" name="Text 13"/>
          <p:cNvSpPr/>
          <p:nvPr/>
        </p:nvSpPr>
        <p:spPr>
          <a:xfrm>
            <a:off x="1066800" y="3897064"/>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02</a:t>
            </a:r>
            <a:endParaRPr lang="en-US" sz="1950" dirty="0"/>
          </a:p>
        </p:txBody>
      </p:sp>
      <p:sp>
        <p:nvSpPr>
          <p:cNvPr id="16" name="Text 14"/>
          <p:cNvSpPr/>
          <p:nvPr/>
        </p:nvSpPr>
        <p:spPr>
          <a:xfrm>
            <a:off x="1943100" y="3858964"/>
            <a:ext cx="3728085" cy="771525"/>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Walk‑forward model training</a:t>
            </a:r>
            <a:endParaRPr lang="en-US" sz="2550" dirty="0"/>
          </a:p>
        </p:txBody>
      </p:sp>
      <p:sp>
        <p:nvSpPr>
          <p:cNvPr id="17" name="Text 15"/>
          <p:cNvSpPr/>
          <p:nvPr/>
        </p:nvSpPr>
        <p:spPr>
          <a:xfrm>
            <a:off x="5829300" y="3858964"/>
            <a:ext cx="9889236" cy="397073"/>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Re‑fit weights weekly on rolling windows instead of locking them in code.</a:t>
            </a:r>
            <a:endParaRPr lang="en-US" sz="1950" dirty="0"/>
          </a:p>
        </p:txBody>
      </p:sp>
      <p:sp>
        <p:nvSpPr>
          <p:cNvPr id="18" name="Text 16"/>
          <p:cNvSpPr/>
          <p:nvPr/>
        </p:nvSpPr>
        <p:spPr>
          <a:xfrm>
            <a:off x="15621000" y="3916114"/>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9E3B2A"/>
                </a:solidFill>
                <a:latin typeface="Courier New" pitchFamily="34" charset="0"/>
                <a:ea typeface="Courier New" pitchFamily="34" charset="-122"/>
                <a:cs typeface="Courier New" pitchFamily="34" charset="-120"/>
              </a:rPr>
              <a:t>HIGH EFFORT</a:t>
            </a:r>
            <a:endParaRPr lang="en-US" sz="1650" dirty="0"/>
          </a:p>
        </p:txBody>
      </p:sp>
      <p:sp>
        <p:nvSpPr>
          <p:cNvPr id="19" name="Shape 17"/>
          <p:cNvSpPr/>
          <p:nvPr/>
        </p:nvSpPr>
        <p:spPr>
          <a:xfrm>
            <a:off x="1066800" y="5963989"/>
            <a:ext cx="16154400" cy="9525"/>
          </a:xfrm>
          <a:prstGeom prst="rect">
            <a:avLst/>
          </a:prstGeom>
          <a:solidFill>
            <a:srgbClr val="DCD4BF"/>
          </a:solidFill>
          <a:ln/>
        </p:spPr>
      </p:sp>
      <p:sp>
        <p:nvSpPr>
          <p:cNvPr id="20" name="Text 18"/>
          <p:cNvSpPr/>
          <p:nvPr/>
        </p:nvSpPr>
        <p:spPr>
          <a:xfrm>
            <a:off x="1066800" y="5059114"/>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03</a:t>
            </a:r>
            <a:endParaRPr lang="en-US" sz="1950" dirty="0"/>
          </a:p>
        </p:txBody>
      </p:sp>
      <p:sp>
        <p:nvSpPr>
          <p:cNvPr id="21" name="Text 19"/>
          <p:cNvSpPr/>
          <p:nvPr/>
        </p:nvSpPr>
        <p:spPr>
          <a:xfrm>
            <a:off x="1943100" y="5021014"/>
            <a:ext cx="3728085" cy="771525"/>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Multi‑strategy orchestrator</a:t>
            </a:r>
            <a:endParaRPr lang="en-US" sz="2550" dirty="0"/>
          </a:p>
        </p:txBody>
      </p:sp>
      <p:sp>
        <p:nvSpPr>
          <p:cNvPr id="22" name="Text 20"/>
          <p:cNvSpPr/>
          <p:nvPr/>
        </p:nvSpPr>
        <p:spPr>
          <a:xfrm>
            <a:off x="5829300" y="5021014"/>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Run several strategies side‑by‑side with a risk allocator. The dashboard grows a "strategies" tab.</a:t>
            </a:r>
            <a:endParaRPr lang="en-US" sz="1950" dirty="0"/>
          </a:p>
        </p:txBody>
      </p:sp>
      <p:sp>
        <p:nvSpPr>
          <p:cNvPr id="23" name="Text 21"/>
          <p:cNvSpPr/>
          <p:nvPr/>
        </p:nvSpPr>
        <p:spPr>
          <a:xfrm>
            <a:off x="15621000" y="5078164"/>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9E3B2A"/>
                </a:solidFill>
                <a:latin typeface="Courier New" pitchFamily="34" charset="0"/>
                <a:ea typeface="Courier New" pitchFamily="34" charset="-122"/>
                <a:cs typeface="Courier New" pitchFamily="34" charset="-120"/>
              </a:rPr>
              <a:t>HIGH EFFORT</a:t>
            </a:r>
            <a:endParaRPr lang="en-US" sz="1650" dirty="0"/>
          </a:p>
        </p:txBody>
      </p:sp>
      <p:sp>
        <p:nvSpPr>
          <p:cNvPr id="24" name="Shape 22"/>
          <p:cNvSpPr/>
          <p:nvPr/>
        </p:nvSpPr>
        <p:spPr>
          <a:xfrm>
            <a:off x="1066800" y="7116514"/>
            <a:ext cx="16154400" cy="9525"/>
          </a:xfrm>
          <a:prstGeom prst="rect">
            <a:avLst/>
          </a:prstGeom>
          <a:solidFill>
            <a:srgbClr val="DCD4BF"/>
          </a:solidFill>
          <a:ln/>
        </p:spPr>
      </p:sp>
      <p:sp>
        <p:nvSpPr>
          <p:cNvPr id="25" name="Text 23"/>
          <p:cNvSpPr/>
          <p:nvPr/>
        </p:nvSpPr>
        <p:spPr>
          <a:xfrm>
            <a:off x="1066800" y="6221164"/>
            <a:ext cx="6858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8862C"/>
                </a:solidFill>
                <a:latin typeface="Courier New" pitchFamily="34" charset="0"/>
                <a:ea typeface="Courier New" pitchFamily="34" charset="-122"/>
                <a:cs typeface="Courier New" pitchFamily="34" charset="-120"/>
              </a:rPr>
              <a:t>04</a:t>
            </a:r>
            <a:endParaRPr lang="en-US" sz="1950" dirty="0"/>
          </a:p>
        </p:txBody>
      </p:sp>
      <p:sp>
        <p:nvSpPr>
          <p:cNvPr id="26" name="Text 24"/>
          <p:cNvSpPr/>
          <p:nvPr/>
        </p:nvSpPr>
        <p:spPr>
          <a:xfrm>
            <a:off x="1943100" y="6183064"/>
            <a:ext cx="3728085" cy="762000"/>
          </a:xfrm>
          <a:prstGeom prst="rect">
            <a:avLst/>
          </a:prstGeom>
          <a:noFill/>
          <a:ln/>
        </p:spPr>
        <p:txBody>
          <a:bodyPr wrap="square" lIns="25400" tIns="25400" rIns="25400" bIns="25400" rtlCol="0" anchor="t">
            <a:normAutofit/>
          </a:bodyPr>
          <a:lstStyle/>
          <a:p>
            <a:pPr algn="l" indent="0" marL="0">
              <a:buNone/>
            </a:pPr>
            <a:r>
              <a:rPr lang="en-US" sz="2550" spc="-25" kern="0" dirty="0">
                <a:solidFill>
                  <a:srgbClr val="1A1C21"/>
                </a:solidFill>
                <a:latin typeface="Georgia" pitchFamily="34" charset="0"/>
                <a:ea typeface="Georgia" pitchFamily="34" charset="-122"/>
                <a:cs typeface="Georgia" pitchFamily="34" charset="-120"/>
              </a:rPr>
              <a:t>Live trading with governance</a:t>
            </a:r>
            <a:endParaRPr lang="en-US" sz="2550" dirty="0"/>
          </a:p>
        </p:txBody>
      </p:sp>
      <p:sp>
        <p:nvSpPr>
          <p:cNvPr id="27" name="Text 25"/>
          <p:cNvSpPr/>
          <p:nvPr/>
        </p:nvSpPr>
        <p:spPr>
          <a:xfrm>
            <a:off x="5829300" y="6183064"/>
            <a:ext cx="9889236"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A4F58"/>
                </a:solidFill>
                <a:latin typeface="Arial" pitchFamily="34" charset="0"/>
                <a:ea typeface="Arial" pitchFamily="34" charset="-122"/>
                <a:cs typeface="Arial" pitchFamily="34" charset="-120"/>
              </a:rPr>
              <a:t>Only after 6+ months of paper stability: a live risk budget, kill switch, and pre‑trade compliance checks.</a:t>
            </a:r>
            <a:endParaRPr lang="en-US" sz="1950" dirty="0"/>
          </a:p>
        </p:txBody>
      </p:sp>
      <p:sp>
        <p:nvSpPr>
          <p:cNvPr id="28" name="Text 26"/>
          <p:cNvSpPr/>
          <p:nvPr/>
        </p:nvSpPr>
        <p:spPr>
          <a:xfrm>
            <a:off x="15621000" y="6240214"/>
            <a:ext cx="1600200" cy="514350"/>
          </a:xfrm>
          <a:prstGeom prst="rect">
            <a:avLst/>
          </a:prstGeom>
          <a:noFill/>
          <a:ln/>
        </p:spPr>
        <p:txBody>
          <a:bodyPr wrap="square" lIns="25400" tIns="25400" rIns="25400" bIns="25400" rtlCol="0" anchor="t">
            <a:normAutofit/>
          </a:bodyPr>
          <a:lstStyle/>
          <a:p>
            <a:pPr algn="r" indent="0" marL="0">
              <a:buNone/>
            </a:pPr>
            <a:r>
              <a:rPr lang="en-US" sz="1650" spc="231" kern="0" dirty="0">
                <a:solidFill>
                  <a:srgbClr val="9E3B2A"/>
                </a:solidFill>
                <a:latin typeface="Courier New" pitchFamily="34" charset="0"/>
                <a:ea typeface="Courier New" pitchFamily="34" charset="-122"/>
                <a:cs typeface="Courier New" pitchFamily="34" charset="-120"/>
              </a:rPr>
              <a:t>HIGH EFFORT</a:t>
            </a:r>
            <a:endParaRPr lang="en-US" sz="1650" dirty="0"/>
          </a:p>
        </p:txBody>
      </p:sp>
      <p:sp>
        <p:nvSpPr>
          <p:cNvPr id="29" name="Text 27"/>
          <p:cNvSpPr/>
          <p:nvPr/>
        </p:nvSpPr>
        <p:spPr>
          <a:xfrm>
            <a:off x="1066800" y="974407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30" name="Text 28"/>
          <p:cNvSpPr/>
          <p:nvPr/>
        </p:nvSpPr>
        <p:spPr>
          <a:xfrm>
            <a:off x="13837444" y="9744075"/>
            <a:ext cx="3485269"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D · LIMITS &amp; ROADMAP</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C2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1E7"/>
          </a:solidFill>
          <a:ln/>
        </p:spPr>
      </p:sp>
      <p:sp>
        <p:nvSpPr>
          <p:cNvPr id="3" name="Shape 1"/>
          <p:cNvSpPr/>
          <p:nvPr/>
        </p:nvSpPr>
        <p:spPr>
          <a:xfrm>
            <a:off x="1066800" y="595313"/>
            <a:ext cx="266700" cy="19050"/>
          </a:xfrm>
          <a:prstGeom prst="rect">
            <a:avLst/>
          </a:prstGeom>
          <a:solidFill>
            <a:srgbClr val="1F3A5F"/>
          </a:solidFill>
          <a:ln/>
        </p:spPr>
      </p:sp>
      <p:sp>
        <p:nvSpPr>
          <p:cNvPr id="4" name="Text 2"/>
          <p:cNvSpPr/>
          <p:nvPr/>
        </p:nvSpPr>
        <p:spPr>
          <a:xfrm>
            <a:off x="1466850" y="476250"/>
            <a:ext cx="1292572" cy="295275"/>
          </a:xfrm>
          <a:prstGeom prst="rect">
            <a:avLst/>
          </a:prstGeom>
          <a:noFill/>
          <a:ln/>
        </p:spPr>
        <p:txBody>
          <a:bodyPr wrap="square" lIns="0" tIns="0" rIns="0" bIns="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SUMMARY</a:t>
            </a:r>
            <a:endParaRPr lang="en-US" sz="1800" dirty="0"/>
          </a:p>
        </p:txBody>
      </p:sp>
      <p:sp>
        <p:nvSpPr>
          <p:cNvPr id="5" name="Text 3"/>
          <p:cNvSpPr/>
          <p:nvPr/>
        </p:nvSpPr>
        <p:spPr>
          <a:xfrm>
            <a:off x="15309354" y="476250"/>
            <a:ext cx="1988046" cy="2952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A8190"/>
                </a:solidFill>
                <a:latin typeface="Courier New" pitchFamily="34" charset="0"/>
                <a:ea typeface="Courier New" pitchFamily="34" charset="-122"/>
                <a:cs typeface="Courier New" pitchFamily="34" charset="-120"/>
              </a:rPr>
              <a:t>– · 23 / 23</a:t>
            </a:r>
            <a:endParaRPr lang="en-US" sz="1800" dirty="0"/>
          </a:p>
        </p:txBody>
      </p:sp>
      <p:sp>
        <p:nvSpPr>
          <p:cNvPr id="6" name="Text 4"/>
          <p:cNvSpPr/>
          <p:nvPr/>
        </p:nvSpPr>
        <p:spPr>
          <a:xfrm>
            <a:off x="1066800" y="1009650"/>
            <a:ext cx="7887843" cy="1632347"/>
          </a:xfrm>
          <a:prstGeom prst="rect">
            <a:avLst/>
          </a:prstGeom>
          <a:noFill/>
          <a:ln/>
        </p:spPr>
        <p:txBody>
          <a:bodyPr wrap="square" lIns="25400" tIns="25400" rIns="25400" bIns="25400" rtlCol="0" anchor="t">
            <a:normAutofit/>
          </a:bodyPr>
          <a:lstStyle/>
          <a:p>
            <a:pPr algn="l" indent="0" marL="0">
              <a:lnSpc>
                <a:spcPct val="104000"/>
              </a:lnSpc>
              <a:buNone/>
            </a:pPr>
            <a:r>
              <a:rPr lang="en-US" sz="6000" spc="-108" kern="0" dirty="0">
                <a:solidFill>
                  <a:srgbClr val="1A1C21"/>
                </a:solidFill>
                <a:latin typeface="Georgia" pitchFamily="34" charset="0"/>
                <a:ea typeface="Georgia" pitchFamily="34" charset="-122"/>
                <a:cs typeface="Georgia" pitchFamily="34" charset="-120"/>
              </a:rPr>
              <a:t>Small, transparent, </a:t>
            </a:r>
            <a:pPr algn="l" indent="0" marL="0">
              <a:lnSpc>
                <a:spcPct val="104000"/>
              </a:lnSpc>
              <a:buNone/>
            </a:pPr>
            <a:r>
              <a:rPr lang="en-US" sz="6000" i="1" spc="-108" kern="0" dirty="0">
                <a:solidFill>
                  <a:srgbClr val="1F3A5F"/>
                </a:solidFill>
                <a:latin typeface="Georgia" pitchFamily="34" charset="0"/>
                <a:ea typeface="Georgia" pitchFamily="34" charset="-122"/>
                <a:cs typeface="Georgia" pitchFamily="34" charset="-120"/>
              </a:rPr>
              <a:t>honest about its limits.</a:t>
            </a:r>
            <a:endParaRPr lang="en-US" sz="6000" dirty="0"/>
          </a:p>
        </p:txBody>
      </p:sp>
      <p:sp>
        <p:nvSpPr>
          <p:cNvPr id="7" name="Text 5"/>
          <p:cNvSpPr/>
          <p:nvPr/>
        </p:nvSpPr>
        <p:spPr>
          <a:xfrm>
            <a:off x="1066800" y="2984897"/>
            <a:ext cx="7887843" cy="2066627"/>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4A4F58"/>
                </a:solidFill>
                <a:latin typeface="Arial" pitchFamily="34" charset="0"/>
                <a:ea typeface="Arial" pitchFamily="34" charset="-122"/>
                <a:cs typeface="Arial" pitchFamily="34" charset="-120"/>
              </a:rPr>
              <a:t>The bot is small enough to read in an afternoon and transparent enough to argue with. The next unlock isn't more signals — it's measurement . A backtester and per‑signal attribution come first; everything else is a guess until those exist.</a:t>
            </a:r>
            <a:endParaRPr lang="en-US" sz="2250" dirty="0"/>
          </a:p>
        </p:txBody>
      </p:sp>
      <p:sp>
        <p:nvSpPr>
          <p:cNvPr id="8" name="Shape 6"/>
          <p:cNvSpPr/>
          <p:nvPr/>
        </p:nvSpPr>
        <p:spPr>
          <a:xfrm>
            <a:off x="9563100" y="2467570"/>
            <a:ext cx="7658100" cy="9525"/>
          </a:xfrm>
          <a:prstGeom prst="rect">
            <a:avLst/>
          </a:prstGeom>
          <a:solidFill>
            <a:srgbClr val="DCD4BF"/>
          </a:solidFill>
          <a:ln/>
        </p:spPr>
      </p:sp>
      <p:sp>
        <p:nvSpPr>
          <p:cNvPr id="9" name="Text 7"/>
          <p:cNvSpPr/>
          <p:nvPr/>
        </p:nvSpPr>
        <p:spPr>
          <a:xfrm>
            <a:off x="9563100" y="1247775"/>
            <a:ext cx="1981200" cy="3238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B8862C"/>
                </a:solidFill>
                <a:latin typeface="Courier New" pitchFamily="34" charset="0"/>
                <a:ea typeface="Courier New" pitchFamily="34" charset="-122"/>
                <a:cs typeface="Courier New" pitchFamily="34" charset="-120"/>
              </a:rPr>
              <a:t>TODAY</a:t>
            </a:r>
            <a:endParaRPr lang="en-US" sz="1950" dirty="0"/>
          </a:p>
        </p:txBody>
      </p:sp>
      <p:sp>
        <p:nvSpPr>
          <p:cNvPr id="10" name="Text 8"/>
          <p:cNvSpPr/>
          <p:nvPr/>
        </p:nvSpPr>
        <p:spPr>
          <a:xfrm>
            <a:off x="11696700" y="1200150"/>
            <a:ext cx="5690235" cy="1115020"/>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1A1C21"/>
                </a:solidFill>
                <a:latin typeface="Arial" pitchFamily="34" charset="0"/>
                <a:ea typeface="Arial" pitchFamily="34" charset="-122"/>
                <a:cs typeface="Arial" pitchFamily="34" charset="-120"/>
              </a:rPr>
              <a:t>Headless bot + FastAPI + Next.js dashboard. Paper only. ~1,500 LOC Python, single SQLite file.</a:t>
            </a:r>
            <a:endParaRPr lang="en-US" sz="1950" dirty="0"/>
          </a:p>
        </p:txBody>
      </p:sp>
      <p:sp>
        <p:nvSpPr>
          <p:cNvPr id="11" name="Shape 9"/>
          <p:cNvSpPr/>
          <p:nvPr/>
        </p:nvSpPr>
        <p:spPr>
          <a:xfrm>
            <a:off x="9563100" y="3576042"/>
            <a:ext cx="7658100" cy="9525"/>
          </a:xfrm>
          <a:prstGeom prst="rect">
            <a:avLst/>
          </a:prstGeom>
          <a:solidFill>
            <a:srgbClr val="DCD4BF"/>
          </a:solidFill>
          <a:ln/>
        </p:spPr>
      </p:sp>
      <p:sp>
        <p:nvSpPr>
          <p:cNvPr id="12" name="Text 10"/>
          <p:cNvSpPr/>
          <p:nvPr/>
        </p:nvSpPr>
        <p:spPr>
          <a:xfrm>
            <a:off x="9563100" y="2715220"/>
            <a:ext cx="1981200" cy="3238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B8862C"/>
                </a:solidFill>
                <a:latin typeface="Courier New" pitchFamily="34" charset="0"/>
                <a:ea typeface="Courier New" pitchFamily="34" charset="-122"/>
                <a:cs typeface="Courier New" pitchFamily="34" charset="-120"/>
              </a:rPr>
              <a:t>NEXT</a:t>
            </a:r>
            <a:endParaRPr lang="en-US" sz="1950" dirty="0"/>
          </a:p>
        </p:txBody>
      </p:sp>
      <p:sp>
        <p:nvSpPr>
          <p:cNvPr id="13" name="Text 11"/>
          <p:cNvSpPr/>
          <p:nvPr/>
        </p:nvSpPr>
        <p:spPr>
          <a:xfrm>
            <a:off x="11696700" y="2667595"/>
            <a:ext cx="5690235"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1A1C21"/>
                </a:solidFill>
                <a:latin typeface="Arial" pitchFamily="34" charset="0"/>
                <a:ea typeface="Arial" pitchFamily="34" charset="-122"/>
                <a:cs typeface="Arial" pitchFamily="34" charset="-120"/>
              </a:rPr>
              <a:t>Backtest harness, per‑signal kill switches, alerting, nightly snapshots.</a:t>
            </a:r>
            <a:endParaRPr lang="en-US" sz="1950" dirty="0"/>
          </a:p>
        </p:txBody>
      </p:sp>
      <p:sp>
        <p:nvSpPr>
          <p:cNvPr id="14" name="Shape 12"/>
          <p:cNvSpPr/>
          <p:nvPr/>
        </p:nvSpPr>
        <p:spPr>
          <a:xfrm>
            <a:off x="9563100" y="4684514"/>
            <a:ext cx="7658100" cy="9525"/>
          </a:xfrm>
          <a:prstGeom prst="rect">
            <a:avLst/>
          </a:prstGeom>
          <a:solidFill>
            <a:srgbClr val="DCD4BF"/>
          </a:solidFill>
          <a:ln/>
        </p:spPr>
      </p:sp>
      <p:sp>
        <p:nvSpPr>
          <p:cNvPr id="15" name="Text 13"/>
          <p:cNvSpPr/>
          <p:nvPr/>
        </p:nvSpPr>
        <p:spPr>
          <a:xfrm>
            <a:off x="9563100" y="3823692"/>
            <a:ext cx="1981200" cy="3238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B8862C"/>
                </a:solidFill>
                <a:latin typeface="Courier New" pitchFamily="34" charset="0"/>
                <a:ea typeface="Courier New" pitchFamily="34" charset="-122"/>
                <a:cs typeface="Courier New" pitchFamily="34" charset="-120"/>
              </a:rPr>
              <a:t>THEN</a:t>
            </a:r>
            <a:endParaRPr lang="en-US" sz="1950" dirty="0"/>
          </a:p>
        </p:txBody>
      </p:sp>
      <p:sp>
        <p:nvSpPr>
          <p:cNvPr id="16" name="Text 14"/>
          <p:cNvSpPr/>
          <p:nvPr/>
        </p:nvSpPr>
        <p:spPr>
          <a:xfrm>
            <a:off x="11696700" y="3776067"/>
            <a:ext cx="5690235"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1A1C21"/>
                </a:solidFill>
                <a:latin typeface="Arial" pitchFamily="34" charset="0"/>
                <a:ea typeface="Arial" pitchFamily="34" charset="-122"/>
                <a:cs typeface="Arial" pitchFamily="34" charset="-120"/>
              </a:rPr>
              <a:t>FinBERT‑by‑default, learned weights, broader universe, intraday catastrophe exits.</a:t>
            </a:r>
            <a:endParaRPr lang="en-US" sz="1950" dirty="0"/>
          </a:p>
        </p:txBody>
      </p:sp>
      <p:sp>
        <p:nvSpPr>
          <p:cNvPr id="17" name="Shape 15"/>
          <p:cNvSpPr/>
          <p:nvPr/>
        </p:nvSpPr>
        <p:spPr>
          <a:xfrm>
            <a:off x="9563100" y="5792986"/>
            <a:ext cx="7658100" cy="9525"/>
          </a:xfrm>
          <a:prstGeom prst="rect">
            <a:avLst/>
          </a:prstGeom>
          <a:solidFill>
            <a:srgbClr val="DCD4BF"/>
          </a:solidFill>
          <a:ln/>
        </p:spPr>
      </p:sp>
      <p:sp>
        <p:nvSpPr>
          <p:cNvPr id="18" name="Text 16"/>
          <p:cNvSpPr/>
          <p:nvPr/>
        </p:nvSpPr>
        <p:spPr>
          <a:xfrm>
            <a:off x="9563100" y="4932164"/>
            <a:ext cx="1981200" cy="3238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B8862C"/>
                </a:solidFill>
                <a:latin typeface="Courier New" pitchFamily="34" charset="0"/>
                <a:ea typeface="Courier New" pitchFamily="34" charset="-122"/>
                <a:cs typeface="Courier New" pitchFamily="34" charset="-120"/>
              </a:rPr>
              <a:t>EVENTUALLY</a:t>
            </a:r>
            <a:endParaRPr lang="en-US" sz="1950" dirty="0"/>
          </a:p>
        </p:txBody>
      </p:sp>
      <p:sp>
        <p:nvSpPr>
          <p:cNvPr id="19" name="Text 17"/>
          <p:cNvSpPr/>
          <p:nvPr/>
        </p:nvSpPr>
        <p:spPr>
          <a:xfrm>
            <a:off x="11696700" y="4884539"/>
            <a:ext cx="5690235"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1A1C21"/>
                </a:solidFill>
                <a:latin typeface="Arial" pitchFamily="34" charset="0"/>
                <a:ea typeface="Arial" pitchFamily="34" charset="-122"/>
                <a:cs typeface="Arial" pitchFamily="34" charset="-120"/>
              </a:rPr>
              <a:t>Multi‑strategy, LLM reasoning, filings ingestion, governed live trading.</a:t>
            </a:r>
            <a:endParaRPr lang="en-US" sz="1950" dirty="0"/>
          </a:p>
        </p:txBody>
      </p:sp>
      <p:sp>
        <p:nvSpPr>
          <p:cNvPr id="20" name="Text 18"/>
          <p:cNvSpPr/>
          <p:nvPr/>
        </p:nvSpPr>
        <p:spPr>
          <a:xfrm>
            <a:off x="9563100" y="6221611"/>
            <a:ext cx="7887843" cy="3238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1F3A5F"/>
                </a:solidFill>
                <a:latin typeface="Courier New" pitchFamily="34" charset="0"/>
                <a:ea typeface="Courier New" pitchFamily="34" charset="-122"/>
                <a:cs typeface="Courier New" pitchFamily="34" charset="-120"/>
              </a:rPr>
              <a:t>THANK YOU — QUESTIONS?</a:t>
            </a:r>
            <a:endParaRPr lang="en-US" sz="1950" dirty="0"/>
          </a:p>
        </p:txBody>
      </p:sp>
      <p:sp>
        <p:nvSpPr>
          <p:cNvPr id="21" name="Text 19"/>
          <p:cNvSpPr/>
          <p:nvPr/>
        </p:nvSpPr>
        <p:spPr>
          <a:xfrm>
            <a:off x="1066800" y="9839325"/>
            <a:ext cx="4182292"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ALPACA PAPER TRADING BOT</a:t>
            </a:r>
            <a:endParaRPr lang="en-US" sz="1800" dirty="0"/>
          </a:p>
        </p:txBody>
      </p:sp>
      <p:sp>
        <p:nvSpPr>
          <p:cNvPr id="22" name="Text 20"/>
          <p:cNvSpPr/>
          <p:nvPr/>
        </p:nvSpPr>
        <p:spPr>
          <a:xfrm>
            <a:off x="16036826" y="9839325"/>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A8190"/>
                </a:solidFill>
                <a:latin typeface="Courier New" pitchFamily="34" charset="0"/>
                <a:ea typeface="Courier New" pitchFamily="34" charset="-122"/>
                <a:cs typeface="Courier New" pitchFamily="34" charset="-120"/>
              </a:rPr>
              <a:t>SUMMARY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2026-04-20T08:09:43Z</dcterms:created>
  <dcterms:modified xsi:type="dcterms:W3CDTF">2026-04-20T08:09:43Z</dcterms:modified>
</cp:coreProperties>
</file>